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bb30bdc-dd0f-2aff-b9f7-b14903a3a097}">
          <p14:sldIdLst>
            <p14:sldId id="256"/>
            <p14:sldId id="257"/>
          </p14:sldIdLst>
        </p14:section>
        <p14:section name="Lesson 1: Introduction" id="{c0413028-4867-b43f-acc0-0f73a6f5c8b1}">
          <p14:sldIdLst>
            <p14:sldId id="258"/>
            <p14:sldId id="259"/>
            <p14:sldId id="260"/>
          </p14:sldIdLst>
        </p14:section>
        <p14:section name="Lesson 2: Scheduling Concepts" id="{b77651aa-92cb-116c-a9d0-5c104e30af25}">
          <p14:sldIdLst>
            <p14:sldId id="261"/>
            <p14:sldId id="262"/>
          </p14:sldIdLst>
        </p14:section>
        <p14:section name="Lesson 3: Windows" id="{ab2b796e-cc47-c839-cfdb-730adf9e5fe5}">
          <p14:sldIdLst>
            <p14:sldId id="263"/>
            <p14:sldId id="264"/>
            <p14:sldId id="265"/>
          </p14:sldIdLst>
        </p14:section>
        <p14:section name="Lesson 4: Linux" id="{de29b0e3-a361-ba04-f37d-4cd1d2ee5529}">
          <p14:sldIdLst>
            <p14:sldId id="266"/>
            <p14:sldId id="267"/>
            <p14:sldId id="268"/>
          </p14:sldIdLst>
        </p14:section>
        <p14:section name="Lesson 5: Scripting" id="{a31559a3-0c7c-cadc-95ad-198df7249d53}">
          <p14:sldIdLst>
            <p14:sldId id="269"/>
            <p14:sldId id="270"/>
          </p14:sldIdLst>
        </p14:section>
        <p14:section name="Lesson 6: Reliable Jobs" id="{00affc91-aaa1-4af7-0042-eb2c68a36955}">
          <p14:sldIdLst>
            <p14:sldId id="271"/>
            <p14:sldId id="272"/>
          </p14:sldIdLst>
        </p14:section>
        <p14:section name="Lesson 7: Security and Monitoring" id="{b1d8d9d5-9f68-8b80-d363-a83a48f7ec7f}">
          <p14:sldIdLst>
            <p14:sldId id="273"/>
            <p14:sldId id="274"/>
          </p14:sldIdLst>
        </p14:section>
        <p14:section name="Lesson 8: Comparing the Tools" id="{0173d8ec-d416-aa5c-739b-858eb6614678}">
          <p14:sldIdLst>
            <p14:sldId id="275"/>
            <p14:sldId id="276"/>
          </p14:sldIdLst>
        </p14:section>
        <p14:section name="Conclusion" id="{18cdbf36-b0c2-60fc-357a-57c7bef74d4c}">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Professor and classmates. We are Tagify Group, and today we will teach you about task scheduling and automation in system administration. By the end, you will know how to make Windows and Linux computers run routine jobs by themselves, and how to make sure those jobs are reliable and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roadmap. We will start with the basic ideas, then see how scheduling works on Windows and Linux, write simple scripts, and finish with how to keep scheduled jobs reliable and secure. Each lesson builds on the one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often mix these two words up. Task scheduling is about WHEN: telling the computer to start something at 6 PM every day, or when the computer starts. Automation is about HOW: a script that lists the steps so the computer can do the job without us. We need both. A coffee maker with a timer is a good example: the timer is the scheduler, and the coffee and water you prepared are the script. If you forget the coffee, you only get hot water at 6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checking 50 servers by hand, 10 minutes each, every single day. That is more than 8 hours of work daily, just for one check. A scheduled script does the same work in seconds. Beyond saving time, automation gives consistent results, runs at night when nobody is using the system, avoids human mistakes, and leaves logs that prove the work was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one task, backing up a folder, at three levels. Manual: a person copies the folder whenever they remember. Scheduled: a script runs every night at 1 AM by itself, but if it fails, nobody knows. Automated workflow: the backup runs, is checked, copied off-site, old copies are deleted, and a report is sent. If something fails, it retries and alerts the admin. A good rule: automate tasks that are repetitive, well understood, and follow clear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Whether you use Windows, Linux, or a big enterprise tool, these same five ideas appear. A trigger is what starts the task. A schedule says when, and an interval says how often. A condition is an "only if" rule, like only if the laptop is plugged in. A dependency means one job waits for another, like cooking rice before serving it. A job queue is a waiting line, like people taking turns at one ATM, so two copies of the same job do not run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phone already uses all of these ideas. The trigger is the time, 2 AM. Then it checks the conditions: is it charging and on Wi-Fi? Then the dependency: the update must be fully downloaded first. Only then does it install. And if another update is already installing, the new one waits in the queue. System administrators set up exactly the same logic for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Scheduler is built into every Windows computer. Press Windows plus R, type taskschd.msc, and press Enter. Windows itself uses it for updates and maintenance, so create your own folder like IT-Lab and do not touch the Microsoft tasks. When you click Create Task, you will see six tabs, and each one answers a simple question: General is who runs it, Triggers is when, Actions is what, Conditions is only if, Settings is what if something goes wrong, and History shows whether it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basic steps to create a task in the graphical tool. One very important field is Start in on the Actions tab. If you leave it empty, your script starts in the Windows System32 folder instead of its own folder, and that causes many errors. On the right is the command-line way using schtasks, which is faster when you need to set up many computers.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 task runs, Task Scheduler shows a Last Run Result code. Zero x zero means success. Zero x one usually means the script itself had an error, so run the exact command by hand to see the message. Zero x two means Windows could not find the file, so check the path. And 0x41301 just means the task is still running. For more detail, open the History tab; if it is empty, click Enable All Tasks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Linux, the scheduler is called cron. It wakes up every minute and checks everyone's list of jobs, called a crontab. Each job is one line with five time fields followed by the command. The fields are minute, hour, day of the month, month, and day of the week. A star means "every". This example means: at minute 30 of hour 18, any day, any month, Monday to Friday. In other words, weekdays at 6:30 PM. Tip: read the fields from right to left to make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schedules you will use often. Star slash 15 means every 15 minutes. Zero two star star star means every day at 2 AM. Now the most common mistake in the world: writing star two star star star when you want 2 AM. Because the minute field is a star, it runs every minute from 2:00 to 2:59, that is 60 times! The minute must be zero. Also remember to always use full paths, because cron does not use your normal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manage your cron jobs, use crontab dash e to edit and crontab dash l to list them. Avoid crontab dash r, because it deletes all your jobs without asking. Add two greater-than signs and a log file at the end of the line, so errors are saved. For something that should happen only once, like restarting a server tonight at 11 PM, use the at command. atq lists waiting jobs, and atrm removes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scheduler only decides when. The real work is done by a script, which is a text file of commands. On Windows we use PowerShell. Its commands are easy to read, like Get-ChildItem to list files and Remove-Item to delete them. Add -WhatIf to preview what would happen before deleting anything. On Linux we use Bash. The first line, hash-bang bin bash, tells Linux to use Bash, and chmod plus x makes the file runnable. Both scripts end with exit 0 for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tasks almost every system administrator automates first. Backups every night. Cleaning old logs so the disk does not fill up. Installing updates on a regular schedule. Monitoring disk space and services every few minutes. Creating reports automatically. And maintenance like restarts during off-hours. Notice they are all repetitive, follow clear rules, and need to happen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number one complaint about scheduled jobs. The reason is that the scheduler runs your script in a different world. Ask three questions. Who runs it? It may be a service account without permission to your folders. Where does it run? cron starts in your home folder and Windows starts in System32. What environment does it see? cron has a very short PATH, so commands may not be found. The fix is simple: always use full paths and test the job as the same user who will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scheduled job has no screen, so the log is its screen. A good log line has a time, a level like INFO or ERROR, and a message. Every script should also end with an exit code: zero for success, any other number for failure, so the scheduler knows what happened. When a job fails, follow these four steps in order: did the scheduler start it, did the script finish, can you repeat the problem by running the exact command as the same user, and then fix one thing at a time and test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Scheduled jobs often run with high power and nobody watching, so attackers like them. First, least privilege: give each job only the access it needs, like a hotel key card that opens only certain rooms. Second, protect your scripts so only admins can change them; otherwise anyone could add commands that run with full power. Third, never write passwords inside scripts; use a password vault or a managed service account. Fourth, review your scheduled tasks regularly, because an unknown task could be malware.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sure a job really worked, check three levels. Level one: did the scheduler start it? Level two: did the script finish without errors? Level three: does the result really exist, for example is the backup file there and not empty? Many companies discovered, on the day they needed it, that their backup job had been running for months but making empty files. The best proof for backups is a test 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big picture. Task Scheduler, cron, and at are schedulers: they decide when. Scripts decide what and how. Task Scheduler is for Windows and has many trigger types, conditions, and retries. cron is for repeating, time-based jobs on Linux. at is for jobs that run just once. And scripts do the real work. They work together as a team, not as competitors.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put everything together with a real example: a school IT office with 40 Windows lab PCs and one Linux server. Every night at 10 PM, Task Scheduler clears student downloads, but only if the PC is idle. At 1:30 AM, cron backs up the server. On Sunday at 2 AM, updates install with a random delay, so all 40 PCs do not download at once. And every 10 minutes, cron checks disk space and sends an alert at 85 percent. Every job writes a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task scheduling and automation let computers handle repetitive work reliably and on time. Use Task Scheduler on Windows, and cron or at on Linux, to decide when jobs run, and PowerShell or Bash scripts to decide how. And always remember three habits: log everything, verify the result and not just the schedule, and give every job only the access it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system administrators are not the ones who work hardest at 2 AM. They are the ones whose systems take care of themselves at 2 AM, and who can prove it the next morning. Thank you, Professor and classmates, for listening.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394960" cy="1828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3246120"/>
            <a:ext cx="5394960" cy="82296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4" name="Text 0"/>
          <p:cNvSpPr/>
          <p:nvPr/>
        </p:nvSpPr>
        <p:spPr>
          <a:xfrm>
            <a:off x="457200" y="4754880"/>
            <a:ext cx="5486400" cy="256032"/>
          </a:xfrm>
          <a:prstGeom prst="rect">
            <a:avLst/>
          </a:prstGeom>
          <a:noFill/>
          <a:ln/>
        </p:spPr>
        <p:txBody>
          <a:bodyPr wrap="square" lIns="0" tIns="0" rIns="0" bIns="0" rtlCol="0" anchor="ctr"/>
          <a:lstStyle/>
          <a:p>
            <a:pPr indent="0" marL="0">
              <a:buNone/>
            </a:pPr>
            <a:r>
              <a:rPr lang="en-US" sz="1000" dirty="0">
                <a:solidFill>
                  <a:schemeClr val="accent5"/>
                </a:solidFill>
              </a:rPr>
              <a:t>Tagify Group  |  Task Scheduling and Automation</a:t>
            </a:r>
            <a:endParaRPr lang="en-US" sz="1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3.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394960" cy="1828800"/>
          </a:xfrm>
          <a:prstGeom prst="rect">
            <a:avLst/>
          </a:prstGeom>
          <a:noFill/>
          <a:ln/>
        </p:spPr>
        <p:txBody>
          <a:bodyPr wrap="square" lIns="0" tIns="0" rIns="0" bIns="0" rtlCol="0" anchor="b"/>
          <a:lstStyle/>
          <a:p>
            <a:pPr algn="l" indent="0" marL="0">
              <a:buNone/>
            </a:pPr>
            <a:r>
              <a:rPr lang="en-US" sz="3400" b="1" dirty="0">
                <a:solidFill>
                  <a:schemeClr val="bg1"/>
                </a:solidFill>
              </a:rPr>
              <a:t>Task Scheduling and Automation in System Administration</a:t>
            </a:r>
            <a:endParaRPr lang="en-US" sz="3400" dirty="0"/>
          </a:p>
        </p:txBody>
      </p:sp>
      <p:sp>
        <p:nvSpPr>
          <p:cNvPr id="3" name="Text 0"/>
          <p:cNvSpPr/>
          <p:nvPr>
            <p:ph idx="101" type="body" hasCustomPrompt="1"/>
          </p:nvPr>
        </p:nvSpPr>
        <p:spPr>
          <a:xfrm>
            <a:off x="548640" y="3246120"/>
            <a:ext cx="5394960" cy="822960"/>
          </a:xfrm>
          <a:prstGeom prst="rect">
            <a:avLst/>
          </a:prstGeom>
          <a:noFill/>
          <a:ln/>
        </p:spPr>
        <p:txBody>
          <a:bodyPr wrap="square" lIns="0" tIns="0" rIns="0" bIns="0" rtlCol="0" anchor="t"/>
          <a:lstStyle/>
          <a:p>
            <a:pPr algn="l" indent="0" marL="0">
              <a:buNone/>
            </a:pPr>
            <a:r>
              <a:rPr lang="en-US" sz="1800" dirty="0">
                <a:solidFill>
                  <a:schemeClr val="accent1"/>
                </a:solidFill>
              </a:rPr>
              <a:t>Presented by Tagify Group</a:t>
            </a:r>
            <a:endParaRPr lang="en-US" sz="1800" dirty="0"/>
          </a:p>
        </p:txBody>
      </p:sp>
      <p:sp>
        <p:nvSpPr>
          <p:cNvPr id="4" name="hero-circle"/>
          <p:cNvSpPr/>
          <p:nvPr/>
        </p:nvSpPr>
        <p:spPr>
          <a:xfrm>
            <a:off x="6355080" y="1051560"/>
            <a:ext cx="2377440" cy="2377440"/>
          </a:xfrm>
          <a:prstGeom prst="ellipse">
            <a:avLst/>
          </a:prstGeom>
          <a:solidFill>
            <a:schemeClr val="accent1"/>
          </a:solidFill>
          <a:ln w="12700">
            <a:solidFill>
              <a:schemeClr val="accent1"/>
            </a:solidFill>
            <a:prstDash val="solid"/>
          </a:ln>
        </p:spPr>
      </p:sp>
      <p:pic>
        <p:nvPicPr>
          <p:cNvPr id="5" name="hero-clock" descr="preencoded.png">    </p:cNvPr>
          <p:cNvPicPr>
            <a:picLocks noChangeAspect="1"/>
          </p:cNvPicPr>
          <p:nvPr/>
        </p:nvPicPr>
        <p:blipFill>
          <a:blip r:embed="rId1"/>
          <a:stretch>
            <a:fillRect/>
          </a:stretch>
        </p:blipFill>
        <p:spPr>
          <a:xfrm>
            <a:off x="6903720" y="1600200"/>
            <a:ext cx="1280160" cy="1280160"/>
          </a:xfrm>
          <a:prstGeom prst="rect">
            <a:avLst/>
          </a:prstGeom>
        </p:spPr>
      </p:pic>
      <p:sp>
        <p:nvSpPr>
          <p:cNvPr id="6" name="hero-gear-bg"/>
          <p:cNvSpPr/>
          <p:nvPr/>
        </p:nvSpPr>
        <p:spPr>
          <a:xfrm>
            <a:off x="7818120" y="3017520"/>
            <a:ext cx="1005840" cy="1005840"/>
          </a:xfrm>
          <a:prstGeom prst="ellipse">
            <a:avLst/>
          </a:prstGeom>
          <a:solidFill>
            <a:schemeClr val="accent6"/>
          </a:solidFill>
          <a:ln w="38100">
            <a:solidFill>
              <a:srgbClr val="14213D"/>
            </a:solidFill>
            <a:prstDash val="solid"/>
          </a:ln>
        </p:spPr>
      </p:sp>
      <p:pic>
        <p:nvPicPr>
          <p:cNvPr id="7" name="hero-gear" descr="preencoded.png">    </p:cNvPr>
          <p:cNvPicPr>
            <a:picLocks noChangeAspect="1"/>
          </p:cNvPicPr>
          <p:nvPr/>
        </p:nvPicPr>
        <p:blipFill>
          <a:blip r:embed="rId2"/>
          <a:stretch>
            <a:fillRect/>
          </a:stretch>
        </p:blipFill>
        <p:spPr>
          <a:xfrm>
            <a:off x="8046720" y="3246120"/>
            <a:ext cx="548640" cy="548640"/>
          </a:xfrm>
          <a:prstGeom prst="rect">
            <a:avLst/>
          </a:prstGeom>
        </p:spPr>
      </p:pic>
      <p:sp>
        <p:nvSpPr>
          <p:cNvPr id="8" name="text-1"/>
          <p:cNvSpPr txBox="1"/>
          <p:nvPr/>
        </p:nvSpPr>
        <p:spPr>
          <a:xfrm>
            <a:off x="548640" y="4160520"/>
            <a:ext cx="5486400" cy="365760"/>
          </a:xfrm>
          <a:prstGeom prst="rect">
            <a:avLst/>
          </a:prstGeom>
          <a:noFill/>
          <a:ln/>
        </p:spPr>
        <p:txBody>
          <a:bodyPr wrap="square" lIns="0" tIns="0" rIns="0" bIns="0" rtlCol="0" anchor="t"/>
          <a:lstStyle/>
          <a:p>
            <a:pPr indent="0" marL="0">
              <a:buNone/>
            </a:pPr>
            <a:r>
              <a:rPr lang="en-US" sz="1400" i="1" dirty="0">
                <a:solidFill>
                  <a:schemeClr val="accent5"/>
                </a:solidFill>
              </a:rPr>
              <a:t>Letting computers do the repetitive work, on time, every time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OVERVIEW</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What We Will Learn Today</a:t>
            </a:r>
            <a:endParaRPr lang="en-US" sz="2600" dirty="0"/>
          </a:p>
        </p:txBody>
      </p:sp>
      <p:sp>
        <p:nvSpPr>
          <p:cNvPr id="5" name="card-2"/>
          <p:cNvSpPr/>
          <p:nvPr/>
        </p:nvSpPr>
        <p:spPr>
          <a:xfrm>
            <a:off x="457200" y="1325880"/>
            <a:ext cx="192024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6" name="num-bg-3"/>
          <p:cNvSpPr/>
          <p:nvPr/>
        </p:nvSpPr>
        <p:spPr>
          <a:xfrm>
            <a:off x="640080" y="1508760"/>
            <a:ext cx="457200" cy="457200"/>
          </a:xfrm>
          <a:prstGeom prst="ellipse">
            <a:avLst/>
          </a:prstGeom>
          <a:solidFill>
            <a:schemeClr val="accent1"/>
          </a:solidFill>
          <a:ln w="12700">
            <a:solidFill>
              <a:schemeClr val="accent1"/>
            </a:solidFill>
            <a:prstDash val="solid"/>
          </a:ln>
        </p:spPr>
      </p:sp>
      <p:sp>
        <p:nvSpPr>
          <p:cNvPr id="7" name="text-4"/>
          <p:cNvSpPr txBox="1"/>
          <p:nvPr/>
        </p:nvSpPr>
        <p:spPr>
          <a:xfrm>
            <a:off x="640080" y="15087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8" name="text-5"/>
          <p:cNvSpPr txBox="1"/>
          <p:nvPr/>
        </p:nvSpPr>
        <p:spPr>
          <a:xfrm>
            <a:off x="640080" y="2075688"/>
            <a:ext cx="1600200" cy="640080"/>
          </a:xfrm>
          <a:prstGeom prst="rect">
            <a:avLst/>
          </a:prstGeom>
          <a:noFill/>
          <a:ln/>
        </p:spPr>
        <p:txBody>
          <a:bodyPr wrap="square" lIns="0" tIns="0" rIns="0" bIns="0" rtlCol="0" anchor="t"/>
          <a:lstStyle/>
          <a:p>
            <a:pPr indent="0" marL="0">
              <a:buNone/>
            </a:pPr>
            <a:r>
              <a:rPr lang="en-US" sz="1400" b="1" dirty="0">
                <a:solidFill>
                  <a:schemeClr val="tx2"/>
                </a:solidFill>
              </a:rPr>
              <a:t>Introduction to Scheduling and Automation</a:t>
            </a:r>
            <a:endParaRPr lang="en-US" sz="1400" dirty="0"/>
          </a:p>
        </p:txBody>
      </p:sp>
      <p:sp>
        <p:nvSpPr>
          <p:cNvPr id="9" name="card-6"/>
          <p:cNvSpPr/>
          <p:nvPr/>
        </p:nvSpPr>
        <p:spPr>
          <a:xfrm>
            <a:off x="2560320" y="1325880"/>
            <a:ext cx="192024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0" name="num-bg-7"/>
          <p:cNvSpPr/>
          <p:nvPr/>
        </p:nvSpPr>
        <p:spPr>
          <a:xfrm>
            <a:off x="2743200" y="1508760"/>
            <a:ext cx="457200" cy="457200"/>
          </a:xfrm>
          <a:prstGeom prst="ellipse">
            <a:avLst/>
          </a:prstGeom>
          <a:solidFill>
            <a:schemeClr val="accent1"/>
          </a:solidFill>
          <a:ln w="12700">
            <a:solidFill>
              <a:schemeClr val="accent1"/>
            </a:solidFill>
            <a:prstDash val="solid"/>
          </a:ln>
        </p:spPr>
      </p:sp>
      <p:sp>
        <p:nvSpPr>
          <p:cNvPr id="11" name="text-8"/>
          <p:cNvSpPr txBox="1"/>
          <p:nvPr/>
        </p:nvSpPr>
        <p:spPr>
          <a:xfrm>
            <a:off x="2743200" y="15087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12" name="text-9"/>
          <p:cNvSpPr txBox="1"/>
          <p:nvPr/>
        </p:nvSpPr>
        <p:spPr>
          <a:xfrm>
            <a:off x="2743200" y="2075688"/>
            <a:ext cx="1600200" cy="640080"/>
          </a:xfrm>
          <a:prstGeom prst="rect">
            <a:avLst/>
          </a:prstGeom>
          <a:noFill/>
          <a:ln/>
        </p:spPr>
        <p:txBody>
          <a:bodyPr wrap="square" lIns="0" tIns="0" rIns="0" bIns="0" rtlCol="0" anchor="t"/>
          <a:lstStyle/>
          <a:p>
            <a:pPr indent="0" marL="0">
              <a:buNone/>
            </a:pPr>
            <a:r>
              <a:rPr lang="en-US" sz="1400" b="1" dirty="0">
                <a:solidFill>
                  <a:schemeClr val="tx2"/>
                </a:solidFill>
              </a:rPr>
              <a:t>Scheduling Concepts</a:t>
            </a:r>
            <a:endParaRPr lang="en-US" sz="1400" dirty="0"/>
          </a:p>
        </p:txBody>
      </p:sp>
      <p:sp>
        <p:nvSpPr>
          <p:cNvPr id="13" name="card-10"/>
          <p:cNvSpPr/>
          <p:nvPr/>
        </p:nvSpPr>
        <p:spPr>
          <a:xfrm>
            <a:off x="4663440" y="1325880"/>
            <a:ext cx="192024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4" name="num-bg-11"/>
          <p:cNvSpPr/>
          <p:nvPr/>
        </p:nvSpPr>
        <p:spPr>
          <a:xfrm>
            <a:off x="4846320" y="1508760"/>
            <a:ext cx="457200" cy="457200"/>
          </a:xfrm>
          <a:prstGeom prst="ellipse">
            <a:avLst/>
          </a:prstGeom>
          <a:solidFill>
            <a:schemeClr val="accent1"/>
          </a:solidFill>
          <a:ln w="12700">
            <a:solidFill>
              <a:schemeClr val="accent1"/>
            </a:solidFill>
            <a:prstDash val="solid"/>
          </a:ln>
        </p:spPr>
      </p:sp>
      <p:sp>
        <p:nvSpPr>
          <p:cNvPr id="15" name="text-12"/>
          <p:cNvSpPr txBox="1"/>
          <p:nvPr/>
        </p:nvSpPr>
        <p:spPr>
          <a:xfrm>
            <a:off x="4846320" y="15087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16" name="text-13"/>
          <p:cNvSpPr txBox="1"/>
          <p:nvPr/>
        </p:nvSpPr>
        <p:spPr>
          <a:xfrm>
            <a:off x="4846320" y="2075688"/>
            <a:ext cx="1600200" cy="640080"/>
          </a:xfrm>
          <a:prstGeom prst="rect">
            <a:avLst/>
          </a:prstGeom>
          <a:noFill/>
          <a:ln/>
        </p:spPr>
        <p:txBody>
          <a:bodyPr wrap="square" lIns="0" tIns="0" rIns="0" bIns="0" rtlCol="0" anchor="t"/>
          <a:lstStyle/>
          <a:p>
            <a:pPr indent="0" marL="0">
              <a:buNone/>
            </a:pPr>
            <a:r>
              <a:rPr lang="en-US" sz="1400" b="1" dirty="0">
                <a:solidFill>
                  <a:schemeClr val="tx2"/>
                </a:solidFill>
              </a:rPr>
              <a:t>Windows Task Scheduler</a:t>
            </a:r>
            <a:endParaRPr lang="en-US" sz="1400" dirty="0"/>
          </a:p>
        </p:txBody>
      </p:sp>
      <p:sp>
        <p:nvSpPr>
          <p:cNvPr id="17" name="card-14"/>
          <p:cNvSpPr/>
          <p:nvPr/>
        </p:nvSpPr>
        <p:spPr>
          <a:xfrm>
            <a:off x="6766560" y="1325880"/>
            <a:ext cx="192024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8" name="num-bg-15"/>
          <p:cNvSpPr/>
          <p:nvPr/>
        </p:nvSpPr>
        <p:spPr>
          <a:xfrm>
            <a:off x="6949440" y="1508760"/>
            <a:ext cx="457200" cy="457200"/>
          </a:xfrm>
          <a:prstGeom prst="ellipse">
            <a:avLst/>
          </a:prstGeom>
          <a:solidFill>
            <a:schemeClr val="accent1"/>
          </a:solidFill>
          <a:ln w="12700">
            <a:solidFill>
              <a:schemeClr val="accent1"/>
            </a:solidFill>
            <a:prstDash val="solid"/>
          </a:ln>
        </p:spPr>
      </p:sp>
      <p:sp>
        <p:nvSpPr>
          <p:cNvPr id="19" name="text-16"/>
          <p:cNvSpPr txBox="1"/>
          <p:nvPr/>
        </p:nvSpPr>
        <p:spPr>
          <a:xfrm>
            <a:off x="6949440" y="150876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4</a:t>
            </a:r>
            <a:endParaRPr lang="en-US" sz="1800" dirty="0"/>
          </a:p>
        </p:txBody>
      </p:sp>
      <p:sp>
        <p:nvSpPr>
          <p:cNvPr id="20" name="text-17"/>
          <p:cNvSpPr txBox="1"/>
          <p:nvPr/>
        </p:nvSpPr>
        <p:spPr>
          <a:xfrm>
            <a:off x="6949440" y="2075688"/>
            <a:ext cx="1600200" cy="640080"/>
          </a:xfrm>
          <a:prstGeom prst="rect">
            <a:avLst/>
          </a:prstGeom>
          <a:noFill/>
          <a:ln/>
        </p:spPr>
        <p:txBody>
          <a:bodyPr wrap="square" lIns="0" tIns="0" rIns="0" bIns="0" rtlCol="0" anchor="t"/>
          <a:lstStyle/>
          <a:p>
            <a:pPr indent="0" marL="0">
              <a:buNone/>
            </a:pPr>
            <a:r>
              <a:rPr lang="en-US" sz="1400" b="1" dirty="0">
                <a:solidFill>
                  <a:schemeClr val="tx2"/>
                </a:solidFill>
              </a:rPr>
              <a:t>Linux cron and at</a:t>
            </a:r>
            <a:endParaRPr lang="en-US" sz="1400" dirty="0"/>
          </a:p>
        </p:txBody>
      </p:sp>
      <p:sp>
        <p:nvSpPr>
          <p:cNvPr id="21" name="card-18"/>
          <p:cNvSpPr/>
          <p:nvPr/>
        </p:nvSpPr>
        <p:spPr>
          <a:xfrm>
            <a:off x="457200" y="3017520"/>
            <a:ext cx="192024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2" name="num-bg-19"/>
          <p:cNvSpPr/>
          <p:nvPr/>
        </p:nvSpPr>
        <p:spPr>
          <a:xfrm>
            <a:off x="640080" y="3200400"/>
            <a:ext cx="457200" cy="457200"/>
          </a:xfrm>
          <a:prstGeom prst="ellipse">
            <a:avLst/>
          </a:prstGeom>
          <a:solidFill>
            <a:schemeClr val="accent1"/>
          </a:solidFill>
          <a:ln w="12700">
            <a:solidFill>
              <a:schemeClr val="accent1"/>
            </a:solidFill>
            <a:prstDash val="solid"/>
          </a:ln>
        </p:spPr>
      </p:sp>
      <p:sp>
        <p:nvSpPr>
          <p:cNvPr id="23" name="text-20"/>
          <p:cNvSpPr txBox="1"/>
          <p:nvPr/>
        </p:nvSpPr>
        <p:spPr>
          <a:xfrm>
            <a:off x="640080" y="320040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5</a:t>
            </a:r>
            <a:endParaRPr lang="en-US" sz="1800" dirty="0"/>
          </a:p>
        </p:txBody>
      </p:sp>
      <p:sp>
        <p:nvSpPr>
          <p:cNvPr id="24" name="text-21"/>
          <p:cNvSpPr txBox="1"/>
          <p:nvPr/>
        </p:nvSpPr>
        <p:spPr>
          <a:xfrm>
            <a:off x="640080" y="3767328"/>
            <a:ext cx="1600200" cy="640080"/>
          </a:xfrm>
          <a:prstGeom prst="rect">
            <a:avLst/>
          </a:prstGeom>
          <a:noFill/>
          <a:ln/>
        </p:spPr>
        <p:txBody>
          <a:bodyPr wrap="square" lIns="0" tIns="0" rIns="0" bIns="0" rtlCol="0" anchor="t"/>
          <a:lstStyle/>
          <a:p>
            <a:pPr indent="0" marL="0">
              <a:buNone/>
            </a:pPr>
            <a:r>
              <a:rPr lang="en-US" sz="1400" b="1" dirty="0">
                <a:solidFill>
                  <a:schemeClr val="tx2"/>
                </a:solidFill>
              </a:rPr>
              <a:t>Scripting with PowerShell and Bash</a:t>
            </a:r>
            <a:endParaRPr lang="en-US" sz="1400" dirty="0"/>
          </a:p>
        </p:txBody>
      </p:sp>
      <p:sp>
        <p:nvSpPr>
          <p:cNvPr id="25" name="card-22"/>
          <p:cNvSpPr/>
          <p:nvPr/>
        </p:nvSpPr>
        <p:spPr>
          <a:xfrm>
            <a:off x="2560320" y="3017520"/>
            <a:ext cx="192024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6" name="num-bg-23"/>
          <p:cNvSpPr/>
          <p:nvPr/>
        </p:nvSpPr>
        <p:spPr>
          <a:xfrm>
            <a:off x="2743200" y="3200400"/>
            <a:ext cx="457200" cy="457200"/>
          </a:xfrm>
          <a:prstGeom prst="ellipse">
            <a:avLst/>
          </a:prstGeom>
          <a:solidFill>
            <a:schemeClr val="accent1"/>
          </a:solidFill>
          <a:ln w="12700">
            <a:solidFill>
              <a:schemeClr val="accent1"/>
            </a:solidFill>
            <a:prstDash val="solid"/>
          </a:ln>
        </p:spPr>
      </p:sp>
      <p:sp>
        <p:nvSpPr>
          <p:cNvPr id="27" name="text-24"/>
          <p:cNvSpPr txBox="1"/>
          <p:nvPr/>
        </p:nvSpPr>
        <p:spPr>
          <a:xfrm>
            <a:off x="2743200" y="320040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6</a:t>
            </a:r>
            <a:endParaRPr lang="en-US" sz="1800" dirty="0"/>
          </a:p>
        </p:txBody>
      </p:sp>
      <p:sp>
        <p:nvSpPr>
          <p:cNvPr id="28" name="text-25"/>
          <p:cNvSpPr txBox="1"/>
          <p:nvPr/>
        </p:nvSpPr>
        <p:spPr>
          <a:xfrm>
            <a:off x="2743200" y="3767328"/>
            <a:ext cx="1600200" cy="640080"/>
          </a:xfrm>
          <a:prstGeom prst="rect">
            <a:avLst/>
          </a:prstGeom>
          <a:noFill/>
          <a:ln/>
        </p:spPr>
        <p:txBody>
          <a:bodyPr wrap="square" lIns="0" tIns="0" rIns="0" bIns="0" rtlCol="0" anchor="t"/>
          <a:lstStyle/>
          <a:p>
            <a:pPr indent="0" marL="0">
              <a:buNone/>
            </a:pPr>
            <a:r>
              <a:rPr lang="en-US" sz="1400" b="1" dirty="0">
                <a:solidFill>
                  <a:schemeClr val="tx2"/>
                </a:solidFill>
              </a:rPr>
              <a:t>Making Jobs Reliable</a:t>
            </a:r>
            <a:endParaRPr lang="en-US" sz="1400" dirty="0"/>
          </a:p>
        </p:txBody>
      </p:sp>
      <p:sp>
        <p:nvSpPr>
          <p:cNvPr id="29" name="card-26"/>
          <p:cNvSpPr/>
          <p:nvPr/>
        </p:nvSpPr>
        <p:spPr>
          <a:xfrm>
            <a:off x="4663440" y="3017520"/>
            <a:ext cx="192024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30" name="num-bg-27"/>
          <p:cNvSpPr/>
          <p:nvPr/>
        </p:nvSpPr>
        <p:spPr>
          <a:xfrm>
            <a:off x="4846320" y="3200400"/>
            <a:ext cx="457200" cy="457200"/>
          </a:xfrm>
          <a:prstGeom prst="ellipse">
            <a:avLst/>
          </a:prstGeom>
          <a:solidFill>
            <a:schemeClr val="accent1"/>
          </a:solidFill>
          <a:ln w="12700">
            <a:solidFill>
              <a:schemeClr val="accent1"/>
            </a:solidFill>
            <a:prstDash val="solid"/>
          </a:ln>
        </p:spPr>
      </p:sp>
      <p:sp>
        <p:nvSpPr>
          <p:cNvPr id="31" name="text-28"/>
          <p:cNvSpPr txBox="1"/>
          <p:nvPr/>
        </p:nvSpPr>
        <p:spPr>
          <a:xfrm>
            <a:off x="4846320" y="320040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7</a:t>
            </a:r>
            <a:endParaRPr lang="en-US" sz="1800" dirty="0"/>
          </a:p>
        </p:txBody>
      </p:sp>
      <p:sp>
        <p:nvSpPr>
          <p:cNvPr id="32" name="text-29"/>
          <p:cNvSpPr txBox="1"/>
          <p:nvPr/>
        </p:nvSpPr>
        <p:spPr>
          <a:xfrm>
            <a:off x="4846320" y="3767328"/>
            <a:ext cx="1600200" cy="640080"/>
          </a:xfrm>
          <a:prstGeom prst="rect">
            <a:avLst/>
          </a:prstGeom>
          <a:noFill/>
          <a:ln/>
        </p:spPr>
        <p:txBody>
          <a:bodyPr wrap="square" lIns="0" tIns="0" rIns="0" bIns="0" rtlCol="0" anchor="t"/>
          <a:lstStyle/>
          <a:p>
            <a:pPr indent="0" marL="0">
              <a:buNone/>
            </a:pPr>
            <a:r>
              <a:rPr lang="en-US" sz="1400" b="1" dirty="0">
                <a:solidFill>
                  <a:schemeClr val="tx2"/>
                </a:solidFill>
              </a:rPr>
              <a:t>Security and Monitoring</a:t>
            </a:r>
            <a:endParaRPr lang="en-US" sz="1400" dirty="0"/>
          </a:p>
        </p:txBody>
      </p:sp>
      <p:sp>
        <p:nvSpPr>
          <p:cNvPr id="33" name="card-30"/>
          <p:cNvSpPr/>
          <p:nvPr/>
        </p:nvSpPr>
        <p:spPr>
          <a:xfrm>
            <a:off x="6766560" y="3017520"/>
            <a:ext cx="192024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34" name="num-bg-31"/>
          <p:cNvSpPr/>
          <p:nvPr/>
        </p:nvSpPr>
        <p:spPr>
          <a:xfrm>
            <a:off x="6949440" y="3200400"/>
            <a:ext cx="457200" cy="457200"/>
          </a:xfrm>
          <a:prstGeom prst="ellipse">
            <a:avLst/>
          </a:prstGeom>
          <a:solidFill>
            <a:schemeClr val="accent1"/>
          </a:solidFill>
          <a:ln w="12700">
            <a:solidFill>
              <a:schemeClr val="accent1"/>
            </a:solidFill>
            <a:prstDash val="solid"/>
          </a:ln>
        </p:spPr>
      </p:sp>
      <p:sp>
        <p:nvSpPr>
          <p:cNvPr id="35" name="text-32"/>
          <p:cNvSpPr txBox="1"/>
          <p:nvPr/>
        </p:nvSpPr>
        <p:spPr>
          <a:xfrm>
            <a:off x="6949440" y="320040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8</a:t>
            </a:r>
            <a:endParaRPr lang="en-US" sz="1800" dirty="0"/>
          </a:p>
        </p:txBody>
      </p:sp>
      <p:sp>
        <p:nvSpPr>
          <p:cNvPr id="36" name="text-33"/>
          <p:cNvSpPr txBox="1"/>
          <p:nvPr/>
        </p:nvSpPr>
        <p:spPr>
          <a:xfrm>
            <a:off x="6949440" y="3767328"/>
            <a:ext cx="1600200" cy="640080"/>
          </a:xfrm>
          <a:prstGeom prst="rect">
            <a:avLst/>
          </a:prstGeom>
          <a:noFill/>
          <a:ln/>
        </p:spPr>
        <p:txBody>
          <a:bodyPr wrap="square" lIns="0" tIns="0" rIns="0" bIns="0" rtlCol="0" anchor="t"/>
          <a:lstStyle/>
          <a:p>
            <a:pPr indent="0" marL="0">
              <a:buNone/>
            </a:pPr>
            <a:r>
              <a:rPr lang="en-US" sz="1400" b="1" dirty="0">
                <a:solidFill>
                  <a:schemeClr val="tx2"/>
                </a:solidFill>
              </a:rPr>
              <a:t>Comparing the Tools</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1 · INTRODUCTION</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Scheduling = When, Automation = How</a:t>
            </a:r>
            <a:endParaRPr lang="en-US" sz="2600" dirty="0"/>
          </a:p>
        </p:txBody>
      </p:sp>
      <p:sp>
        <p:nvSpPr>
          <p:cNvPr id="5" name="card-34"/>
          <p:cNvSpPr/>
          <p:nvPr/>
        </p:nvSpPr>
        <p:spPr>
          <a:xfrm>
            <a:off x="457200" y="1325880"/>
            <a:ext cx="397764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6" name="icon-bg-35"/>
          <p:cNvSpPr/>
          <p:nvPr/>
        </p:nvSpPr>
        <p:spPr>
          <a:xfrm>
            <a:off x="731520" y="1554480"/>
            <a:ext cx="731520" cy="731520"/>
          </a:xfrm>
          <a:prstGeom prst="ellipse">
            <a:avLst/>
          </a:prstGeom>
          <a:solidFill>
            <a:schemeClr val="accent1"/>
          </a:solidFill>
          <a:ln w="12700">
            <a:solidFill>
              <a:schemeClr val="accent1"/>
            </a:solidFill>
            <a:prstDash val="solid"/>
          </a:ln>
        </p:spPr>
      </p:sp>
      <p:pic>
        <p:nvPicPr>
          <p:cNvPr id="7" name="icon-36" descr="preencoded.png">    </p:cNvPr>
          <p:cNvPicPr>
            <a:picLocks noChangeAspect="1"/>
          </p:cNvPicPr>
          <p:nvPr/>
        </p:nvPicPr>
        <p:blipFill>
          <a:blip r:embed="rId1"/>
          <a:stretch>
            <a:fillRect/>
          </a:stretch>
        </p:blipFill>
        <p:spPr>
          <a:xfrm>
            <a:off x="914400" y="1737360"/>
            <a:ext cx="365760" cy="365760"/>
          </a:xfrm>
          <a:prstGeom prst="rect">
            <a:avLst/>
          </a:prstGeom>
        </p:spPr>
      </p:pic>
      <p:sp>
        <p:nvSpPr>
          <p:cNvPr id="8" name="text-37"/>
          <p:cNvSpPr txBox="1"/>
          <p:nvPr/>
        </p:nvSpPr>
        <p:spPr>
          <a:xfrm>
            <a:off x="1645920" y="1691640"/>
            <a:ext cx="2651760" cy="457200"/>
          </a:xfrm>
          <a:prstGeom prst="rect">
            <a:avLst/>
          </a:prstGeom>
          <a:noFill/>
          <a:ln/>
        </p:spPr>
        <p:txBody>
          <a:bodyPr wrap="square" lIns="0" tIns="0" rIns="0" bIns="0" rtlCol="0" anchor="ctr"/>
          <a:lstStyle/>
          <a:p>
            <a:pPr indent="0" marL="0">
              <a:buNone/>
            </a:pPr>
            <a:r>
              <a:rPr lang="en-US" sz="1800" b="1" dirty="0">
                <a:solidFill>
                  <a:schemeClr val="tx2"/>
                </a:solidFill>
              </a:rPr>
              <a:t>Task Scheduling = WHEN</a:t>
            </a:r>
            <a:endParaRPr lang="en-US" sz="1800" dirty="0"/>
          </a:p>
        </p:txBody>
      </p:sp>
      <p:sp>
        <p:nvSpPr>
          <p:cNvPr id="9" name="text-38"/>
          <p:cNvSpPr txBox="1"/>
          <p:nvPr/>
        </p:nvSpPr>
        <p:spPr>
          <a:xfrm>
            <a:off x="731520" y="2468880"/>
            <a:ext cx="3520440" cy="1005840"/>
          </a:xfrm>
          <a:prstGeom prst="rect">
            <a:avLst/>
          </a:prstGeom>
          <a:noFill/>
          <a:ln/>
        </p:spPr>
        <p:txBody>
          <a:bodyPr wrap="square" lIns="0" tIns="0" rIns="0" bIns="0" rtlCol="0" anchor="t"/>
          <a:lstStyle/>
          <a:p>
            <a:pPr indent="0" marL="0">
              <a:buNone/>
            </a:pPr>
            <a:r>
              <a:rPr lang="en-US" sz="1400" dirty="0">
                <a:solidFill>
                  <a:schemeClr val="tx1"/>
                </a:solidFill>
              </a:rPr>
              <a:t>Tells the computer when to run a task: at a set time, at regular intervals, or when an event happens, even if nobody is logged in.</a:t>
            </a:r>
            <a:endParaRPr lang="en-US" sz="1400" dirty="0"/>
          </a:p>
        </p:txBody>
      </p:sp>
      <p:sp>
        <p:nvSpPr>
          <p:cNvPr id="10" name="card-39"/>
          <p:cNvSpPr/>
          <p:nvPr/>
        </p:nvSpPr>
        <p:spPr>
          <a:xfrm>
            <a:off x="4709160" y="1325880"/>
            <a:ext cx="397764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1" name="icon-bg-40"/>
          <p:cNvSpPr/>
          <p:nvPr/>
        </p:nvSpPr>
        <p:spPr>
          <a:xfrm>
            <a:off x="4983480" y="1554480"/>
            <a:ext cx="731520" cy="731520"/>
          </a:xfrm>
          <a:prstGeom prst="ellipse">
            <a:avLst/>
          </a:prstGeom>
          <a:solidFill>
            <a:schemeClr val="accent2"/>
          </a:solidFill>
          <a:ln w="12700">
            <a:solidFill>
              <a:schemeClr val="accent2"/>
            </a:solidFill>
            <a:prstDash val="solid"/>
          </a:ln>
        </p:spPr>
      </p:sp>
      <p:pic>
        <p:nvPicPr>
          <p:cNvPr id="12" name="icon-41" descr="preencoded.png">    </p:cNvPr>
          <p:cNvPicPr>
            <a:picLocks noChangeAspect="1"/>
          </p:cNvPicPr>
          <p:nvPr/>
        </p:nvPicPr>
        <p:blipFill>
          <a:blip r:embed="rId2"/>
          <a:stretch>
            <a:fillRect/>
          </a:stretch>
        </p:blipFill>
        <p:spPr>
          <a:xfrm>
            <a:off x="5166360" y="1737360"/>
            <a:ext cx="365760" cy="365760"/>
          </a:xfrm>
          <a:prstGeom prst="rect">
            <a:avLst/>
          </a:prstGeom>
        </p:spPr>
      </p:pic>
      <p:sp>
        <p:nvSpPr>
          <p:cNvPr id="13" name="text-42"/>
          <p:cNvSpPr txBox="1"/>
          <p:nvPr/>
        </p:nvSpPr>
        <p:spPr>
          <a:xfrm>
            <a:off x="5897880" y="1691640"/>
            <a:ext cx="2651760" cy="457200"/>
          </a:xfrm>
          <a:prstGeom prst="rect">
            <a:avLst/>
          </a:prstGeom>
          <a:noFill/>
          <a:ln/>
        </p:spPr>
        <p:txBody>
          <a:bodyPr wrap="square" lIns="0" tIns="0" rIns="0" bIns="0" rtlCol="0" anchor="ctr"/>
          <a:lstStyle/>
          <a:p>
            <a:pPr indent="0" marL="0">
              <a:buNone/>
            </a:pPr>
            <a:r>
              <a:rPr lang="en-US" sz="1800" b="1" dirty="0">
                <a:solidFill>
                  <a:schemeClr val="tx2"/>
                </a:solidFill>
              </a:rPr>
              <a:t>Automation = HOW</a:t>
            </a:r>
            <a:endParaRPr lang="en-US" sz="1800" dirty="0"/>
          </a:p>
        </p:txBody>
      </p:sp>
      <p:sp>
        <p:nvSpPr>
          <p:cNvPr id="14" name="text-43"/>
          <p:cNvSpPr txBox="1"/>
          <p:nvPr/>
        </p:nvSpPr>
        <p:spPr>
          <a:xfrm>
            <a:off x="4983480" y="2468880"/>
            <a:ext cx="3520440" cy="1005840"/>
          </a:xfrm>
          <a:prstGeom prst="rect">
            <a:avLst/>
          </a:prstGeom>
          <a:noFill/>
          <a:ln/>
        </p:spPr>
        <p:txBody>
          <a:bodyPr wrap="square" lIns="0" tIns="0" rIns="0" bIns="0" rtlCol="0" anchor="t"/>
          <a:lstStyle/>
          <a:p>
            <a:pPr indent="0" marL="0">
              <a:buNone/>
            </a:pPr>
            <a:r>
              <a:rPr lang="en-US" sz="1400" dirty="0">
                <a:solidFill>
                  <a:schemeClr val="tx1"/>
                </a:solidFill>
              </a:rPr>
              <a:t>A script lists the steps so the computer can do the whole job by itself, the same way every time, with no person needed.</a:t>
            </a:r>
            <a:endParaRPr lang="en-US" sz="1400" dirty="0"/>
          </a:p>
        </p:txBody>
      </p:sp>
      <p:sp>
        <p:nvSpPr>
          <p:cNvPr id="15" name="card-44"/>
          <p:cNvSpPr/>
          <p:nvPr/>
        </p:nvSpPr>
        <p:spPr>
          <a:xfrm>
            <a:off x="457200" y="3794760"/>
            <a:ext cx="8229600" cy="777240"/>
          </a:xfrm>
          <a:prstGeom prst="roundRect">
            <a:avLst>
              <a:gd name="adj" fmla="val 9412"/>
            </a:avLst>
          </a:prstGeom>
          <a:solidFill>
            <a:schemeClr val="tx2"/>
          </a:solidFill>
          <a:ln w="12700">
            <a:solidFill>
              <a:schemeClr val="tx2"/>
            </a:solidFill>
            <a:prstDash val="solid"/>
          </a:ln>
        </p:spPr>
      </p:sp>
      <p:sp>
        <p:nvSpPr>
          <p:cNvPr id="16" name="icon-bg-45"/>
          <p:cNvSpPr/>
          <p:nvPr/>
        </p:nvSpPr>
        <p:spPr>
          <a:xfrm>
            <a:off x="658368" y="3904488"/>
            <a:ext cx="548640" cy="548640"/>
          </a:xfrm>
          <a:prstGeom prst="ellipse">
            <a:avLst/>
          </a:prstGeom>
          <a:solidFill>
            <a:schemeClr val="accent1"/>
          </a:solidFill>
          <a:ln w="12700">
            <a:solidFill>
              <a:schemeClr val="accent1"/>
            </a:solidFill>
            <a:prstDash val="solid"/>
          </a:ln>
        </p:spPr>
      </p:sp>
      <p:pic>
        <p:nvPicPr>
          <p:cNvPr id="17" name="icon-46" descr="preencoded.png">    </p:cNvPr>
          <p:cNvPicPr>
            <a:picLocks noChangeAspect="1"/>
          </p:cNvPicPr>
          <p:nvPr/>
        </p:nvPicPr>
        <p:blipFill>
          <a:blip r:embed="rId3"/>
          <a:stretch>
            <a:fillRect/>
          </a:stretch>
        </p:blipFill>
        <p:spPr>
          <a:xfrm>
            <a:off x="795528" y="4041648"/>
            <a:ext cx="274320" cy="274320"/>
          </a:xfrm>
          <a:prstGeom prst="rect">
            <a:avLst/>
          </a:prstGeom>
        </p:spPr>
      </p:pic>
      <p:sp>
        <p:nvSpPr>
          <p:cNvPr id="18" name="text-47"/>
          <p:cNvSpPr txBox="1"/>
          <p:nvPr/>
        </p:nvSpPr>
        <p:spPr>
          <a:xfrm>
            <a:off x="1417320" y="3904488"/>
            <a:ext cx="7132320" cy="548640"/>
          </a:xfrm>
          <a:prstGeom prst="rect">
            <a:avLst/>
          </a:prstGeom>
          <a:noFill/>
          <a:ln/>
        </p:spPr>
        <p:txBody>
          <a:bodyPr wrap="square" lIns="0" tIns="0" rIns="0" bIns="0" rtlCol="0" anchor="ctr"/>
          <a:lstStyle/>
          <a:p>
            <a:pPr indent="0" marL="0">
              <a:buNone/>
            </a:pPr>
            <a:r>
              <a:rPr lang="en-US" sz="1500" b="1" dirty="0">
                <a:solidFill>
                  <a:schemeClr val="accent1"/>
                </a:solidFill>
              </a:rPr>
              <a:t>Like a coffee maker with a timer: </a:t>
            </a:r>
            <a:pPr indent="0" marL="0">
              <a:buNone/>
            </a:pPr>
            <a:r>
              <a:rPr lang="en-US" sz="1500" dirty="0">
                <a:solidFill>
                  <a:schemeClr val="bg1"/>
                </a:solidFill>
              </a:rPr>
              <a:t>the timer is the scheduler, and the coffee and water are the script.</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1 · INTRODUCTION</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Why It Matters to System Administrators</a:t>
            </a:r>
            <a:endParaRPr lang="en-US" sz="2600" dirty="0"/>
          </a:p>
        </p:txBody>
      </p:sp>
      <p:sp>
        <p:nvSpPr>
          <p:cNvPr id="5" name="card-48"/>
          <p:cNvSpPr/>
          <p:nvPr/>
        </p:nvSpPr>
        <p:spPr>
          <a:xfrm>
            <a:off x="457200" y="1325880"/>
            <a:ext cx="3291840" cy="3246120"/>
          </a:xfrm>
          <a:prstGeom prst="roundRect">
            <a:avLst>
              <a:gd name="adj" fmla="val 2254"/>
            </a:avLst>
          </a:prstGeom>
          <a:solidFill>
            <a:schemeClr val="tx2"/>
          </a:solidFill>
          <a:ln w="12700">
            <a:solidFill>
              <a:schemeClr val="tx2"/>
            </a:solidFill>
            <a:prstDash val="solid"/>
          </a:ln>
        </p:spPr>
      </p:sp>
      <p:sp>
        <p:nvSpPr>
          <p:cNvPr id="6" name="text-49"/>
          <p:cNvSpPr txBox="1"/>
          <p:nvPr/>
        </p:nvSpPr>
        <p:spPr>
          <a:xfrm>
            <a:off x="685800" y="1600200"/>
            <a:ext cx="2926080" cy="91440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8+ hours</a:t>
            </a:r>
            <a:endParaRPr lang="en-US" sz="4000" dirty="0"/>
          </a:p>
        </p:txBody>
      </p:sp>
      <p:sp>
        <p:nvSpPr>
          <p:cNvPr id="7" name="text-50"/>
          <p:cNvSpPr txBox="1"/>
          <p:nvPr/>
        </p:nvSpPr>
        <p:spPr>
          <a:xfrm>
            <a:off x="685800" y="2560320"/>
            <a:ext cx="2834640" cy="731520"/>
          </a:xfrm>
          <a:prstGeom prst="rect">
            <a:avLst/>
          </a:prstGeom>
          <a:noFill/>
          <a:ln/>
        </p:spPr>
        <p:txBody>
          <a:bodyPr wrap="square" lIns="0" tIns="0" rIns="0" bIns="0" rtlCol="0" anchor="t"/>
          <a:lstStyle/>
          <a:p>
            <a:pPr indent="0" marL="0">
              <a:buNone/>
            </a:pPr>
            <a:r>
              <a:rPr lang="en-US" sz="1500" dirty="0">
                <a:solidFill>
                  <a:schemeClr val="bg1"/>
                </a:solidFill>
              </a:rPr>
              <a:t>of manual checks every day for 50 servers at 10 minutes each</a:t>
            </a:r>
            <a:endParaRPr lang="en-US" sz="1500" dirty="0"/>
          </a:p>
        </p:txBody>
      </p:sp>
      <p:sp>
        <p:nvSpPr>
          <p:cNvPr id="8" name="text-51"/>
          <p:cNvSpPr txBox="1"/>
          <p:nvPr/>
        </p:nvSpPr>
        <p:spPr>
          <a:xfrm>
            <a:off x="685800" y="3749040"/>
            <a:ext cx="2834640" cy="548640"/>
          </a:xfrm>
          <a:prstGeom prst="rect">
            <a:avLst/>
          </a:prstGeom>
          <a:noFill/>
          <a:ln/>
        </p:spPr>
        <p:txBody>
          <a:bodyPr wrap="square" lIns="0" tIns="0" rIns="0" bIns="0" rtlCol="0" anchor="t"/>
          <a:lstStyle/>
          <a:p>
            <a:pPr indent="0" marL="0">
              <a:buNone/>
            </a:pPr>
            <a:r>
              <a:rPr lang="en-US" sz="1500" b="1" dirty="0">
                <a:solidFill>
                  <a:schemeClr val="accent6"/>
                </a:solidFill>
              </a:rPr>
              <a:t>A scheduled script: a few seconds</a:t>
            </a:r>
            <a:endParaRPr lang="en-US" sz="1500" dirty="0"/>
          </a:p>
        </p:txBody>
      </p:sp>
      <p:sp>
        <p:nvSpPr>
          <p:cNvPr id="9" name="icon-bg-52"/>
          <p:cNvSpPr/>
          <p:nvPr/>
        </p:nvSpPr>
        <p:spPr>
          <a:xfrm>
            <a:off x="4069080" y="1371600"/>
            <a:ext cx="566928" cy="566928"/>
          </a:xfrm>
          <a:prstGeom prst="ellipse">
            <a:avLst/>
          </a:prstGeom>
          <a:solidFill>
            <a:schemeClr val="accent2"/>
          </a:solidFill>
          <a:ln w="12700">
            <a:solidFill>
              <a:schemeClr val="accent2"/>
            </a:solidFill>
            <a:prstDash val="solid"/>
          </a:ln>
        </p:spPr>
      </p:sp>
      <p:pic>
        <p:nvPicPr>
          <p:cNvPr id="10" name="icon-53" descr="preencoded.png">    </p:cNvPr>
          <p:cNvPicPr>
            <a:picLocks noChangeAspect="1"/>
          </p:cNvPicPr>
          <p:nvPr/>
        </p:nvPicPr>
        <p:blipFill>
          <a:blip r:embed="rId1"/>
          <a:stretch>
            <a:fillRect/>
          </a:stretch>
        </p:blipFill>
        <p:spPr>
          <a:xfrm>
            <a:off x="4210812" y="1513332"/>
            <a:ext cx="283464" cy="283464"/>
          </a:xfrm>
          <a:prstGeom prst="rect">
            <a:avLst/>
          </a:prstGeom>
        </p:spPr>
      </p:pic>
      <p:sp>
        <p:nvSpPr>
          <p:cNvPr id="11" name="text-54"/>
          <p:cNvSpPr txBox="1"/>
          <p:nvPr/>
        </p:nvSpPr>
        <p:spPr>
          <a:xfrm>
            <a:off x="4800600" y="1353312"/>
            <a:ext cx="3840480" cy="292608"/>
          </a:xfrm>
          <a:prstGeom prst="rect">
            <a:avLst/>
          </a:prstGeom>
          <a:noFill/>
          <a:ln/>
        </p:spPr>
        <p:txBody>
          <a:bodyPr wrap="square" lIns="0" tIns="0" rIns="0" bIns="0" rtlCol="0" anchor="t"/>
          <a:lstStyle/>
          <a:p>
            <a:pPr indent="0" marL="0">
              <a:buNone/>
            </a:pPr>
            <a:r>
              <a:rPr lang="en-US" sz="1600" b="1" dirty="0">
                <a:solidFill>
                  <a:schemeClr val="tx2"/>
                </a:solidFill>
              </a:rPr>
              <a:t>Consistent</a:t>
            </a:r>
            <a:endParaRPr lang="en-US" sz="1600" dirty="0"/>
          </a:p>
        </p:txBody>
      </p:sp>
      <p:sp>
        <p:nvSpPr>
          <p:cNvPr id="12" name="text-55"/>
          <p:cNvSpPr txBox="1"/>
          <p:nvPr/>
        </p:nvSpPr>
        <p:spPr>
          <a:xfrm>
            <a:off x="4800600" y="1645920"/>
            <a:ext cx="3840480" cy="292608"/>
          </a:xfrm>
          <a:prstGeom prst="rect">
            <a:avLst/>
          </a:prstGeom>
          <a:noFill/>
          <a:ln/>
        </p:spPr>
        <p:txBody>
          <a:bodyPr wrap="square" lIns="0" tIns="0" rIns="0" bIns="0" rtlCol="0" anchor="t"/>
          <a:lstStyle/>
          <a:p>
            <a:pPr indent="0" marL="0">
              <a:buNone/>
            </a:pPr>
            <a:r>
              <a:rPr lang="en-US" sz="1400" dirty="0">
                <a:solidFill>
                  <a:schemeClr val="tx1"/>
                </a:solidFill>
              </a:rPr>
              <a:t>Same steps, same order, every time</a:t>
            </a:r>
            <a:endParaRPr lang="en-US" sz="1400" dirty="0"/>
          </a:p>
        </p:txBody>
      </p:sp>
      <p:sp>
        <p:nvSpPr>
          <p:cNvPr id="13" name="icon-bg-56"/>
          <p:cNvSpPr/>
          <p:nvPr/>
        </p:nvSpPr>
        <p:spPr>
          <a:xfrm>
            <a:off x="4069080" y="2176272"/>
            <a:ext cx="566928" cy="566928"/>
          </a:xfrm>
          <a:prstGeom prst="ellipse">
            <a:avLst/>
          </a:prstGeom>
          <a:solidFill>
            <a:schemeClr val="accent2"/>
          </a:solidFill>
          <a:ln w="12700">
            <a:solidFill>
              <a:schemeClr val="accent2"/>
            </a:solidFill>
            <a:prstDash val="solid"/>
          </a:ln>
        </p:spPr>
      </p:sp>
      <p:pic>
        <p:nvPicPr>
          <p:cNvPr id="14" name="icon-57" descr="preencoded.png">    </p:cNvPr>
          <p:cNvPicPr>
            <a:picLocks noChangeAspect="1"/>
          </p:cNvPicPr>
          <p:nvPr/>
        </p:nvPicPr>
        <p:blipFill>
          <a:blip r:embed="rId2"/>
          <a:stretch>
            <a:fillRect/>
          </a:stretch>
        </p:blipFill>
        <p:spPr>
          <a:xfrm>
            <a:off x="4210812" y="2318004"/>
            <a:ext cx="283464" cy="283464"/>
          </a:xfrm>
          <a:prstGeom prst="rect">
            <a:avLst/>
          </a:prstGeom>
        </p:spPr>
      </p:pic>
      <p:sp>
        <p:nvSpPr>
          <p:cNvPr id="15" name="text-58"/>
          <p:cNvSpPr txBox="1"/>
          <p:nvPr/>
        </p:nvSpPr>
        <p:spPr>
          <a:xfrm>
            <a:off x="4800600" y="2157984"/>
            <a:ext cx="3840480" cy="292608"/>
          </a:xfrm>
          <a:prstGeom prst="rect">
            <a:avLst/>
          </a:prstGeom>
          <a:noFill/>
          <a:ln/>
        </p:spPr>
        <p:txBody>
          <a:bodyPr wrap="square" lIns="0" tIns="0" rIns="0" bIns="0" rtlCol="0" anchor="t"/>
          <a:lstStyle/>
          <a:p>
            <a:pPr indent="0" marL="0">
              <a:buNone/>
            </a:pPr>
            <a:r>
              <a:rPr lang="en-US" sz="1600" b="1" dirty="0">
                <a:solidFill>
                  <a:schemeClr val="tx2"/>
                </a:solidFill>
              </a:rPr>
              <a:t>Runs off-hours</a:t>
            </a:r>
            <a:endParaRPr lang="en-US" sz="1600" dirty="0"/>
          </a:p>
        </p:txBody>
      </p:sp>
      <p:sp>
        <p:nvSpPr>
          <p:cNvPr id="16" name="text-59"/>
          <p:cNvSpPr txBox="1"/>
          <p:nvPr/>
        </p:nvSpPr>
        <p:spPr>
          <a:xfrm>
            <a:off x="4800600" y="2450592"/>
            <a:ext cx="3840480" cy="292608"/>
          </a:xfrm>
          <a:prstGeom prst="rect">
            <a:avLst/>
          </a:prstGeom>
          <a:noFill/>
          <a:ln/>
        </p:spPr>
        <p:txBody>
          <a:bodyPr wrap="square" lIns="0" tIns="0" rIns="0" bIns="0" rtlCol="0" anchor="t"/>
          <a:lstStyle/>
          <a:p>
            <a:pPr indent="0" marL="0">
              <a:buNone/>
            </a:pPr>
            <a:r>
              <a:rPr lang="en-US" sz="1400" dirty="0">
                <a:solidFill>
                  <a:schemeClr val="tx1"/>
                </a:solidFill>
              </a:rPr>
              <a:t>Backups and updates run at 2 AM without anyone awake</a:t>
            </a:r>
            <a:endParaRPr lang="en-US" sz="1400" dirty="0"/>
          </a:p>
        </p:txBody>
      </p:sp>
      <p:sp>
        <p:nvSpPr>
          <p:cNvPr id="17" name="icon-bg-60"/>
          <p:cNvSpPr/>
          <p:nvPr/>
        </p:nvSpPr>
        <p:spPr>
          <a:xfrm>
            <a:off x="4069080" y="2980944"/>
            <a:ext cx="566928" cy="566928"/>
          </a:xfrm>
          <a:prstGeom prst="ellipse">
            <a:avLst/>
          </a:prstGeom>
          <a:solidFill>
            <a:schemeClr val="accent2"/>
          </a:solidFill>
          <a:ln w="12700">
            <a:solidFill>
              <a:schemeClr val="accent2"/>
            </a:solidFill>
            <a:prstDash val="solid"/>
          </a:ln>
        </p:spPr>
      </p:sp>
      <p:pic>
        <p:nvPicPr>
          <p:cNvPr id="18" name="icon-61" descr="preencoded.png">    </p:cNvPr>
          <p:cNvPicPr>
            <a:picLocks noChangeAspect="1"/>
          </p:cNvPicPr>
          <p:nvPr/>
        </p:nvPicPr>
        <p:blipFill>
          <a:blip r:embed="rId3"/>
          <a:stretch>
            <a:fillRect/>
          </a:stretch>
        </p:blipFill>
        <p:spPr>
          <a:xfrm>
            <a:off x="4210812" y="3122676"/>
            <a:ext cx="283464" cy="283464"/>
          </a:xfrm>
          <a:prstGeom prst="rect">
            <a:avLst/>
          </a:prstGeom>
        </p:spPr>
      </p:pic>
      <p:sp>
        <p:nvSpPr>
          <p:cNvPr id="19" name="text-62"/>
          <p:cNvSpPr txBox="1"/>
          <p:nvPr/>
        </p:nvSpPr>
        <p:spPr>
          <a:xfrm>
            <a:off x="4800600" y="2962656"/>
            <a:ext cx="3840480" cy="292608"/>
          </a:xfrm>
          <a:prstGeom prst="rect">
            <a:avLst/>
          </a:prstGeom>
          <a:noFill/>
          <a:ln/>
        </p:spPr>
        <p:txBody>
          <a:bodyPr wrap="square" lIns="0" tIns="0" rIns="0" bIns="0" rtlCol="0" anchor="t"/>
          <a:lstStyle/>
          <a:p>
            <a:pPr indent="0" marL="0">
              <a:buNone/>
            </a:pPr>
            <a:r>
              <a:rPr lang="en-US" sz="1600" b="1" dirty="0">
                <a:solidFill>
                  <a:schemeClr val="tx2"/>
                </a:solidFill>
              </a:rPr>
              <a:t>Fewer errors</a:t>
            </a:r>
            <a:endParaRPr lang="en-US" sz="1600" dirty="0"/>
          </a:p>
        </p:txBody>
      </p:sp>
      <p:sp>
        <p:nvSpPr>
          <p:cNvPr id="20" name="text-63"/>
          <p:cNvSpPr txBox="1"/>
          <p:nvPr/>
        </p:nvSpPr>
        <p:spPr>
          <a:xfrm>
            <a:off x="4800600" y="3255264"/>
            <a:ext cx="3840480" cy="292608"/>
          </a:xfrm>
          <a:prstGeom prst="rect">
            <a:avLst/>
          </a:prstGeom>
          <a:noFill/>
          <a:ln/>
        </p:spPr>
        <p:txBody>
          <a:bodyPr wrap="square" lIns="0" tIns="0" rIns="0" bIns="0" rtlCol="0" anchor="t"/>
          <a:lstStyle/>
          <a:p>
            <a:pPr indent="0" marL="0">
              <a:buNone/>
            </a:pPr>
            <a:r>
              <a:rPr lang="en-US" sz="1400" dirty="0">
                <a:solidFill>
                  <a:schemeClr val="tx1"/>
                </a:solidFill>
              </a:rPr>
              <a:t>Scripts do not skip steps when tired or busy</a:t>
            </a:r>
            <a:endParaRPr lang="en-US" sz="1400" dirty="0"/>
          </a:p>
        </p:txBody>
      </p:sp>
      <p:sp>
        <p:nvSpPr>
          <p:cNvPr id="21" name="icon-bg-64"/>
          <p:cNvSpPr/>
          <p:nvPr/>
        </p:nvSpPr>
        <p:spPr>
          <a:xfrm>
            <a:off x="4069080" y="3785616"/>
            <a:ext cx="566928" cy="566928"/>
          </a:xfrm>
          <a:prstGeom prst="ellipse">
            <a:avLst/>
          </a:prstGeom>
          <a:solidFill>
            <a:schemeClr val="accent2"/>
          </a:solidFill>
          <a:ln w="12700">
            <a:solidFill>
              <a:schemeClr val="accent2"/>
            </a:solidFill>
            <a:prstDash val="solid"/>
          </a:ln>
        </p:spPr>
      </p:sp>
      <p:pic>
        <p:nvPicPr>
          <p:cNvPr id="22" name="icon-65" descr="preencoded.png">    </p:cNvPr>
          <p:cNvPicPr>
            <a:picLocks noChangeAspect="1"/>
          </p:cNvPicPr>
          <p:nvPr/>
        </p:nvPicPr>
        <p:blipFill>
          <a:blip r:embed="rId4"/>
          <a:stretch>
            <a:fillRect/>
          </a:stretch>
        </p:blipFill>
        <p:spPr>
          <a:xfrm>
            <a:off x="4210812" y="3927348"/>
            <a:ext cx="283464" cy="283464"/>
          </a:xfrm>
          <a:prstGeom prst="rect">
            <a:avLst/>
          </a:prstGeom>
        </p:spPr>
      </p:pic>
      <p:sp>
        <p:nvSpPr>
          <p:cNvPr id="23" name="text-66"/>
          <p:cNvSpPr txBox="1"/>
          <p:nvPr/>
        </p:nvSpPr>
        <p:spPr>
          <a:xfrm>
            <a:off x="4800600" y="3767328"/>
            <a:ext cx="3840480" cy="292608"/>
          </a:xfrm>
          <a:prstGeom prst="rect">
            <a:avLst/>
          </a:prstGeom>
          <a:noFill/>
          <a:ln/>
        </p:spPr>
        <p:txBody>
          <a:bodyPr wrap="square" lIns="0" tIns="0" rIns="0" bIns="0" rtlCol="0" anchor="t"/>
          <a:lstStyle/>
          <a:p>
            <a:pPr indent="0" marL="0">
              <a:buNone/>
            </a:pPr>
            <a:r>
              <a:rPr lang="en-US" sz="1600" b="1" dirty="0">
                <a:solidFill>
                  <a:schemeClr val="tx2"/>
                </a:solidFill>
              </a:rPr>
              <a:t>Proof in logs</a:t>
            </a:r>
            <a:endParaRPr lang="en-US" sz="1600" dirty="0"/>
          </a:p>
        </p:txBody>
      </p:sp>
      <p:sp>
        <p:nvSpPr>
          <p:cNvPr id="24" name="text-67"/>
          <p:cNvSpPr txBox="1"/>
          <p:nvPr/>
        </p:nvSpPr>
        <p:spPr>
          <a:xfrm>
            <a:off x="4800600" y="4059936"/>
            <a:ext cx="3840480" cy="292608"/>
          </a:xfrm>
          <a:prstGeom prst="rect">
            <a:avLst/>
          </a:prstGeom>
          <a:noFill/>
          <a:ln/>
        </p:spPr>
        <p:txBody>
          <a:bodyPr wrap="square" lIns="0" tIns="0" rIns="0" bIns="0" rtlCol="0" anchor="t"/>
          <a:lstStyle/>
          <a:p>
            <a:pPr indent="0" marL="0">
              <a:buNone/>
            </a:pPr>
            <a:r>
              <a:rPr lang="en-US" sz="1400" dirty="0">
                <a:solidFill>
                  <a:schemeClr val="tx1"/>
                </a:solidFill>
              </a:rPr>
              <a:t>Records show the work was really done</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1 · INTRODUCTION</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Three Levels: Manual, Scheduled, Automated</a:t>
            </a:r>
            <a:endParaRPr lang="en-US" sz="2600" dirty="0"/>
          </a:p>
        </p:txBody>
      </p:sp>
      <p:sp>
        <p:nvSpPr>
          <p:cNvPr id="5" name="card-68"/>
          <p:cNvSpPr/>
          <p:nvPr/>
        </p:nvSpPr>
        <p:spPr>
          <a:xfrm>
            <a:off x="457200" y="132588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6" name="icon-bg-69"/>
          <p:cNvSpPr/>
          <p:nvPr/>
        </p:nvSpPr>
        <p:spPr>
          <a:xfrm>
            <a:off x="685800" y="1554480"/>
            <a:ext cx="640080" cy="640080"/>
          </a:xfrm>
          <a:prstGeom prst="ellipse">
            <a:avLst/>
          </a:prstGeom>
          <a:solidFill>
            <a:schemeClr val="accent5"/>
          </a:solidFill>
          <a:ln w="12700">
            <a:solidFill>
              <a:schemeClr val="accent5"/>
            </a:solidFill>
            <a:prstDash val="solid"/>
          </a:ln>
        </p:spPr>
      </p:sp>
      <p:pic>
        <p:nvPicPr>
          <p:cNvPr id="7" name="icon-70" descr="preencoded.png">    </p:cNvPr>
          <p:cNvPicPr>
            <a:picLocks noChangeAspect="1"/>
          </p:cNvPicPr>
          <p:nvPr/>
        </p:nvPicPr>
        <p:blipFill>
          <a:blip r:embed="rId1"/>
          <a:stretch>
            <a:fillRect/>
          </a:stretch>
        </p:blipFill>
        <p:spPr>
          <a:xfrm>
            <a:off x="845820" y="1714500"/>
            <a:ext cx="320040" cy="320040"/>
          </a:xfrm>
          <a:prstGeom prst="rect">
            <a:avLst/>
          </a:prstGeom>
        </p:spPr>
      </p:pic>
      <p:sp>
        <p:nvSpPr>
          <p:cNvPr id="8" name="text-71"/>
          <p:cNvSpPr txBox="1"/>
          <p:nvPr/>
        </p:nvSpPr>
        <p:spPr>
          <a:xfrm>
            <a:off x="1463040" y="1572768"/>
            <a:ext cx="1463040" cy="603504"/>
          </a:xfrm>
          <a:prstGeom prst="rect">
            <a:avLst/>
          </a:prstGeom>
          <a:noFill/>
          <a:ln/>
        </p:spPr>
        <p:txBody>
          <a:bodyPr wrap="square" lIns="0" tIns="0" rIns="0" bIns="0" rtlCol="0" anchor="ctr"/>
          <a:lstStyle/>
          <a:p>
            <a:pPr indent="0" marL="0">
              <a:buNone/>
            </a:pPr>
            <a:r>
              <a:rPr lang="en-US" sz="1600" b="1" dirty="0">
                <a:solidFill>
                  <a:schemeClr val="tx2"/>
                </a:solidFill>
              </a:rPr>
              <a:t>Manual task</a:t>
            </a:r>
            <a:endParaRPr lang="en-US" sz="1600" dirty="0"/>
          </a:p>
        </p:txBody>
      </p:sp>
      <p:sp>
        <p:nvSpPr>
          <p:cNvPr id="9" name="text-72"/>
          <p:cNvSpPr txBox="1"/>
          <p:nvPr/>
        </p:nvSpPr>
        <p:spPr>
          <a:xfrm>
            <a:off x="685800" y="2331720"/>
            <a:ext cx="2148840" cy="502920"/>
          </a:xfrm>
          <a:prstGeom prst="rect">
            <a:avLst/>
          </a:prstGeom>
          <a:noFill/>
          <a:ln/>
        </p:spPr>
        <p:txBody>
          <a:bodyPr wrap="square" lIns="0" tIns="0" rIns="0" bIns="0" rtlCol="0" anchor="t"/>
          <a:lstStyle/>
          <a:p>
            <a:pPr indent="0" marL="0">
              <a:buNone/>
            </a:pPr>
            <a:r>
              <a:rPr lang="en-US" sz="1400" b="1" dirty="0">
                <a:solidFill>
                  <a:schemeClr val="accent2"/>
                </a:solidFill>
              </a:rPr>
              <a:t>A person does every step</a:t>
            </a:r>
            <a:endParaRPr lang="en-US" sz="1400" dirty="0"/>
          </a:p>
        </p:txBody>
      </p:sp>
      <p:sp>
        <p:nvSpPr>
          <p:cNvPr id="10" name="text-73"/>
          <p:cNvSpPr txBox="1"/>
          <p:nvPr/>
        </p:nvSpPr>
        <p:spPr>
          <a:xfrm>
            <a:off x="685800" y="2880360"/>
            <a:ext cx="2148840" cy="256032"/>
          </a:xfrm>
          <a:prstGeom prst="rect">
            <a:avLst/>
          </a:prstGeom>
          <a:noFill/>
          <a:ln/>
        </p:spPr>
        <p:txBody>
          <a:bodyPr wrap="square" lIns="0" tIns="0" rIns="0" bIns="0" rtlCol="0" anchor="t"/>
          <a:lstStyle/>
          <a:p>
            <a:pPr indent="0" marL="0">
              <a:buNone/>
            </a:pPr>
            <a:r>
              <a:rPr lang="en-US" sz="1200" b="1" dirty="0">
                <a:solidFill>
                  <a:schemeClr val="accent5"/>
                </a:solidFill>
              </a:rPr>
              <a:t>Backup example:</a:t>
            </a:r>
            <a:endParaRPr lang="en-US" sz="1200" dirty="0"/>
          </a:p>
        </p:txBody>
      </p:sp>
      <p:sp>
        <p:nvSpPr>
          <p:cNvPr id="11" name="text-74"/>
          <p:cNvSpPr txBox="1"/>
          <p:nvPr/>
        </p:nvSpPr>
        <p:spPr>
          <a:xfrm>
            <a:off x="685800" y="3136392"/>
            <a:ext cx="2148840" cy="868680"/>
          </a:xfrm>
          <a:prstGeom prst="rect">
            <a:avLst/>
          </a:prstGeom>
          <a:noFill/>
          <a:ln/>
        </p:spPr>
        <p:txBody>
          <a:bodyPr wrap="square" lIns="0" tIns="0" rIns="0" bIns="0" rtlCol="0" anchor="t"/>
          <a:lstStyle/>
          <a:p>
            <a:pPr indent="0" marL="0">
              <a:buNone/>
            </a:pPr>
            <a:r>
              <a:rPr lang="en-US" sz="1300" dirty="0">
                <a:solidFill>
                  <a:schemeClr val="tx1"/>
                </a:solidFill>
              </a:rPr>
              <a:t>Admin copies a folder to a USB drive when they remember</a:t>
            </a:r>
            <a:endParaRPr lang="en-US" sz="1300" dirty="0"/>
          </a:p>
        </p:txBody>
      </p:sp>
      <p:sp>
        <p:nvSpPr>
          <p:cNvPr id="12" name="arrow-75"/>
          <p:cNvSpPr/>
          <p:nvPr/>
        </p:nvSpPr>
        <p:spPr>
          <a:xfrm>
            <a:off x="3054096" y="2606040"/>
            <a:ext cx="201168" cy="274320"/>
          </a:xfrm>
          <a:prstGeom prst="rightArrow">
            <a:avLst/>
          </a:prstGeom>
          <a:solidFill>
            <a:schemeClr val="accent1"/>
          </a:solidFill>
          <a:ln w="12700">
            <a:solidFill>
              <a:schemeClr val="accent1"/>
            </a:solidFill>
            <a:prstDash val="solid"/>
          </a:ln>
        </p:spPr>
      </p:sp>
      <p:sp>
        <p:nvSpPr>
          <p:cNvPr id="13" name="card-76"/>
          <p:cNvSpPr/>
          <p:nvPr/>
        </p:nvSpPr>
        <p:spPr>
          <a:xfrm>
            <a:off x="3291840" y="132588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4" name="icon-bg-77"/>
          <p:cNvSpPr/>
          <p:nvPr/>
        </p:nvSpPr>
        <p:spPr>
          <a:xfrm>
            <a:off x="3520440" y="1554480"/>
            <a:ext cx="640080" cy="640080"/>
          </a:xfrm>
          <a:prstGeom prst="ellipse">
            <a:avLst/>
          </a:prstGeom>
          <a:solidFill>
            <a:schemeClr val="accent2"/>
          </a:solidFill>
          <a:ln w="12700">
            <a:solidFill>
              <a:schemeClr val="accent2"/>
            </a:solidFill>
            <a:prstDash val="solid"/>
          </a:ln>
        </p:spPr>
      </p:sp>
      <p:pic>
        <p:nvPicPr>
          <p:cNvPr id="15" name="icon-78" descr="preencoded.png">    </p:cNvPr>
          <p:cNvPicPr>
            <a:picLocks noChangeAspect="1"/>
          </p:cNvPicPr>
          <p:nvPr/>
        </p:nvPicPr>
        <p:blipFill>
          <a:blip r:embed="rId2"/>
          <a:stretch>
            <a:fillRect/>
          </a:stretch>
        </p:blipFill>
        <p:spPr>
          <a:xfrm>
            <a:off x="3680460" y="1714500"/>
            <a:ext cx="320040" cy="320040"/>
          </a:xfrm>
          <a:prstGeom prst="rect">
            <a:avLst/>
          </a:prstGeom>
        </p:spPr>
      </p:pic>
      <p:sp>
        <p:nvSpPr>
          <p:cNvPr id="16" name="text-79"/>
          <p:cNvSpPr txBox="1"/>
          <p:nvPr/>
        </p:nvSpPr>
        <p:spPr>
          <a:xfrm>
            <a:off x="4297680" y="1572768"/>
            <a:ext cx="1463040" cy="603504"/>
          </a:xfrm>
          <a:prstGeom prst="rect">
            <a:avLst/>
          </a:prstGeom>
          <a:noFill/>
          <a:ln/>
        </p:spPr>
        <p:txBody>
          <a:bodyPr wrap="square" lIns="0" tIns="0" rIns="0" bIns="0" rtlCol="0" anchor="ctr"/>
          <a:lstStyle/>
          <a:p>
            <a:pPr indent="0" marL="0">
              <a:buNone/>
            </a:pPr>
            <a:r>
              <a:rPr lang="en-US" sz="1600" b="1" dirty="0">
                <a:solidFill>
                  <a:schemeClr val="tx2"/>
                </a:solidFill>
              </a:rPr>
              <a:t>Scheduled task</a:t>
            </a:r>
            <a:endParaRPr lang="en-US" sz="1600" dirty="0"/>
          </a:p>
        </p:txBody>
      </p:sp>
      <p:sp>
        <p:nvSpPr>
          <p:cNvPr id="17" name="text-80"/>
          <p:cNvSpPr txBox="1"/>
          <p:nvPr/>
        </p:nvSpPr>
        <p:spPr>
          <a:xfrm>
            <a:off x="3520440" y="2331720"/>
            <a:ext cx="2148840" cy="502920"/>
          </a:xfrm>
          <a:prstGeom prst="rect">
            <a:avLst/>
          </a:prstGeom>
          <a:noFill/>
          <a:ln/>
        </p:spPr>
        <p:txBody>
          <a:bodyPr wrap="square" lIns="0" tIns="0" rIns="0" bIns="0" rtlCol="0" anchor="t"/>
          <a:lstStyle/>
          <a:p>
            <a:pPr indent="0" marL="0">
              <a:buNone/>
            </a:pPr>
            <a:r>
              <a:rPr lang="en-US" sz="1400" b="1" dirty="0">
                <a:solidFill>
                  <a:schemeClr val="accent2"/>
                </a:solidFill>
              </a:rPr>
              <a:t>A script runs on a timer</a:t>
            </a:r>
            <a:endParaRPr lang="en-US" sz="1400" dirty="0"/>
          </a:p>
        </p:txBody>
      </p:sp>
      <p:sp>
        <p:nvSpPr>
          <p:cNvPr id="18" name="text-81"/>
          <p:cNvSpPr txBox="1"/>
          <p:nvPr/>
        </p:nvSpPr>
        <p:spPr>
          <a:xfrm>
            <a:off x="3520440" y="2880360"/>
            <a:ext cx="2148840" cy="256032"/>
          </a:xfrm>
          <a:prstGeom prst="rect">
            <a:avLst/>
          </a:prstGeom>
          <a:noFill/>
          <a:ln/>
        </p:spPr>
        <p:txBody>
          <a:bodyPr wrap="square" lIns="0" tIns="0" rIns="0" bIns="0" rtlCol="0" anchor="t"/>
          <a:lstStyle/>
          <a:p>
            <a:pPr indent="0" marL="0">
              <a:buNone/>
            </a:pPr>
            <a:r>
              <a:rPr lang="en-US" sz="1200" b="1" dirty="0">
                <a:solidFill>
                  <a:schemeClr val="accent5"/>
                </a:solidFill>
              </a:rPr>
              <a:t>Backup example:</a:t>
            </a:r>
            <a:endParaRPr lang="en-US" sz="1200" dirty="0"/>
          </a:p>
        </p:txBody>
      </p:sp>
      <p:sp>
        <p:nvSpPr>
          <p:cNvPr id="19" name="text-82"/>
          <p:cNvSpPr txBox="1"/>
          <p:nvPr/>
        </p:nvSpPr>
        <p:spPr>
          <a:xfrm>
            <a:off x="3520440" y="3136392"/>
            <a:ext cx="2148840" cy="868680"/>
          </a:xfrm>
          <a:prstGeom prst="rect">
            <a:avLst/>
          </a:prstGeom>
          <a:noFill/>
          <a:ln/>
        </p:spPr>
        <p:txBody>
          <a:bodyPr wrap="square" lIns="0" tIns="0" rIns="0" bIns="0" rtlCol="0" anchor="t"/>
          <a:lstStyle/>
          <a:p>
            <a:pPr indent="0" marL="0">
              <a:buNone/>
            </a:pPr>
            <a:r>
              <a:rPr lang="en-US" sz="1300" dirty="0">
                <a:solidFill>
                  <a:schemeClr val="tx1"/>
                </a:solidFill>
              </a:rPr>
              <a:t>A script creates a backup every night at 1:00 AM</a:t>
            </a:r>
            <a:endParaRPr lang="en-US" sz="1300" dirty="0"/>
          </a:p>
        </p:txBody>
      </p:sp>
      <p:sp>
        <p:nvSpPr>
          <p:cNvPr id="20" name="arrow-83"/>
          <p:cNvSpPr/>
          <p:nvPr/>
        </p:nvSpPr>
        <p:spPr>
          <a:xfrm>
            <a:off x="5888736" y="2606040"/>
            <a:ext cx="201168" cy="274320"/>
          </a:xfrm>
          <a:prstGeom prst="rightArrow">
            <a:avLst/>
          </a:prstGeom>
          <a:solidFill>
            <a:schemeClr val="accent1"/>
          </a:solidFill>
          <a:ln w="12700">
            <a:solidFill>
              <a:schemeClr val="accent1"/>
            </a:solidFill>
            <a:prstDash val="solid"/>
          </a:ln>
        </p:spPr>
      </p:sp>
      <p:sp>
        <p:nvSpPr>
          <p:cNvPr id="21" name="card-84"/>
          <p:cNvSpPr/>
          <p:nvPr/>
        </p:nvSpPr>
        <p:spPr>
          <a:xfrm>
            <a:off x="6126480" y="132588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2" name="icon-bg-85"/>
          <p:cNvSpPr/>
          <p:nvPr/>
        </p:nvSpPr>
        <p:spPr>
          <a:xfrm>
            <a:off x="6355080" y="1554480"/>
            <a:ext cx="640080" cy="640080"/>
          </a:xfrm>
          <a:prstGeom prst="ellipse">
            <a:avLst/>
          </a:prstGeom>
          <a:solidFill>
            <a:schemeClr val="tx2"/>
          </a:solidFill>
          <a:ln w="12700">
            <a:solidFill>
              <a:schemeClr val="tx2"/>
            </a:solidFill>
            <a:prstDash val="solid"/>
          </a:ln>
        </p:spPr>
      </p:sp>
      <p:pic>
        <p:nvPicPr>
          <p:cNvPr id="23" name="icon-86" descr="preencoded.png">    </p:cNvPr>
          <p:cNvPicPr>
            <a:picLocks noChangeAspect="1"/>
          </p:cNvPicPr>
          <p:nvPr/>
        </p:nvPicPr>
        <p:blipFill>
          <a:blip r:embed="rId3"/>
          <a:stretch>
            <a:fillRect/>
          </a:stretch>
        </p:blipFill>
        <p:spPr>
          <a:xfrm>
            <a:off x="6515100" y="1714500"/>
            <a:ext cx="320040" cy="320040"/>
          </a:xfrm>
          <a:prstGeom prst="rect">
            <a:avLst/>
          </a:prstGeom>
        </p:spPr>
      </p:pic>
      <p:sp>
        <p:nvSpPr>
          <p:cNvPr id="24" name="text-87"/>
          <p:cNvSpPr txBox="1"/>
          <p:nvPr/>
        </p:nvSpPr>
        <p:spPr>
          <a:xfrm>
            <a:off x="7132320" y="1572768"/>
            <a:ext cx="1463040" cy="603504"/>
          </a:xfrm>
          <a:prstGeom prst="rect">
            <a:avLst/>
          </a:prstGeom>
          <a:noFill/>
          <a:ln/>
        </p:spPr>
        <p:txBody>
          <a:bodyPr wrap="square" lIns="0" tIns="0" rIns="0" bIns="0" rtlCol="0" anchor="ctr"/>
          <a:lstStyle/>
          <a:p>
            <a:pPr indent="0" marL="0">
              <a:buNone/>
            </a:pPr>
            <a:r>
              <a:rPr lang="en-US" sz="1600" b="1" dirty="0">
                <a:solidFill>
                  <a:schemeClr val="tx2"/>
                </a:solidFill>
              </a:rPr>
              <a:t>Automated workflow</a:t>
            </a:r>
            <a:endParaRPr lang="en-US" sz="1600" dirty="0"/>
          </a:p>
        </p:txBody>
      </p:sp>
      <p:sp>
        <p:nvSpPr>
          <p:cNvPr id="25" name="text-88"/>
          <p:cNvSpPr txBox="1"/>
          <p:nvPr/>
        </p:nvSpPr>
        <p:spPr>
          <a:xfrm>
            <a:off x="6355080" y="2331720"/>
            <a:ext cx="2148840" cy="502920"/>
          </a:xfrm>
          <a:prstGeom prst="rect">
            <a:avLst/>
          </a:prstGeom>
          <a:noFill/>
          <a:ln/>
        </p:spPr>
        <p:txBody>
          <a:bodyPr wrap="square" lIns="0" tIns="0" rIns="0" bIns="0" rtlCol="0" anchor="t"/>
          <a:lstStyle/>
          <a:p>
            <a:pPr indent="0" marL="0">
              <a:buNone/>
            </a:pPr>
            <a:r>
              <a:rPr lang="en-US" sz="1400" b="1" dirty="0">
                <a:solidFill>
                  <a:schemeClr val="accent2"/>
                </a:solidFill>
              </a:rPr>
              <a:t>Many steps with checks and alerts</a:t>
            </a:r>
            <a:endParaRPr lang="en-US" sz="1400" dirty="0"/>
          </a:p>
        </p:txBody>
      </p:sp>
      <p:sp>
        <p:nvSpPr>
          <p:cNvPr id="26" name="text-89"/>
          <p:cNvSpPr txBox="1"/>
          <p:nvPr/>
        </p:nvSpPr>
        <p:spPr>
          <a:xfrm>
            <a:off x="6355080" y="2880360"/>
            <a:ext cx="2148840" cy="256032"/>
          </a:xfrm>
          <a:prstGeom prst="rect">
            <a:avLst/>
          </a:prstGeom>
          <a:noFill/>
          <a:ln/>
        </p:spPr>
        <p:txBody>
          <a:bodyPr wrap="square" lIns="0" tIns="0" rIns="0" bIns="0" rtlCol="0" anchor="t"/>
          <a:lstStyle/>
          <a:p>
            <a:pPr indent="0" marL="0">
              <a:buNone/>
            </a:pPr>
            <a:r>
              <a:rPr lang="en-US" sz="1200" b="1" dirty="0">
                <a:solidFill>
                  <a:schemeClr val="accent5"/>
                </a:solidFill>
              </a:rPr>
              <a:t>Backup example:</a:t>
            </a:r>
            <a:endParaRPr lang="en-US" sz="1200" dirty="0"/>
          </a:p>
        </p:txBody>
      </p:sp>
      <p:sp>
        <p:nvSpPr>
          <p:cNvPr id="27" name="text-90"/>
          <p:cNvSpPr txBox="1"/>
          <p:nvPr/>
        </p:nvSpPr>
        <p:spPr>
          <a:xfrm>
            <a:off x="6355080" y="3136392"/>
            <a:ext cx="2148840" cy="868680"/>
          </a:xfrm>
          <a:prstGeom prst="rect">
            <a:avLst/>
          </a:prstGeom>
          <a:noFill/>
          <a:ln/>
        </p:spPr>
        <p:txBody>
          <a:bodyPr wrap="square" lIns="0" tIns="0" rIns="0" bIns="0" rtlCol="0" anchor="t"/>
          <a:lstStyle/>
          <a:p>
            <a:pPr indent="0" marL="0">
              <a:buNone/>
            </a:pPr>
            <a:r>
              <a:rPr lang="en-US" sz="1300" dirty="0">
                <a:solidFill>
                  <a:schemeClr val="tx1"/>
                </a:solidFill>
              </a:rPr>
              <a:t>Back up, verify, copy off-site, clean old copies, report; retry and alert on failure</a:t>
            </a:r>
            <a:endParaRPr lang="en-US" sz="1300" dirty="0"/>
          </a:p>
        </p:txBody>
      </p:sp>
      <p:sp>
        <p:nvSpPr>
          <p:cNvPr id="28" name="text-91"/>
          <p:cNvSpPr txBox="1"/>
          <p:nvPr/>
        </p:nvSpPr>
        <p:spPr>
          <a:xfrm>
            <a:off x="457200" y="4251960"/>
            <a:ext cx="8229600" cy="365760"/>
          </a:xfrm>
          <a:prstGeom prst="rect">
            <a:avLst/>
          </a:prstGeom>
          <a:noFill/>
          <a:ln/>
        </p:spPr>
        <p:txBody>
          <a:bodyPr wrap="square" lIns="0" tIns="0" rIns="0" bIns="0" rtlCol="0" anchor="ctr"/>
          <a:lstStyle/>
          <a:p>
            <a:pPr indent="0" marL="0">
              <a:buNone/>
            </a:pPr>
            <a:r>
              <a:rPr lang="en-US" sz="1500" b="1" dirty="0">
                <a:solidFill>
                  <a:schemeClr val="tx2"/>
                </a:solidFill>
              </a:rPr>
              <a:t>Rule of thumb: </a:t>
            </a:r>
            <a:pPr indent="0" marL="0">
              <a:buNone/>
            </a:pPr>
            <a:r>
              <a:rPr lang="en-US" sz="1500" dirty="0">
                <a:solidFill>
                  <a:schemeClr val="tx1"/>
                </a:solidFill>
              </a:rPr>
              <a:t>automate tasks that are repetitive, well understood, and follow clear rules.</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2 · SCHEDULING CONCEPTS</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Five Ideas Every Scheduler Uses</a:t>
            </a:r>
            <a:endParaRPr lang="en-US" sz="2600" dirty="0"/>
          </a:p>
        </p:txBody>
      </p:sp>
      <p:sp>
        <p:nvSpPr>
          <p:cNvPr id="5" name="card-92"/>
          <p:cNvSpPr/>
          <p:nvPr/>
        </p:nvSpPr>
        <p:spPr>
          <a:xfrm>
            <a:off x="457200" y="1371600"/>
            <a:ext cx="1536192" cy="3063240"/>
          </a:xfrm>
          <a:prstGeom prst="roundRect">
            <a:avLst>
              <a:gd name="adj" fmla="val 4762"/>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6" name="icon-bg-93"/>
          <p:cNvSpPr/>
          <p:nvPr/>
        </p:nvSpPr>
        <p:spPr>
          <a:xfrm>
            <a:off x="859536" y="1600200"/>
            <a:ext cx="731520" cy="731520"/>
          </a:xfrm>
          <a:prstGeom prst="ellipse">
            <a:avLst/>
          </a:prstGeom>
          <a:solidFill>
            <a:schemeClr val="accent1"/>
          </a:solidFill>
          <a:ln w="12700">
            <a:solidFill>
              <a:schemeClr val="accent1"/>
            </a:solidFill>
            <a:prstDash val="solid"/>
          </a:ln>
        </p:spPr>
      </p:sp>
      <p:pic>
        <p:nvPicPr>
          <p:cNvPr id="7" name="icon-94" descr="preencoded.png">    </p:cNvPr>
          <p:cNvPicPr>
            <a:picLocks noChangeAspect="1"/>
          </p:cNvPicPr>
          <p:nvPr/>
        </p:nvPicPr>
        <p:blipFill>
          <a:blip r:embed="rId1"/>
          <a:stretch>
            <a:fillRect/>
          </a:stretch>
        </p:blipFill>
        <p:spPr>
          <a:xfrm>
            <a:off x="1042416" y="1783080"/>
            <a:ext cx="365760" cy="365760"/>
          </a:xfrm>
          <a:prstGeom prst="rect">
            <a:avLst/>
          </a:prstGeom>
        </p:spPr>
      </p:pic>
      <p:sp>
        <p:nvSpPr>
          <p:cNvPr id="8" name="text-95"/>
          <p:cNvSpPr txBox="1"/>
          <p:nvPr/>
        </p:nvSpPr>
        <p:spPr>
          <a:xfrm>
            <a:off x="566928" y="2468880"/>
            <a:ext cx="1316736" cy="566928"/>
          </a:xfrm>
          <a:prstGeom prst="rect">
            <a:avLst/>
          </a:prstGeom>
          <a:noFill/>
          <a:ln/>
        </p:spPr>
        <p:txBody>
          <a:bodyPr wrap="square" lIns="0" tIns="0" rIns="0" bIns="0" rtlCol="0" anchor="ctr"/>
          <a:lstStyle/>
          <a:p>
            <a:pPr algn="ctr" indent="0" marL="0">
              <a:buNone/>
            </a:pPr>
            <a:r>
              <a:rPr lang="en-US" sz="1500" b="1" dirty="0">
                <a:solidFill>
                  <a:schemeClr val="tx2"/>
                </a:solidFill>
              </a:rPr>
              <a:t>Trigger</a:t>
            </a:r>
            <a:endParaRPr lang="en-US" sz="1500" dirty="0"/>
          </a:p>
        </p:txBody>
      </p:sp>
      <p:sp>
        <p:nvSpPr>
          <p:cNvPr id="9" name="text-96"/>
          <p:cNvSpPr txBox="1"/>
          <p:nvPr/>
        </p:nvSpPr>
        <p:spPr>
          <a:xfrm>
            <a:off x="594360" y="3108960"/>
            <a:ext cx="1261872" cy="1188720"/>
          </a:xfrm>
          <a:prstGeom prst="rect">
            <a:avLst/>
          </a:prstGeom>
          <a:noFill/>
          <a:ln/>
        </p:spPr>
        <p:txBody>
          <a:bodyPr wrap="square" lIns="0" tIns="0" rIns="0" bIns="0" rtlCol="0" anchor="t"/>
          <a:lstStyle/>
          <a:p>
            <a:pPr algn="ctr" indent="0" marL="0">
              <a:buNone/>
            </a:pPr>
            <a:r>
              <a:rPr lang="en-US" sz="1400" dirty="0">
                <a:solidFill>
                  <a:schemeClr val="tx1"/>
                </a:solidFill>
              </a:rPr>
              <a:t>What starts the task: a time, startup, or logon</a:t>
            </a:r>
            <a:endParaRPr lang="en-US" sz="1400" dirty="0"/>
          </a:p>
        </p:txBody>
      </p:sp>
      <p:sp>
        <p:nvSpPr>
          <p:cNvPr id="10" name="card-97"/>
          <p:cNvSpPr/>
          <p:nvPr/>
        </p:nvSpPr>
        <p:spPr>
          <a:xfrm>
            <a:off x="2139696" y="1371600"/>
            <a:ext cx="1536192" cy="3063240"/>
          </a:xfrm>
          <a:prstGeom prst="roundRect">
            <a:avLst>
              <a:gd name="adj" fmla="val 4762"/>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1" name="icon-bg-98"/>
          <p:cNvSpPr/>
          <p:nvPr/>
        </p:nvSpPr>
        <p:spPr>
          <a:xfrm>
            <a:off x="2542032" y="1600200"/>
            <a:ext cx="731520" cy="731520"/>
          </a:xfrm>
          <a:prstGeom prst="ellipse">
            <a:avLst/>
          </a:prstGeom>
          <a:solidFill>
            <a:schemeClr val="accent2"/>
          </a:solidFill>
          <a:ln w="12700">
            <a:solidFill>
              <a:schemeClr val="accent2"/>
            </a:solidFill>
            <a:prstDash val="solid"/>
          </a:ln>
        </p:spPr>
      </p:sp>
      <p:pic>
        <p:nvPicPr>
          <p:cNvPr id="12" name="icon-99" descr="preencoded.png">    </p:cNvPr>
          <p:cNvPicPr>
            <a:picLocks noChangeAspect="1"/>
          </p:cNvPicPr>
          <p:nvPr/>
        </p:nvPicPr>
        <p:blipFill>
          <a:blip r:embed="rId2"/>
          <a:stretch>
            <a:fillRect/>
          </a:stretch>
        </p:blipFill>
        <p:spPr>
          <a:xfrm>
            <a:off x="2724912" y="1783080"/>
            <a:ext cx="365760" cy="365760"/>
          </a:xfrm>
          <a:prstGeom prst="rect">
            <a:avLst/>
          </a:prstGeom>
        </p:spPr>
      </p:pic>
      <p:sp>
        <p:nvSpPr>
          <p:cNvPr id="13" name="text-100"/>
          <p:cNvSpPr txBox="1"/>
          <p:nvPr/>
        </p:nvSpPr>
        <p:spPr>
          <a:xfrm>
            <a:off x="2249424" y="2468880"/>
            <a:ext cx="1316736" cy="566928"/>
          </a:xfrm>
          <a:prstGeom prst="rect">
            <a:avLst/>
          </a:prstGeom>
          <a:noFill/>
          <a:ln/>
        </p:spPr>
        <p:txBody>
          <a:bodyPr wrap="square" lIns="0" tIns="0" rIns="0" bIns="0" rtlCol="0" anchor="ctr"/>
          <a:lstStyle/>
          <a:p>
            <a:pPr algn="ctr" indent="0" marL="0">
              <a:buNone/>
            </a:pPr>
            <a:r>
              <a:rPr lang="en-US" sz="1500" b="1" dirty="0">
                <a:solidFill>
                  <a:schemeClr val="tx2"/>
                </a:solidFill>
              </a:rPr>
              <a:t>Schedule &amp; Interval</a:t>
            </a:r>
            <a:endParaRPr lang="en-US" sz="1500" dirty="0"/>
          </a:p>
        </p:txBody>
      </p:sp>
      <p:sp>
        <p:nvSpPr>
          <p:cNvPr id="14" name="text-101"/>
          <p:cNvSpPr txBox="1"/>
          <p:nvPr/>
        </p:nvSpPr>
        <p:spPr>
          <a:xfrm>
            <a:off x="2276856" y="3108960"/>
            <a:ext cx="1261872" cy="1188720"/>
          </a:xfrm>
          <a:prstGeom prst="rect">
            <a:avLst/>
          </a:prstGeom>
          <a:noFill/>
          <a:ln/>
        </p:spPr>
        <p:txBody>
          <a:bodyPr wrap="square" lIns="0" tIns="0" rIns="0" bIns="0" rtlCol="0" anchor="t"/>
          <a:lstStyle/>
          <a:p>
            <a:pPr algn="ctr" indent="0" marL="0">
              <a:buNone/>
            </a:pPr>
            <a:r>
              <a:rPr lang="en-US" sz="1400" dirty="0">
                <a:solidFill>
                  <a:schemeClr val="tx1"/>
                </a:solidFill>
              </a:rPr>
              <a:t>When it runs, and how often it repeats</a:t>
            </a:r>
            <a:endParaRPr lang="en-US" sz="1400" dirty="0"/>
          </a:p>
        </p:txBody>
      </p:sp>
      <p:sp>
        <p:nvSpPr>
          <p:cNvPr id="15" name="card-102"/>
          <p:cNvSpPr/>
          <p:nvPr/>
        </p:nvSpPr>
        <p:spPr>
          <a:xfrm>
            <a:off x="3822192" y="1371600"/>
            <a:ext cx="1536192" cy="3063240"/>
          </a:xfrm>
          <a:prstGeom prst="roundRect">
            <a:avLst>
              <a:gd name="adj" fmla="val 4762"/>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6" name="icon-bg-103"/>
          <p:cNvSpPr/>
          <p:nvPr/>
        </p:nvSpPr>
        <p:spPr>
          <a:xfrm>
            <a:off x="4224528" y="1600200"/>
            <a:ext cx="731520" cy="731520"/>
          </a:xfrm>
          <a:prstGeom prst="ellipse">
            <a:avLst/>
          </a:prstGeom>
          <a:solidFill>
            <a:schemeClr val="accent1"/>
          </a:solidFill>
          <a:ln w="12700">
            <a:solidFill>
              <a:schemeClr val="accent1"/>
            </a:solidFill>
            <a:prstDash val="solid"/>
          </a:ln>
        </p:spPr>
      </p:sp>
      <p:pic>
        <p:nvPicPr>
          <p:cNvPr id="17" name="icon-104" descr="preencoded.png">    </p:cNvPr>
          <p:cNvPicPr>
            <a:picLocks noChangeAspect="1"/>
          </p:cNvPicPr>
          <p:nvPr/>
        </p:nvPicPr>
        <p:blipFill>
          <a:blip r:embed="rId3"/>
          <a:stretch>
            <a:fillRect/>
          </a:stretch>
        </p:blipFill>
        <p:spPr>
          <a:xfrm>
            <a:off x="4407408" y="1783080"/>
            <a:ext cx="365760" cy="365760"/>
          </a:xfrm>
          <a:prstGeom prst="rect">
            <a:avLst/>
          </a:prstGeom>
        </p:spPr>
      </p:pic>
      <p:sp>
        <p:nvSpPr>
          <p:cNvPr id="18" name="text-105"/>
          <p:cNvSpPr txBox="1"/>
          <p:nvPr/>
        </p:nvSpPr>
        <p:spPr>
          <a:xfrm>
            <a:off x="3931920" y="2468880"/>
            <a:ext cx="1316736" cy="566928"/>
          </a:xfrm>
          <a:prstGeom prst="rect">
            <a:avLst/>
          </a:prstGeom>
          <a:noFill/>
          <a:ln/>
        </p:spPr>
        <p:txBody>
          <a:bodyPr wrap="square" lIns="0" tIns="0" rIns="0" bIns="0" rtlCol="0" anchor="ctr"/>
          <a:lstStyle/>
          <a:p>
            <a:pPr algn="ctr" indent="0" marL="0">
              <a:buNone/>
            </a:pPr>
            <a:r>
              <a:rPr lang="en-US" sz="1500" b="1" dirty="0">
                <a:solidFill>
                  <a:schemeClr val="tx2"/>
                </a:solidFill>
              </a:rPr>
              <a:t>Condition</a:t>
            </a:r>
            <a:endParaRPr lang="en-US" sz="1500" dirty="0"/>
          </a:p>
        </p:txBody>
      </p:sp>
      <p:sp>
        <p:nvSpPr>
          <p:cNvPr id="19" name="text-106"/>
          <p:cNvSpPr txBox="1"/>
          <p:nvPr/>
        </p:nvSpPr>
        <p:spPr>
          <a:xfrm>
            <a:off x="3959352" y="3108960"/>
            <a:ext cx="1261872" cy="1188720"/>
          </a:xfrm>
          <a:prstGeom prst="rect">
            <a:avLst/>
          </a:prstGeom>
          <a:noFill/>
          <a:ln/>
        </p:spPr>
        <p:txBody>
          <a:bodyPr wrap="square" lIns="0" tIns="0" rIns="0" bIns="0" rtlCol="0" anchor="t"/>
          <a:lstStyle/>
          <a:p>
            <a:pPr algn="ctr" indent="0" marL="0">
              <a:buNone/>
            </a:pPr>
            <a:r>
              <a:rPr lang="en-US" sz="1400" dirty="0">
                <a:solidFill>
                  <a:schemeClr val="tx1"/>
                </a:solidFill>
              </a:rPr>
              <a:t>An "only if" rule, e.g., only if plugged in</a:t>
            </a:r>
            <a:endParaRPr lang="en-US" sz="1400" dirty="0"/>
          </a:p>
        </p:txBody>
      </p:sp>
      <p:sp>
        <p:nvSpPr>
          <p:cNvPr id="20" name="card-107"/>
          <p:cNvSpPr/>
          <p:nvPr/>
        </p:nvSpPr>
        <p:spPr>
          <a:xfrm>
            <a:off x="5504688" y="1371600"/>
            <a:ext cx="1536192" cy="3063240"/>
          </a:xfrm>
          <a:prstGeom prst="roundRect">
            <a:avLst>
              <a:gd name="adj" fmla="val 4762"/>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1" name="icon-bg-108"/>
          <p:cNvSpPr/>
          <p:nvPr/>
        </p:nvSpPr>
        <p:spPr>
          <a:xfrm>
            <a:off x="5907024" y="1600200"/>
            <a:ext cx="731520" cy="731520"/>
          </a:xfrm>
          <a:prstGeom prst="ellipse">
            <a:avLst/>
          </a:prstGeom>
          <a:solidFill>
            <a:schemeClr val="accent2"/>
          </a:solidFill>
          <a:ln w="12700">
            <a:solidFill>
              <a:schemeClr val="accent2"/>
            </a:solidFill>
            <a:prstDash val="solid"/>
          </a:ln>
        </p:spPr>
      </p:sp>
      <p:pic>
        <p:nvPicPr>
          <p:cNvPr id="22" name="icon-109" descr="preencoded.png">    </p:cNvPr>
          <p:cNvPicPr>
            <a:picLocks noChangeAspect="1"/>
          </p:cNvPicPr>
          <p:nvPr/>
        </p:nvPicPr>
        <p:blipFill>
          <a:blip r:embed="rId4"/>
          <a:stretch>
            <a:fillRect/>
          </a:stretch>
        </p:blipFill>
        <p:spPr>
          <a:xfrm>
            <a:off x="6089904" y="1783080"/>
            <a:ext cx="365760" cy="365760"/>
          </a:xfrm>
          <a:prstGeom prst="rect">
            <a:avLst/>
          </a:prstGeom>
        </p:spPr>
      </p:pic>
      <p:sp>
        <p:nvSpPr>
          <p:cNvPr id="23" name="text-110"/>
          <p:cNvSpPr txBox="1"/>
          <p:nvPr/>
        </p:nvSpPr>
        <p:spPr>
          <a:xfrm>
            <a:off x="5614416" y="2468880"/>
            <a:ext cx="1316736" cy="566928"/>
          </a:xfrm>
          <a:prstGeom prst="rect">
            <a:avLst/>
          </a:prstGeom>
          <a:noFill/>
          <a:ln/>
        </p:spPr>
        <p:txBody>
          <a:bodyPr wrap="square" lIns="0" tIns="0" rIns="0" bIns="0" rtlCol="0" anchor="ctr"/>
          <a:lstStyle/>
          <a:p>
            <a:pPr algn="ctr" indent="0" marL="0">
              <a:buNone/>
            </a:pPr>
            <a:r>
              <a:rPr lang="en-US" sz="1500" b="1" dirty="0">
                <a:solidFill>
                  <a:schemeClr val="tx2"/>
                </a:solidFill>
              </a:rPr>
              <a:t>Dependency</a:t>
            </a:r>
            <a:endParaRPr lang="en-US" sz="1500" dirty="0"/>
          </a:p>
        </p:txBody>
      </p:sp>
      <p:sp>
        <p:nvSpPr>
          <p:cNvPr id="24" name="text-111"/>
          <p:cNvSpPr txBox="1"/>
          <p:nvPr/>
        </p:nvSpPr>
        <p:spPr>
          <a:xfrm>
            <a:off x="5641848" y="3108960"/>
            <a:ext cx="1261872" cy="1188720"/>
          </a:xfrm>
          <a:prstGeom prst="rect">
            <a:avLst/>
          </a:prstGeom>
          <a:noFill/>
          <a:ln/>
        </p:spPr>
        <p:txBody>
          <a:bodyPr wrap="square" lIns="0" tIns="0" rIns="0" bIns="0" rtlCol="0" anchor="t"/>
          <a:lstStyle/>
          <a:p>
            <a:pPr algn="ctr" indent="0" marL="0">
              <a:buNone/>
            </a:pPr>
            <a:r>
              <a:rPr lang="en-US" sz="1400" dirty="0">
                <a:solidFill>
                  <a:schemeClr val="tx1"/>
                </a:solidFill>
              </a:rPr>
              <a:t>Job B waits until job A finishes</a:t>
            </a:r>
            <a:endParaRPr lang="en-US" sz="1400" dirty="0"/>
          </a:p>
        </p:txBody>
      </p:sp>
      <p:sp>
        <p:nvSpPr>
          <p:cNvPr id="25" name="card-112"/>
          <p:cNvSpPr/>
          <p:nvPr/>
        </p:nvSpPr>
        <p:spPr>
          <a:xfrm>
            <a:off x="7187184" y="1371600"/>
            <a:ext cx="1536192" cy="3063240"/>
          </a:xfrm>
          <a:prstGeom prst="roundRect">
            <a:avLst>
              <a:gd name="adj" fmla="val 4762"/>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6" name="icon-bg-113"/>
          <p:cNvSpPr/>
          <p:nvPr/>
        </p:nvSpPr>
        <p:spPr>
          <a:xfrm>
            <a:off x="7589520" y="1600200"/>
            <a:ext cx="731520" cy="731520"/>
          </a:xfrm>
          <a:prstGeom prst="ellipse">
            <a:avLst/>
          </a:prstGeom>
          <a:solidFill>
            <a:schemeClr val="accent1"/>
          </a:solidFill>
          <a:ln w="12700">
            <a:solidFill>
              <a:schemeClr val="accent1"/>
            </a:solidFill>
            <a:prstDash val="solid"/>
          </a:ln>
        </p:spPr>
      </p:sp>
      <p:pic>
        <p:nvPicPr>
          <p:cNvPr id="27" name="icon-114" descr="preencoded.png">    </p:cNvPr>
          <p:cNvPicPr>
            <a:picLocks noChangeAspect="1"/>
          </p:cNvPicPr>
          <p:nvPr/>
        </p:nvPicPr>
        <p:blipFill>
          <a:blip r:embed="rId5"/>
          <a:stretch>
            <a:fillRect/>
          </a:stretch>
        </p:blipFill>
        <p:spPr>
          <a:xfrm>
            <a:off x="7772400" y="1783080"/>
            <a:ext cx="365760" cy="365760"/>
          </a:xfrm>
          <a:prstGeom prst="rect">
            <a:avLst/>
          </a:prstGeom>
        </p:spPr>
      </p:pic>
      <p:sp>
        <p:nvSpPr>
          <p:cNvPr id="28" name="text-115"/>
          <p:cNvSpPr txBox="1"/>
          <p:nvPr/>
        </p:nvSpPr>
        <p:spPr>
          <a:xfrm>
            <a:off x="7296912" y="2468880"/>
            <a:ext cx="1316736" cy="566928"/>
          </a:xfrm>
          <a:prstGeom prst="rect">
            <a:avLst/>
          </a:prstGeom>
          <a:noFill/>
          <a:ln/>
        </p:spPr>
        <p:txBody>
          <a:bodyPr wrap="square" lIns="0" tIns="0" rIns="0" bIns="0" rtlCol="0" anchor="ctr"/>
          <a:lstStyle/>
          <a:p>
            <a:pPr algn="ctr" indent="0" marL="0">
              <a:buNone/>
            </a:pPr>
            <a:r>
              <a:rPr lang="en-US" sz="1500" b="1" dirty="0">
                <a:solidFill>
                  <a:schemeClr val="tx2"/>
                </a:solidFill>
              </a:rPr>
              <a:t>Job Queue</a:t>
            </a:r>
            <a:endParaRPr lang="en-US" sz="1500" dirty="0"/>
          </a:p>
        </p:txBody>
      </p:sp>
      <p:sp>
        <p:nvSpPr>
          <p:cNvPr id="29" name="text-116"/>
          <p:cNvSpPr txBox="1"/>
          <p:nvPr/>
        </p:nvSpPr>
        <p:spPr>
          <a:xfrm>
            <a:off x="7324344" y="3108960"/>
            <a:ext cx="1261872" cy="1188720"/>
          </a:xfrm>
          <a:prstGeom prst="rect">
            <a:avLst/>
          </a:prstGeom>
          <a:noFill/>
          <a:ln/>
        </p:spPr>
        <p:txBody>
          <a:bodyPr wrap="square" lIns="0" tIns="0" rIns="0" bIns="0" rtlCol="0" anchor="t"/>
          <a:lstStyle/>
          <a:p>
            <a:pPr algn="ctr" indent="0" marL="0">
              <a:buNone/>
            </a:pPr>
            <a:r>
              <a:rPr lang="en-US" sz="1400" dirty="0">
                <a:solidFill>
                  <a:schemeClr val="tx1"/>
                </a:solidFill>
              </a:rPr>
              <a:t>Jobs take turns so copies do not clash</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2 · SCHEDULING CONCEPTS</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Example: Your Phone's Night Update</a:t>
            </a:r>
            <a:endParaRPr lang="en-US" sz="2600" dirty="0"/>
          </a:p>
        </p:txBody>
      </p:sp>
      <p:sp>
        <p:nvSpPr>
          <p:cNvPr id="5" name="card-117"/>
          <p:cNvSpPr/>
          <p:nvPr/>
        </p:nvSpPr>
        <p:spPr>
          <a:xfrm>
            <a:off x="457200" y="1600200"/>
            <a:ext cx="1417320" cy="205740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6" name="icon-bg-118"/>
          <p:cNvSpPr/>
          <p:nvPr/>
        </p:nvSpPr>
        <p:spPr>
          <a:xfrm>
            <a:off x="841248" y="1783080"/>
            <a:ext cx="640080" cy="640080"/>
          </a:xfrm>
          <a:prstGeom prst="ellipse">
            <a:avLst/>
          </a:prstGeom>
          <a:solidFill>
            <a:schemeClr val="tx2"/>
          </a:solidFill>
          <a:ln w="12700">
            <a:solidFill>
              <a:schemeClr val="tx2"/>
            </a:solidFill>
            <a:prstDash val="solid"/>
          </a:ln>
        </p:spPr>
      </p:sp>
      <p:pic>
        <p:nvPicPr>
          <p:cNvPr id="7" name="icon-119" descr="preencoded.png">    </p:cNvPr>
          <p:cNvPicPr>
            <a:picLocks noChangeAspect="1"/>
          </p:cNvPicPr>
          <p:nvPr/>
        </p:nvPicPr>
        <p:blipFill>
          <a:blip r:embed="rId1"/>
          <a:stretch>
            <a:fillRect/>
          </a:stretch>
        </p:blipFill>
        <p:spPr>
          <a:xfrm>
            <a:off x="1001268" y="1943100"/>
            <a:ext cx="320040" cy="320040"/>
          </a:xfrm>
          <a:prstGeom prst="rect">
            <a:avLst/>
          </a:prstGeom>
        </p:spPr>
      </p:pic>
      <p:sp>
        <p:nvSpPr>
          <p:cNvPr id="8" name="text-120"/>
          <p:cNvSpPr txBox="1"/>
          <p:nvPr/>
        </p:nvSpPr>
        <p:spPr>
          <a:xfrm>
            <a:off x="530352" y="2560320"/>
            <a:ext cx="1271016" cy="320040"/>
          </a:xfrm>
          <a:prstGeom prst="rect">
            <a:avLst/>
          </a:prstGeom>
          <a:noFill/>
          <a:ln/>
        </p:spPr>
        <p:txBody>
          <a:bodyPr wrap="square" lIns="0" tIns="0" rIns="0" bIns="0" rtlCol="0" anchor="t"/>
          <a:lstStyle/>
          <a:p>
            <a:pPr algn="ctr" indent="0" marL="0">
              <a:buNone/>
            </a:pPr>
            <a:r>
              <a:rPr lang="en-US" sz="1600" b="1" dirty="0">
                <a:solidFill>
                  <a:schemeClr val="tx2"/>
                </a:solidFill>
              </a:rPr>
              <a:t>Trigger</a:t>
            </a:r>
            <a:endParaRPr lang="en-US" sz="1600" dirty="0"/>
          </a:p>
        </p:txBody>
      </p:sp>
      <p:sp>
        <p:nvSpPr>
          <p:cNvPr id="9" name="text-121"/>
          <p:cNvSpPr txBox="1"/>
          <p:nvPr/>
        </p:nvSpPr>
        <p:spPr>
          <a:xfrm>
            <a:off x="548640" y="2907792"/>
            <a:ext cx="1234440" cy="640080"/>
          </a:xfrm>
          <a:prstGeom prst="rect">
            <a:avLst/>
          </a:prstGeom>
          <a:noFill/>
          <a:ln/>
        </p:spPr>
        <p:txBody>
          <a:bodyPr wrap="square" lIns="0" tIns="0" rIns="0" bIns="0" rtlCol="0" anchor="t"/>
          <a:lstStyle/>
          <a:p>
            <a:pPr algn="ctr" indent="0" marL="0">
              <a:buNone/>
            </a:pPr>
            <a:r>
              <a:rPr lang="en-US" sz="1400" dirty="0">
                <a:solidFill>
                  <a:schemeClr val="tx1"/>
                </a:solidFill>
              </a:rPr>
              <a:t>It is 2:00 AM</a:t>
            </a:r>
            <a:endParaRPr lang="en-US" sz="1400" dirty="0"/>
          </a:p>
        </p:txBody>
      </p:sp>
      <p:sp>
        <p:nvSpPr>
          <p:cNvPr id="10" name="arrow-122"/>
          <p:cNvSpPr/>
          <p:nvPr/>
        </p:nvSpPr>
        <p:spPr>
          <a:xfrm>
            <a:off x="1901952" y="2487168"/>
            <a:ext cx="246888" cy="274320"/>
          </a:xfrm>
          <a:prstGeom prst="rightArrow">
            <a:avLst/>
          </a:prstGeom>
          <a:solidFill>
            <a:schemeClr val="accent1"/>
          </a:solidFill>
          <a:ln w="12700">
            <a:solidFill>
              <a:schemeClr val="accent1"/>
            </a:solidFill>
            <a:prstDash val="solid"/>
          </a:ln>
        </p:spPr>
      </p:sp>
      <p:sp>
        <p:nvSpPr>
          <p:cNvPr id="11" name="card-123"/>
          <p:cNvSpPr/>
          <p:nvPr/>
        </p:nvSpPr>
        <p:spPr>
          <a:xfrm>
            <a:off x="2176272" y="1600200"/>
            <a:ext cx="1417320" cy="205740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2" name="icon-bg-124"/>
          <p:cNvSpPr/>
          <p:nvPr/>
        </p:nvSpPr>
        <p:spPr>
          <a:xfrm>
            <a:off x="2560320" y="1783080"/>
            <a:ext cx="640080" cy="640080"/>
          </a:xfrm>
          <a:prstGeom prst="ellipse">
            <a:avLst/>
          </a:prstGeom>
          <a:solidFill>
            <a:schemeClr val="tx2"/>
          </a:solidFill>
          <a:ln w="12700">
            <a:solidFill>
              <a:schemeClr val="tx2"/>
            </a:solidFill>
            <a:prstDash val="solid"/>
          </a:ln>
        </p:spPr>
      </p:sp>
      <p:pic>
        <p:nvPicPr>
          <p:cNvPr id="13" name="icon-125" descr="preencoded.png">    </p:cNvPr>
          <p:cNvPicPr>
            <a:picLocks noChangeAspect="1"/>
          </p:cNvPicPr>
          <p:nvPr/>
        </p:nvPicPr>
        <p:blipFill>
          <a:blip r:embed="rId2"/>
          <a:stretch>
            <a:fillRect/>
          </a:stretch>
        </p:blipFill>
        <p:spPr>
          <a:xfrm>
            <a:off x="2720340" y="1943100"/>
            <a:ext cx="320040" cy="320040"/>
          </a:xfrm>
          <a:prstGeom prst="rect">
            <a:avLst/>
          </a:prstGeom>
        </p:spPr>
      </p:pic>
      <p:sp>
        <p:nvSpPr>
          <p:cNvPr id="14" name="text-126"/>
          <p:cNvSpPr txBox="1"/>
          <p:nvPr/>
        </p:nvSpPr>
        <p:spPr>
          <a:xfrm>
            <a:off x="2249424" y="2560320"/>
            <a:ext cx="1271016" cy="320040"/>
          </a:xfrm>
          <a:prstGeom prst="rect">
            <a:avLst/>
          </a:prstGeom>
          <a:noFill/>
          <a:ln/>
        </p:spPr>
        <p:txBody>
          <a:bodyPr wrap="square" lIns="0" tIns="0" rIns="0" bIns="0" rtlCol="0" anchor="t"/>
          <a:lstStyle/>
          <a:p>
            <a:pPr algn="ctr" indent="0" marL="0">
              <a:buNone/>
            </a:pPr>
            <a:r>
              <a:rPr lang="en-US" sz="1600" b="1" dirty="0">
                <a:solidFill>
                  <a:schemeClr val="tx2"/>
                </a:solidFill>
              </a:rPr>
              <a:t>Condition</a:t>
            </a:r>
            <a:endParaRPr lang="en-US" sz="1600" dirty="0"/>
          </a:p>
        </p:txBody>
      </p:sp>
      <p:sp>
        <p:nvSpPr>
          <p:cNvPr id="15" name="text-127"/>
          <p:cNvSpPr txBox="1"/>
          <p:nvPr/>
        </p:nvSpPr>
        <p:spPr>
          <a:xfrm>
            <a:off x="2267712" y="2907792"/>
            <a:ext cx="1234440" cy="640080"/>
          </a:xfrm>
          <a:prstGeom prst="rect">
            <a:avLst/>
          </a:prstGeom>
          <a:noFill/>
          <a:ln/>
        </p:spPr>
        <p:txBody>
          <a:bodyPr wrap="square" lIns="0" tIns="0" rIns="0" bIns="0" rtlCol="0" anchor="t"/>
          <a:lstStyle/>
          <a:p>
            <a:pPr algn="ctr" indent="0" marL="0">
              <a:buNone/>
            </a:pPr>
            <a:r>
              <a:rPr lang="en-US" sz="1400" dirty="0">
                <a:solidFill>
                  <a:schemeClr val="tx1"/>
                </a:solidFill>
              </a:rPr>
              <a:t>Charging and on Wi-Fi?</a:t>
            </a:r>
            <a:endParaRPr lang="en-US" sz="1400" dirty="0"/>
          </a:p>
        </p:txBody>
      </p:sp>
      <p:sp>
        <p:nvSpPr>
          <p:cNvPr id="16" name="arrow-128"/>
          <p:cNvSpPr/>
          <p:nvPr/>
        </p:nvSpPr>
        <p:spPr>
          <a:xfrm>
            <a:off x="3621024" y="2487168"/>
            <a:ext cx="246888" cy="274320"/>
          </a:xfrm>
          <a:prstGeom prst="rightArrow">
            <a:avLst/>
          </a:prstGeom>
          <a:solidFill>
            <a:schemeClr val="accent1"/>
          </a:solidFill>
          <a:ln w="12700">
            <a:solidFill>
              <a:schemeClr val="accent1"/>
            </a:solidFill>
            <a:prstDash val="solid"/>
          </a:ln>
        </p:spPr>
      </p:sp>
      <p:sp>
        <p:nvSpPr>
          <p:cNvPr id="17" name="card-129"/>
          <p:cNvSpPr/>
          <p:nvPr/>
        </p:nvSpPr>
        <p:spPr>
          <a:xfrm>
            <a:off x="3895344" y="1600200"/>
            <a:ext cx="1417320" cy="205740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8" name="icon-bg-130"/>
          <p:cNvSpPr/>
          <p:nvPr/>
        </p:nvSpPr>
        <p:spPr>
          <a:xfrm>
            <a:off x="4279392" y="1783080"/>
            <a:ext cx="640080" cy="640080"/>
          </a:xfrm>
          <a:prstGeom prst="ellipse">
            <a:avLst/>
          </a:prstGeom>
          <a:solidFill>
            <a:schemeClr val="tx2"/>
          </a:solidFill>
          <a:ln w="12700">
            <a:solidFill>
              <a:schemeClr val="tx2"/>
            </a:solidFill>
            <a:prstDash val="solid"/>
          </a:ln>
        </p:spPr>
      </p:sp>
      <p:pic>
        <p:nvPicPr>
          <p:cNvPr id="19" name="icon-131" descr="preencoded.png">    </p:cNvPr>
          <p:cNvPicPr>
            <a:picLocks noChangeAspect="1"/>
          </p:cNvPicPr>
          <p:nvPr/>
        </p:nvPicPr>
        <p:blipFill>
          <a:blip r:embed="rId3"/>
          <a:stretch>
            <a:fillRect/>
          </a:stretch>
        </p:blipFill>
        <p:spPr>
          <a:xfrm>
            <a:off x="4439412" y="1943100"/>
            <a:ext cx="320040" cy="320040"/>
          </a:xfrm>
          <a:prstGeom prst="rect">
            <a:avLst/>
          </a:prstGeom>
        </p:spPr>
      </p:pic>
      <p:sp>
        <p:nvSpPr>
          <p:cNvPr id="20" name="text-132"/>
          <p:cNvSpPr txBox="1"/>
          <p:nvPr/>
        </p:nvSpPr>
        <p:spPr>
          <a:xfrm>
            <a:off x="3968496" y="2560320"/>
            <a:ext cx="1271016" cy="320040"/>
          </a:xfrm>
          <a:prstGeom prst="rect">
            <a:avLst/>
          </a:prstGeom>
          <a:noFill/>
          <a:ln/>
        </p:spPr>
        <p:txBody>
          <a:bodyPr wrap="square" lIns="0" tIns="0" rIns="0" bIns="0" rtlCol="0" anchor="t"/>
          <a:lstStyle/>
          <a:p>
            <a:pPr algn="ctr" indent="0" marL="0">
              <a:buNone/>
            </a:pPr>
            <a:r>
              <a:rPr lang="en-US" sz="1600" b="1" dirty="0">
                <a:solidFill>
                  <a:schemeClr val="tx2"/>
                </a:solidFill>
              </a:rPr>
              <a:t>Dependency</a:t>
            </a:r>
            <a:endParaRPr lang="en-US" sz="1600" dirty="0"/>
          </a:p>
        </p:txBody>
      </p:sp>
      <p:sp>
        <p:nvSpPr>
          <p:cNvPr id="21" name="text-133"/>
          <p:cNvSpPr txBox="1"/>
          <p:nvPr/>
        </p:nvSpPr>
        <p:spPr>
          <a:xfrm>
            <a:off x="3986784" y="2907792"/>
            <a:ext cx="1234440" cy="640080"/>
          </a:xfrm>
          <a:prstGeom prst="rect">
            <a:avLst/>
          </a:prstGeom>
          <a:noFill/>
          <a:ln/>
        </p:spPr>
        <p:txBody>
          <a:bodyPr wrap="square" lIns="0" tIns="0" rIns="0" bIns="0" rtlCol="0" anchor="t"/>
          <a:lstStyle/>
          <a:p>
            <a:pPr algn="ctr" indent="0" marL="0">
              <a:buNone/>
            </a:pPr>
            <a:r>
              <a:rPr lang="en-US" sz="1400" dirty="0">
                <a:solidFill>
                  <a:schemeClr val="tx1"/>
                </a:solidFill>
              </a:rPr>
              <a:t>Download finished?</a:t>
            </a:r>
            <a:endParaRPr lang="en-US" sz="1400" dirty="0"/>
          </a:p>
        </p:txBody>
      </p:sp>
      <p:sp>
        <p:nvSpPr>
          <p:cNvPr id="22" name="arrow-134"/>
          <p:cNvSpPr/>
          <p:nvPr/>
        </p:nvSpPr>
        <p:spPr>
          <a:xfrm>
            <a:off x="5340096" y="2487168"/>
            <a:ext cx="246888" cy="274320"/>
          </a:xfrm>
          <a:prstGeom prst="rightArrow">
            <a:avLst/>
          </a:prstGeom>
          <a:solidFill>
            <a:schemeClr val="accent1"/>
          </a:solidFill>
          <a:ln w="12700">
            <a:solidFill>
              <a:schemeClr val="accent1"/>
            </a:solidFill>
            <a:prstDash val="solid"/>
          </a:ln>
        </p:spPr>
      </p:sp>
      <p:sp>
        <p:nvSpPr>
          <p:cNvPr id="23" name="card-135"/>
          <p:cNvSpPr/>
          <p:nvPr/>
        </p:nvSpPr>
        <p:spPr>
          <a:xfrm>
            <a:off x="5614416" y="1600200"/>
            <a:ext cx="1417320" cy="205740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4" name="icon-bg-136"/>
          <p:cNvSpPr/>
          <p:nvPr/>
        </p:nvSpPr>
        <p:spPr>
          <a:xfrm>
            <a:off x="5998464" y="1783080"/>
            <a:ext cx="640080" cy="640080"/>
          </a:xfrm>
          <a:prstGeom prst="ellipse">
            <a:avLst/>
          </a:prstGeom>
          <a:solidFill>
            <a:schemeClr val="tx2"/>
          </a:solidFill>
          <a:ln w="12700">
            <a:solidFill>
              <a:schemeClr val="tx2"/>
            </a:solidFill>
            <a:prstDash val="solid"/>
          </a:ln>
        </p:spPr>
      </p:sp>
      <p:pic>
        <p:nvPicPr>
          <p:cNvPr id="25" name="icon-137" descr="preencoded.png">    </p:cNvPr>
          <p:cNvPicPr>
            <a:picLocks noChangeAspect="1"/>
          </p:cNvPicPr>
          <p:nvPr/>
        </p:nvPicPr>
        <p:blipFill>
          <a:blip r:embed="rId4"/>
          <a:stretch>
            <a:fillRect/>
          </a:stretch>
        </p:blipFill>
        <p:spPr>
          <a:xfrm>
            <a:off x="6158484" y="1943100"/>
            <a:ext cx="320040" cy="320040"/>
          </a:xfrm>
          <a:prstGeom prst="rect">
            <a:avLst/>
          </a:prstGeom>
        </p:spPr>
      </p:pic>
      <p:sp>
        <p:nvSpPr>
          <p:cNvPr id="26" name="text-138"/>
          <p:cNvSpPr txBox="1"/>
          <p:nvPr/>
        </p:nvSpPr>
        <p:spPr>
          <a:xfrm>
            <a:off x="5687568" y="2560320"/>
            <a:ext cx="1271016" cy="320040"/>
          </a:xfrm>
          <a:prstGeom prst="rect">
            <a:avLst/>
          </a:prstGeom>
          <a:noFill/>
          <a:ln/>
        </p:spPr>
        <p:txBody>
          <a:bodyPr wrap="square" lIns="0" tIns="0" rIns="0" bIns="0" rtlCol="0" anchor="t"/>
          <a:lstStyle/>
          <a:p>
            <a:pPr algn="ctr" indent="0" marL="0">
              <a:buNone/>
            </a:pPr>
            <a:r>
              <a:rPr lang="en-US" sz="1600" b="1" dirty="0">
                <a:solidFill>
                  <a:schemeClr val="tx2"/>
                </a:solidFill>
              </a:rPr>
              <a:t>Queue</a:t>
            </a:r>
            <a:endParaRPr lang="en-US" sz="1600" dirty="0"/>
          </a:p>
        </p:txBody>
      </p:sp>
      <p:sp>
        <p:nvSpPr>
          <p:cNvPr id="27" name="text-139"/>
          <p:cNvSpPr txBox="1"/>
          <p:nvPr/>
        </p:nvSpPr>
        <p:spPr>
          <a:xfrm>
            <a:off x="5705856" y="2907792"/>
            <a:ext cx="1234440" cy="640080"/>
          </a:xfrm>
          <a:prstGeom prst="rect">
            <a:avLst/>
          </a:prstGeom>
          <a:noFill/>
          <a:ln/>
        </p:spPr>
        <p:txBody>
          <a:bodyPr wrap="square" lIns="0" tIns="0" rIns="0" bIns="0" rtlCol="0" anchor="t"/>
          <a:lstStyle/>
          <a:p>
            <a:pPr algn="ctr" indent="0" marL="0">
              <a:buNone/>
            </a:pPr>
            <a:r>
              <a:rPr lang="en-US" sz="1400" dirty="0">
                <a:solidFill>
                  <a:schemeClr val="tx1"/>
                </a:solidFill>
              </a:rPr>
              <a:t>No other update running?</a:t>
            </a:r>
            <a:endParaRPr lang="en-US" sz="1400" dirty="0"/>
          </a:p>
        </p:txBody>
      </p:sp>
      <p:sp>
        <p:nvSpPr>
          <p:cNvPr id="28" name="arrow-140"/>
          <p:cNvSpPr/>
          <p:nvPr/>
        </p:nvSpPr>
        <p:spPr>
          <a:xfrm>
            <a:off x="7059168" y="2487168"/>
            <a:ext cx="246888" cy="274320"/>
          </a:xfrm>
          <a:prstGeom prst="rightArrow">
            <a:avLst/>
          </a:prstGeom>
          <a:solidFill>
            <a:schemeClr val="accent1"/>
          </a:solidFill>
          <a:ln w="12700">
            <a:solidFill>
              <a:schemeClr val="accent1"/>
            </a:solidFill>
            <a:prstDash val="solid"/>
          </a:ln>
        </p:spPr>
      </p:sp>
      <p:sp>
        <p:nvSpPr>
          <p:cNvPr id="29" name="card-141"/>
          <p:cNvSpPr/>
          <p:nvPr/>
        </p:nvSpPr>
        <p:spPr>
          <a:xfrm>
            <a:off x="7333488" y="1600200"/>
            <a:ext cx="1417320" cy="2057400"/>
          </a:xfrm>
          <a:prstGeom prst="roundRect">
            <a:avLst>
              <a:gd name="adj" fmla="val 5161"/>
            </a:avLst>
          </a:prstGeom>
          <a:solidFill>
            <a:schemeClr val="accent2"/>
          </a:solidFill>
          <a:ln w="12700">
            <a:solidFill>
              <a:schemeClr val="accent2"/>
            </a:solidFill>
            <a:prstDash val="solid"/>
          </a:ln>
          <a:effectLst>
            <a:outerShdw sx="100000" sy="100000" kx="0" ky="0" algn="bl" rotWithShape="0" blurRad="76200" dist="19050" dir="5400000">
              <a:srgbClr val="000000">
                <a:alpha val="12000"/>
              </a:srgbClr>
            </a:outerShdw>
          </a:effectLst>
        </p:spPr>
      </p:sp>
      <p:sp>
        <p:nvSpPr>
          <p:cNvPr id="30" name="icon-bg-142"/>
          <p:cNvSpPr/>
          <p:nvPr/>
        </p:nvSpPr>
        <p:spPr>
          <a:xfrm>
            <a:off x="7717536" y="1783080"/>
            <a:ext cx="640080" cy="640080"/>
          </a:xfrm>
          <a:prstGeom prst="ellipse">
            <a:avLst/>
          </a:prstGeom>
          <a:solidFill>
            <a:schemeClr val="bg1"/>
          </a:solidFill>
          <a:ln w="12700">
            <a:solidFill>
              <a:schemeClr val="bg1"/>
            </a:solidFill>
            <a:prstDash val="solid"/>
          </a:ln>
        </p:spPr>
      </p:sp>
      <p:pic>
        <p:nvPicPr>
          <p:cNvPr id="31" name="icon-143" descr="preencoded.png">    </p:cNvPr>
          <p:cNvPicPr>
            <a:picLocks noChangeAspect="1"/>
          </p:cNvPicPr>
          <p:nvPr/>
        </p:nvPicPr>
        <p:blipFill>
          <a:blip r:embed="rId5"/>
          <a:stretch>
            <a:fillRect/>
          </a:stretch>
        </p:blipFill>
        <p:spPr>
          <a:xfrm>
            <a:off x="7877556" y="1943100"/>
            <a:ext cx="320040" cy="320040"/>
          </a:xfrm>
          <a:prstGeom prst="rect">
            <a:avLst/>
          </a:prstGeom>
        </p:spPr>
      </p:pic>
      <p:sp>
        <p:nvSpPr>
          <p:cNvPr id="32" name="text-144"/>
          <p:cNvSpPr txBox="1"/>
          <p:nvPr/>
        </p:nvSpPr>
        <p:spPr>
          <a:xfrm>
            <a:off x="7406640" y="2560320"/>
            <a:ext cx="1271016" cy="320040"/>
          </a:xfrm>
          <a:prstGeom prst="rect">
            <a:avLst/>
          </a:prstGeom>
          <a:noFill/>
          <a:ln/>
        </p:spPr>
        <p:txBody>
          <a:bodyPr wrap="square" lIns="0" tIns="0" rIns="0" bIns="0" rtlCol="0" anchor="t"/>
          <a:lstStyle/>
          <a:p>
            <a:pPr algn="ctr" indent="0" marL="0">
              <a:buNone/>
            </a:pPr>
            <a:r>
              <a:rPr lang="en-US" sz="1600" b="1" dirty="0">
                <a:solidFill>
                  <a:schemeClr val="bg1"/>
                </a:solidFill>
              </a:rPr>
              <a:t>Run</a:t>
            </a:r>
            <a:endParaRPr lang="en-US" sz="1600" dirty="0"/>
          </a:p>
        </p:txBody>
      </p:sp>
      <p:sp>
        <p:nvSpPr>
          <p:cNvPr id="33" name="text-145"/>
          <p:cNvSpPr txBox="1"/>
          <p:nvPr/>
        </p:nvSpPr>
        <p:spPr>
          <a:xfrm>
            <a:off x="7424928" y="2907792"/>
            <a:ext cx="1234440" cy="640080"/>
          </a:xfrm>
          <a:prstGeom prst="rect">
            <a:avLst/>
          </a:prstGeom>
          <a:noFill/>
          <a:ln/>
        </p:spPr>
        <p:txBody>
          <a:bodyPr wrap="square" lIns="0" tIns="0" rIns="0" bIns="0" rtlCol="0" anchor="t"/>
          <a:lstStyle/>
          <a:p>
            <a:pPr algn="ctr" indent="0" marL="0">
              <a:buNone/>
            </a:pPr>
            <a:r>
              <a:rPr lang="en-US" sz="1400" dirty="0">
                <a:solidFill>
                  <a:schemeClr val="bg1"/>
                </a:solidFill>
              </a:rPr>
              <a:t>Install the update</a:t>
            </a:r>
            <a:endParaRPr lang="en-US" sz="1400" dirty="0"/>
          </a:p>
        </p:txBody>
      </p:sp>
      <p:sp>
        <p:nvSpPr>
          <p:cNvPr id="34" name="text-146"/>
          <p:cNvSpPr txBox="1"/>
          <p:nvPr/>
        </p:nvSpPr>
        <p:spPr>
          <a:xfrm>
            <a:off x="457200" y="3977640"/>
            <a:ext cx="8229600" cy="411480"/>
          </a:xfrm>
          <a:prstGeom prst="rect">
            <a:avLst/>
          </a:prstGeom>
          <a:noFill/>
          <a:ln/>
        </p:spPr>
        <p:txBody>
          <a:bodyPr wrap="square" lIns="0" tIns="0" rIns="0" bIns="0" rtlCol="0" anchor="ctr"/>
          <a:lstStyle/>
          <a:p>
            <a:pPr indent="0" marL="0">
              <a:buNone/>
            </a:pPr>
            <a:r>
              <a:rPr lang="en-US" sz="1500" b="1" dirty="0">
                <a:solidFill>
                  <a:schemeClr val="tx2"/>
                </a:solidFill>
              </a:rPr>
              <a:t>If any check fails, </a:t>
            </a:r>
            <a:pPr indent="0" marL="0">
              <a:buNone/>
            </a:pPr>
            <a:r>
              <a:rPr lang="en-US" sz="1500" dirty="0">
                <a:solidFill>
                  <a:schemeClr val="tx1"/>
                </a:solidFill>
              </a:rPr>
              <a:t>the update simply waits for the next night. Servers use the same logic.</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3 · WINDOWS</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Task Scheduler: Six Tabs, Six Questions</a:t>
            </a:r>
            <a:endParaRPr lang="en-US" sz="2600" dirty="0"/>
          </a:p>
        </p:txBody>
      </p:sp>
      <p:sp>
        <p:nvSpPr>
          <p:cNvPr id="5" name="card-147"/>
          <p:cNvSpPr/>
          <p:nvPr/>
        </p:nvSpPr>
        <p:spPr>
          <a:xfrm>
            <a:off x="457200" y="1325880"/>
            <a:ext cx="2651760" cy="3246120"/>
          </a:xfrm>
          <a:prstGeom prst="roundRect">
            <a:avLst>
              <a:gd name="adj" fmla="val 2759"/>
            </a:avLst>
          </a:prstGeom>
          <a:solidFill>
            <a:schemeClr val="tx2"/>
          </a:solidFill>
          <a:ln w="12700">
            <a:solidFill>
              <a:schemeClr val="tx2"/>
            </a:solidFill>
            <a:prstDash val="solid"/>
          </a:ln>
        </p:spPr>
      </p:sp>
      <p:sp>
        <p:nvSpPr>
          <p:cNvPr id="6" name="icon-bg-148"/>
          <p:cNvSpPr/>
          <p:nvPr/>
        </p:nvSpPr>
        <p:spPr>
          <a:xfrm>
            <a:off x="685800" y="1554480"/>
            <a:ext cx="685800" cy="685800"/>
          </a:xfrm>
          <a:prstGeom prst="ellipse">
            <a:avLst/>
          </a:prstGeom>
          <a:solidFill>
            <a:schemeClr val="accent1"/>
          </a:solidFill>
          <a:ln w="12700">
            <a:solidFill>
              <a:schemeClr val="accent1"/>
            </a:solidFill>
            <a:prstDash val="solid"/>
          </a:ln>
        </p:spPr>
      </p:sp>
      <p:pic>
        <p:nvPicPr>
          <p:cNvPr id="7" name="icon-149" descr="preencoded.png">    </p:cNvPr>
          <p:cNvPicPr>
            <a:picLocks noChangeAspect="1"/>
          </p:cNvPicPr>
          <p:nvPr/>
        </p:nvPicPr>
        <p:blipFill>
          <a:blip r:embed="rId1"/>
          <a:stretch>
            <a:fillRect/>
          </a:stretch>
        </p:blipFill>
        <p:spPr>
          <a:xfrm>
            <a:off x="857250" y="1725930"/>
            <a:ext cx="342900" cy="342900"/>
          </a:xfrm>
          <a:prstGeom prst="rect">
            <a:avLst/>
          </a:prstGeom>
        </p:spPr>
      </p:pic>
      <p:sp>
        <p:nvSpPr>
          <p:cNvPr id="8" name="text-150"/>
          <p:cNvSpPr txBox="1"/>
          <p:nvPr/>
        </p:nvSpPr>
        <p:spPr>
          <a:xfrm>
            <a:off x="685800" y="2377440"/>
            <a:ext cx="2240280" cy="320040"/>
          </a:xfrm>
          <a:prstGeom prst="rect">
            <a:avLst/>
          </a:prstGeom>
          <a:noFill/>
          <a:ln/>
        </p:spPr>
        <p:txBody>
          <a:bodyPr wrap="square" lIns="0" tIns="0" rIns="0" bIns="0" rtlCol="0" anchor="t"/>
          <a:lstStyle/>
          <a:p>
            <a:pPr indent="0" marL="0">
              <a:buNone/>
            </a:pPr>
            <a:r>
              <a:rPr lang="en-US" sz="1600" b="1" dirty="0">
                <a:solidFill>
                  <a:schemeClr val="bg1"/>
                </a:solidFill>
              </a:rPr>
              <a:t>How to open it</a:t>
            </a:r>
            <a:endParaRPr lang="en-US" sz="1600" dirty="0"/>
          </a:p>
        </p:txBody>
      </p:sp>
      <p:sp>
        <p:nvSpPr>
          <p:cNvPr id="9" name="text-151"/>
          <p:cNvSpPr txBox="1"/>
          <p:nvPr/>
        </p:nvSpPr>
        <p:spPr>
          <a:xfrm>
            <a:off x="685800" y="2724912"/>
            <a:ext cx="2240280" cy="292608"/>
          </a:xfrm>
          <a:prstGeom prst="rect">
            <a:avLst/>
          </a:prstGeom>
          <a:noFill/>
          <a:ln/>
        </p:spPr>
        <p:txBody>
          <a:bodyPr wrap="square" lIns="0" tIns="0" rIns="0" bIns="0" rtlCol="0" anchor="t"/>
          <a:lstStyle/>
          <a:p>
            <a:pPr indent="0" marL="0">
              <a:buNone/>
            </a:pPr>
            <a:r>
              <a:rPr lang="en-US" sz="1400" dirty="0">
                <a:solidFill>
                  <a:schemeClr val="bg1"/>
                </a:solidFill>
              </a:rPr>
              <a:t>Press Win + R, then type:</a:t>
            </a:r>
            <a:endParaRPr lang="en-US" sz="1400" dirty="0"/>
          </a:p>
        </p:txBody>
      </p:sp>
      <p:sp>
        <p:nvSpPr>
          <p:cNvPr id="10" name="cmd-pill"/>
          <p:cNvSpPr/>
          <p:nvPr/>
        </p:nvSpPr>
        <p:spPr>
          <a:xfrm>
            <a:off x="685800" y="3090672"/>
            <a:ext cx="2194560" cy="438912"/>
          </a:xfrm>
          <a:prstGeom prst="roundRect">
            <a:avLst>
              <a:gd name="adj" fmla="val 12500"/>
            </a:avLst>
          </a:prstGeom>
          <a:solidFill>
            <a:schemeClr val="bg1"/>
          </a:solidFill>
          <a:ln w="12700">
            <a:solidFill>
              <a:schemeClr val="bg1"/>
            </a:solidFill>
            <a:prstDash val="solid"/>
          </a:ln>
        </p:spPr>
      </p:sp>
      <p:sp>
        <p:nvSpPr>
          <p:cNvPr id="11" name="text-152"/>
          <p:cNvSpPr txBox="1"/>
          <p:nvPr/>
        </p:nvSpPr>
        <p:spPr>
          <a:xfrm>
            <a:off x="685800" y="3090672"/>
            <a:ext cx="2194560" cy="438912"/>
          </a:xfrm>
          <a:prstGeom prst="rect">
            <a:avLst/>
          </a:prstGeom>
          <a:noFill/>
          <a:ln/>
        </p:spPr>
        <p:txBody>
          <a:bodyPr wrap="square" lIns="0" tIns="0" rIns="0" bIns="0" rtlCol="0" anchor="ctr"/>
          <a:lstStyle/>
          <a:p>
            <a:pPr algn="ctr" indent="0" marL="0">
              <a:buNone/>
            </a:pPr>
            <a:r>
              <a:rPr lang="en-US" sz="1600" b="1" dirty="0">
                <a:solidFill>
                  <a:schemeClr val="tx2"/>
                </a:solidFill>
                <a:latin typeface="Consolas" pitchFamily="34" charset="0"/>
                <a:ea typeface="Consolas" pitchFamily="34" charset="-122"/>
                <a:cs typeface="Consolas" pitchFamily="34" charset="-120"/>
              </a:rPr>
              <a:t>taskschd.msc</a:t>
            </a:r>
            <a:endParaRPr lang="en-US" sz="1600" dirty="0"/>
          </a:p>
        </p:txBody>
      </p:sp>
      <p:sp>
        <p:nvSpPr>
          <p:cNvPr id="12" name="text-153"/>
          <p:cNvSpPr txBox="1"/>
          <p:nvPr/>
        </p:nvSpPr>
        <p:spPr>
          <a:xfrm>
            <a:off x="685800" y="3703320"/>
            <a:ext cx="2240280" cy="685800"/>
          </a:xfrm>
          <a:prstGeom prst="rect">
            <a:avLst/>
          </a:prstGeom>
          <a:noFill/>
          <a:ln/>
        </p:spPr>
        <p:txBody>
          <a:bodyPr wrap="square" lIns="0" tIns="0" rIns="0" bIns="0" rtlCol="0" anchor="t"/>
          <a:lstStyle/>
          <a:p>
            <a:pPr indent="0" marL="0">
              <a:buNone/>
            </a:pPr>
            <a:r>
              <a:rPr lang="en-US" sz="1300" dirty="0">
                <a:solidFill>
                  <a:schemeClr val="accent5"/>
                </a:solidFill>
              </a:rPr>
              <a:t>Tip: make your own folder (e.g., IT-Lab) for your tasks.</a:t>
            </a:r>
            <a:endParaRPr lang="en-US" sz="1300" dirty="0"/>
          </a:p>
        </p:txBody>
      </p:sp>
      <p:sp>
        <p:nvSpPr>
          <p:cNvPr id="13" name="card-154"/>
          <p:cNvSpPr/>
          <p:nvPr/>
        </p:nvSpPr>
        <p:spPr>
          <a:xfrm>
            <a:off x="3383280" y="1325880"/>
            <a:ext cx="16459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4" name="text-155"/>
          <p:cNvSpPr txBox="1"/>
          <p:nvPr/>
        </p:nvSpPr>
        <p:spPr>
          <a:xfrm>
            <a:off x="3520440" y="1554480"/>
            <a:ext cx="1371600" cy="365760"/>
          </a:xfrm>
          <a:prstGeom prst="rect">
            <a:avLst/>
          </a:prstGeom>
          <a:noFill/>
          <a:ln/>
        </p:spPr>
        <p:txBody>
          <a:bodyPr wrap="square" lIns="0" tIns="0" rIns="0" bIns="0" rtlCol="0" anchor="t"/>
          <a:lstStyle/>
          <a:p>
            <a:pPr algn="ctr" indent="0" marL="0">
              <a:buNone/>
            </a:pPr>
            <a:r>
              <a:rPr lang="en-US" sz="1800" b="1" dirty="0">
                <a:solidFill>
                  <a:schemeClr val="accent2"/>
                </a:solidFill>
              </a:rPr>
              <a:t>General</a:t>
            </a:r>
            <a:endParaRPr lang="en-US" sz="1800" dirty="0"/>
          </a:p>
        </p:txBody>
      </p:sp>
      <p:sp>
        <p:nvSpPr>
          <p:cNvPr id="15" name="text-156"/>
          <p:cNvSpPr txBox="1"/>
          <p:nvPr/>
        </p:nvSpPr>
        <p:spPr>
          <a:xfrm>
            <a:off x="3520440" y="2057400"/>
            <a:ext cx="1371600" cy="548640"/>
          </a:xfrm>
          <a:prstGeom prst="rect">
            <a:avLst/>
          </a:prstGeom>
          <a:noFill/>
          <a:ln/>
        </p:spPr>
        <p:txBody>
          <a:bodyPr wrap="square" lIns="0" tIns="0" rIns="0" bIns="0" rtlCol="0" anchor="t"/>
          <a:lstStyle/>
          <a:p>
            <a:pPr algn="ctr" indent="0" marL="0">
              <a:buNone/>
            </a:pPr>
            <a:r>
              <a:rPr lang="en-US" sz="1500" b="1" dirty="0">
                <a:solidFill>
                  <a:schemeClr val="tx2"/>
                </a:solidFill>
              </a:rPr>
              <a:t>WHO runs it?</a:t>
            </a:r>
            <a:endParaRPr lang="en-US" sz="1500" dirty="0"/>
          </a:p>
        </p:txBody>
      </p:sp>
      <p:sp>
        <p:nvSpPr>
          <p:cNvPr id="16" name="card-157"/>
          <p:cNvSpPr/>
          <p:nvPr/>
        </p:nvSpPr>
        <p:spPr>
          <a:xfrm>
            <a:off x="5184648" y="1325880"/>
            <a:ext cx="16459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7" name="text-158"/>
          <p:cNvSpPr txBox="1"/>
          <p:nvPr/>
        </p:nvSpPr>
        <p:spPr>
          <a:xfrm>
            <a:off x="5321808" y="1554480"/>
            <a:ext cx="1371600" cy="365760"/>
          </a:xfrm>
          <a:prstGeom prst="rect">
            <a:avLst/>
          </a:prstGeom>
          <a:noFill/>
          <a:ln/>
        </p:spPr>
        <p:txBody>
          <a:bodyPr wrap="square" lIns="0" tIns="0" rIns="0" bIns="0" rtlCol="0" anchor="t"/>
          <a:lstStyle/>
          <a:p>
            <a:pPr algn="ctr" indent="0" marL="0">
              <a:buNone/>
            </a:pPr>
            <a:r>
              <a:rPr lang="en-US" sz="1800" b="1" dirty="0">
                <a:solidFill>
                  <a:schemeClr val="accent2"/>
                </a:solidFill>
              </a:rPr>
              <a:t>Triggers</a:t>
            </a:r>
            <a:endParaRPr lang="en-US" sz="1800" dirty="0"/>
          </a:p>
        </p:txBody>
      </p:sp>
      <p:sp>
        <p:nvSpPr>
          <p:cNvPr id="18" name="text-159"/>
          <p:cNvSpPr txBox="1"/>
          <p:nvPr/>
        </p:nvSpPr>
        <p:spPr>
          <a:xfrm>
            <a:off x="5321808" y="2057400"/>
            <a:ext cx="1371600" cy="548640"/>
          </a:xfrm>
          <a:prstGeom prst="rect">
            <a:avLst/>
          </a:prstGeom>
          <a:noFill/>
          <a:ln/>
        </p:spPr>
        <p:txBody>
          <a:bodyPr wrap="square" lIns="0" tIns="0" rIns="0" bIns="0" rtlCol="0" anchor="t"/>
          <a:lstStyle/>
          <a:p>
            <a:pPr algn="ctr" indent="0" marL="0">
              <a:buNone/>
            </a:pPr>
            <a:r>
              <a:rPr lang="en-US" sz="1500" b="1" dirty="0">
                <a:solidFill>
                  <a:schemeClr val="tx2"/>
                </a:solidFill>
              </a:rPr>
              <a:t>WHEN does it run?</a:t>
            </a:r>
            <a:endParaRPr lang="en-US" sz="1500" dirty="0"/>
          </a:p>
        </p:txBody>
      </p:sp>
      <p:sp>
        <p:nvSpPr>
          <p:cNvPr id="19" name="card-160"/>
          <p:cNvSpPr/>
          <p:nvPr/>
        </p:nvSpPr>
        <p:spPr>
          <a:xfrm>
            <a:off x="6986016" y="1325880"/>
            <a:ext cx="16459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0" name="text-161"/>
          <p:cNvSpPr txBox="1"/>
          <p:nvPr/>
        </p:nvSpPr>
        <p:spPr>
          <a:xfrm>
            <a:off x="7123176" y="1554480"/>
            <a:ext cx="1371600" cy="365760"/>
          </a:xfrm>
          <a:prstGeom prst="rect">
            <a:avLst/>
          </a:prstGeom>
          <a:noFill/>
          <a:ln/>
        </p:spPr>
        <p:txBody>
          <a:bodyPr wrap="square" lIns="0" tIns="0" rIns="0" bIns="0" rtlCol="0" anchor="t"/>
          <a:lstStyle/>
          <a:p>
            <a:pPr algn="ctr" indent="0" marL="0">
              <a:buNone/>
            </a:pPr>
            <a:r>
              <a:rPr lang="en-US" sz="1800" b="1" dirty="0">
                <a:solidFill>
                  <a:schemeClr val="accent2"/>
                </a:solidFill>
              </a:rPr>
              <a:t>Actions</a:t>
            </a:r>
            <a:endParaRPr lang="en-US" sz="1800" dirty="0"/>
          </a:p>
        </p:txBody>
      </p:sp>
      <p:sp>
        <p:nvSpPr>
          <p:cNvPr id="21" name="text-162"/>
          <p:cNvSpPr txBox="1"/>
          <p:nvPr/>
        </p:nvSpPr>
        <p:spPr>
          <a:xfrm>
            <a:off x="7123176" y="2057400"/>
            <a:ext cx="1371600" cy="548640"/>
          </a:xfrm>
          <a:prstGeom prst="rect">
            <a:avLst/>
          </a:prstGeom>
          <a:noFill/>
          <a:ln/>
        </p:spPr>
        <p:txBody>
          <a:bodyPr wrap="square" lIns="0" tIns="0" rIns="0" bIns="0" rtlCol="0" anchor="t"/>
          <a:lstStyle/>
          <a:p>
            <a:pPr algn="ctr" indent="0" marL="0">
              <a:buNone/>
            </a:pPr>
            <a:r>
              <a:rPr lang="en-US" sz="1500" b="1" dirty="0">
                <a:solidFill>
                  <a:schemeClr val="tx2"/>
                </a:solidFill>
              </a:rPr>
              <a:t>WHAT does it run?</a:t>
            </a:r>
            <a:endParaRPr lang="en-US" sz="1500" dirty="0"/>
          </a:p>
        </p:txBody>
      </p:sp>
      <p:sp>
        <p:nvSpPr>
          <p:cNvPr id="22" name="card-163"/>
          <p:cNvSpPr/>
          <p:nvPr/>
        </p:nvSpPr>
        <p:spPr>
          <a:xfrm>
            <a:off x="3383280" y="2999232"/>
            <a:ext cx="16459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3" name="text-164"/>
          <p:cNvSpPr txBox="1"/>
          <p:nvPr/>
        </p:nvSpPr>
        <p:spPr>
          <a:xfrm>
            <a:off x="3520440" y="3227832"/>
            <a:ext cx="1371600" cy="365760"/>
          </a:xfrm>
          <a:prstGeom prst="rect">
            <a:avLst/>
          </a:prstGeom>
          <a:noFill/>
          <a:ln/>
        </p:spPr>
        <p:txBody>
          <a:bodyPr wrap="square" lIns="0" tIns="0" rIns="0" bIns="0" rtlCol="0" anchor="t"/>
          <a:lstStyle/>
          <a:p>
            <a:pPr algn="ctr" indent="0" marL="0">
              <a:buNone/>
            </a:pPr>
            <a:r>
              <a:rPr lang="en-US" sz="1800" b="1" dirty="0">
                <a:solidFill>
                  <a:schemeClr val="accent2"/>
                </a:solidFill>
              </a:rPr>
              <a:t>Conditions</a:t>
            </a:r>
            <a:endParaRPr lang="en-US" sz="1800" dirty="0"/>
          </a:p>
        </p:txBody>
      </p:sp>
      <p:sp>
        <p:nvSpPr>
          <p:cNvPr id="24" name="text-165"/>
          <p:cNvSpPr txBox="1"/>
          <p:nvPr/>
        </p:nvSpPr>
        <p:spPr>
          <a:xfrm>
            <a:off x="3520440" y="3730752"/>
            <a:ext cx="1371600" cy="548640"/>
          </a:xfrm>
          <a:prstGeom prst="rect">
            <a:avLst/>
          </a:prstGeom>
          <a:noFill/>
          <a:ln/>
        </p:spPr>
        <p:txBody>
          <a:bodyPr wrap="square" lIns="0" tIns="0" rIns="0" bIns="0" rtlCol="0" anchor="t"/>
          <a:lstStyle/>
          <a:p>
            <a:pPr algn="ctr" indent="0" marL="0">
              <a:buNone/>
            </a:pPr>
            <a:r>
              <a:rPr lang="en-US" sz="1500" b="1" dirty="0">
                <a:solidFill>
                  <a:schemeClr val="tx2"/>
                </a:solidFill>
              </a:rPr>
              <a:t>Only IF...?</a:t>
            </a:r>
            <a:endParaRPr lang="en-US" sz="1500" dirty="0"/>
          </a:p>
        </p:txBody>
      </p:sp>
      <p:sp>
        <p:nvSpPr>
          <p:cNvPr id="25" name="card-166"/>
          <p:cNvSpPr/>
          <p:nvPr/>
        </p:nvSpPr>
        <p:spPr>
          <a:xfrm>
            <a:off x="5184648" y="2999232"/>
            <a:ext cx="16459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6" name="text-167"/>
          <p:cNvSpPr txBox="1"/>
          <p:nvPr/>
        </p:nvSpPr>
        <p:spPr>
          <a:xfrm>
            <a:off x="5321808" y="3227832"/>
            <a:ext cx="1371600" cy="365760"/>
          </a:xfrm>
          <a:prstGeom prst="rect">
            <a:avLst/>
          </a:prstGeom>
          <a:noFill/>
          <a:ln/>
        </p:spPr>
        <p:txBody>
          <a:bodyPr wrap="square" lIns="0" tIns="0" rIns="0" bIns="0" rtlCol="0" anchor="t"/>
          <a:lstStyle/>
          <a:p>
            <a:pPr algn="ctr" indent="0" marL="0">
              <a:buNone/>
            </a:pPr>
            <a:r>
              <a:rPr lang="en-US" sz="1800" b="1" dirty="0">
                <a:solidFill>
                  <a:schemeClr val="accent2"/>
                </a:solidFill>
              </a:rPr>
              <a:t>Settings</a:t>
            </a:r>
            <a:endParaRPr lang="en-US" sz="1800" dirty="0"/>
          </a:p>
        </p:txBody>
      </p:sp>
      <p:sp>
        <p:nvSpPr>
          <p:cNvPr id="27" name="text-168"/>
          <p:cNvSpPr txBox="1"/>
          <p:nvPr/>
        </p:nvSpPr>
        <p:spPr>
          <a:xfrm>
            <a:off x="5321808" y="3730752"/>
            <a:ext cx="1371600" cy="548640"/>
          </a:xfrm>
          <a:prstGeom prst="rect">
            <a:avLst/>
          </a:prstGeom>
          <a:noFill/>
          <a:ln/>
        </p:spPr>
        <p:txBody>
          <a:bodyPr wrap="square" lIns="0" tIns="0" rIns="0" bIns="0" rtlCol="0" anchor="t"/>
          <a:lstStyle/>
          <a:p>
            <a:pPr algn="ctr" indent="0" marL="0">
              <a:buNone/>
            </a:pPr>
            <a:r>
              <a:rPr lang="en-US" sz="1500" b="1" dirty="0">
                <a:solidFill>
                  <a:schemeClr val="tx2"/>
                </a:solidFill>
              </a:rPr>
              <a:t>What if it FAILS?</a:t>
            </a:r>
            <a:endParaRPr lang="en-US" sz="1500" dirty="0"/>
          </a:p>
        </p:txBody>
      </p:sp>
      <p:sp>
        <p:nvSpPr>
          <p:cNvPr id="28" name="card-169"/>
          <p:cNvSpPr/>
          <p:nvPr/>
        </p:nvSpPr>
        <p:spPr>
          <a:xfrm>
            <a:off x="6986016" y="2999232"/>
            <a:ext cx="16459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9" name="text-170"/>
          <p:cNvSpPr txBox="1"/>
          <p:nvPr/>
        </p:nvSpPr>
        <p:spPr>
          <a:xfrm>
            <a:off x="7123176" y="3227832"/>
            <a:ext cx="1371600" cy="365760"/>
          </a:xfrm>
          <a:prstGeom prst="rect">
            <a:avLst/>
          </a:prstGeom>
          <a:noFill/>
          <a:ln/>
        </p:spPr>
        <p:txBody>
          <a:bodyPr wrap="square" lIns="0" tIns="0" rIns="0" bIns="0" rtlCol="0" anchor="t"/>
          <a:lstStyle/>
          <a:p>
            <a:pPr algn="ctr" indent="0" marL="0">
              <a:buNone/>
            </a:pPr>
            <a:r>
              <a:rPr lang="en-US" sz="1800" b="1" dirty="0">
                <a:solidFill>
                  <a:schemeClr val="accent2"/>
                </a:solidFill>
              </a:rPr>
              <a:t>History</a:t>
            </a:r>
            <a:endParaRPr lang="en-US" sz="1800" dirty="0"/>
          </a:p>
        </p:txBody>
      </p:sp>
      <p:sp>
        <p:nvSpPr>
          <p:cNvPr id="30" name="text-171"/>
          <p:cNvSpPr txBox="1"/>
          <p:nvPr/>
        </p:nvSpPr>
        <p:spPr>
          <a:xfrm>
            <a:off x="7123176" y="3730752"/>
            <a:ext cx="1371600" cy="548640"/>
          </a:xfrm>
          <a:prstGeom prst="rect">
            <a:avLst/>
          </a:prstGeom>
          <a:noFill/>
          <a:ln/>
        </p:spPr>
        <p:txBody>
          <a:bodyPr wrap="square" lIns="0" tIns="0" rIns="0" bIns="0" rtlCol="0" anchor="t"/>
          <a:lstStyle/>
          <a:p>
            <a:pPr algn="ctr" indent="0" marL="0">
              <a:buNone/>
            </a:pPr>
            <a:r>
              <a:rPr lang="en-US" sz="1500" b="1" dirty="0">
                <a:solidFill>
                  <a:schemeClr val="tx2"/>
                </a:solidFill>
              </a:rPr>
              <a:t>Did it RUN?</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3 · WINDOWS</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Creating a Scheduled Task</a:t>
            </a:r>
            <a:endParaRPr lang="en-US" sz="2600" dirty="0"/>
          </a:p>
        </p:txBody>
      </p:sp>
      <p:sp>
        <p:nvSpPr>
          <p:cNvPr id="5" name="step-172"/>
          <p:cNvSpPr/>
          <p:nvPr/>
        </p:nvSpPr>
        <p:spPr>
          <a:xfrm>
            <a:off x="457200" y="1325880"/>
            <a:ext cx="384048" cy="384048"/>
          </a:xfrm>
          <a:prstGeom prst="ellipse">
            <a:avLst/>
          </a:prstGeom>
          <a:solidFill>
            <a:schemeClr val="accent1"/>
          </a:solidFill>
          <a:ln w="12700">
            <a:solidFill>
              <a:schemeClr val="accent1"/>
            </a:solidFill>
            <a:prstDash val="solid"/>
          </a:ln>
        </p:spPr>
      </p:sp>
      <p:sp>
        <p:nvSpPr>
          <p:cNvPr id="6" name="text-173"/>
          <p:cNvSpPr txBox="1"/>
          <p:nvPr/>
        </p:nvSpPr>
        <p:spPr>
          <a:xfrm>
            <a:off x="457200" y="132588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7" name="text-174"/>
          <p:cNvSpPr txBox="1"/>
          <p:nvPr/>
        </p:nvSpPr>
        <p:spPr>
          <a:xfrm>
            <a:off x="987552" y="1307592"/>
            <a:ext cx="3429000" cy="438912"/>
          </a:xfrm>
          <a:prstGeom prst="rect">
            <a:avLst/>
          </a:prstGeom>
          <a:noFill/>
          <a:ln/>
        </p:spPr>
        <p:txBody>
          <a:bodyPr wrap="square" lIns="0" tIns="0" rIns="0" bIns="0" rtlCol="0" anchor="ctr"/>
          <a:lstStyle/>
          <a:p>
            <a:pPr indent="0" marL="0">
              <a:buNone/>
            </a:pPr>
            <a:r>
              <a:rPr lang="en-US" sz="1400" dirty="0">
                <a:solidFill>
                  <a:schemeClr val="tx1"/>
                </a:solidFill>
              </a:rPr>
              <a:t>Open Task Scheduler and select your IT-Lab folder</a:t>
            </a:r>
            <a:endParaRPr lang="en-US" sz="1400" dirty="0"/>
          </a:p>
        </p:txBody>
      </p:sp>
      <p:sp>
        <p:nvSpPr>
          <p:cNvPr id="8" name="step-175"/>
          <p:cNvSpPr/>
          <p:nvPr/>
        </p:nvSpPr>
        <p:spPr>
          <a:xfrm>
            <a:off x="457200" y="1874520"/>
            <a:ext cx="384048" cy="384048"/>
          </a:xfrm>
          <a:prstGeom prst="ellipse">
            <a:avLst/>
          </a:prstGeom>
          <a:solidFill>
            <a:schemeClr val="accent1"/>
          </a:solidFill>
          <a:ln w="12700">
            <a:solidFill>
              <a:schemeClr val="accent1"/>
            </a:solidFill>
            <a:prstDash val="solid"/>
          </a:ln>
        </p:spPr>
      </p:sp>
      <p:sp>
        <p:nvSpPr>
          <p:cNvPr id="9" name="text-176"/>
          <p:cNvSpPr txBox="1"/>
          <p:nvPr/>
        </p:nvSpPr>
        <p:spPr>
          <a:xfrm>
            <a:off x="457200" y="187452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0" name="text-177"/>
          <p:cNvSpPr txBox="1"/>
          <p:nvPr/>
        </p:nvSpPr>
        <p:spPr>
          <a:xfrm>
            <a:off x="987552" y="1856232"/>
            <a:ext cx="3429000" cy="438912"/>
          </a:xfrm>
          <a:prstGeom prst="rect">
            <a:avLst/>
          </a:prstGeom>
          <a:noFill/>
          <a:ln/>
        </p:spPr>
        <p:txBody>
          <a:bodyPr wrap="square" lIns="0" tIns="0" rIns="0" bIns="0" rtlCol="0" anchor="ctr"/>
          <a:lstStyle/>
          <a:p>
            <a:pPr indent="0" marL="0">
              <a:buNone/>
            </a:pPr>
            <a:r>
              <a:rPr lang="en-US" sz="1400" dirty="0">
                <a:solidFill>
                  <a:schemeClr val="tx1"/>
                </a:solidFill>
              </a:rPr>
              <a:t>Click Create Task and give it a name</a:t>
            </a:r>
            <a:endParaRPr lang="en-US" sz="1400" dirty="0"/>
          </a:p>
        </p:txBody>
      </p:sp>
      <p:sp>
        <p:nvSpPr>
          <p:cNvPr id="11" name="step-178"/>
          <p:cNvSpPr/>
          <p:nvPr/>
        </p:nvSpPr>
        <p:spPr>
          <a:xfrm>
            <a:off x="457200" y="2423160"/>
            <a:ext cx="384048" cy="384048"/>
          </a:xfrm>
          <a:prstGeom prst="ellipse">
            <a:avLst/>
          </a:prstGeom>
          <a:solidFill>
            <a:schemeClr val="accent1"/>
          </a:solidFill>
          <a:ln w="12700">
            <a:solidFill>
              <a:schemeClr val="accent1"/>
            </a:solidFill>
            <a:prstDash val="solid"/>
          </a:ln>
        </p:spPr>
      </p:sp>
      <p:sp>
        <p:nvSpPr>
          <p:cNvPr id="12" name="text-179"/>
          <p:cNvSpPr txBox="1"/>
          <p:nvPr/>
        </p:nvSpPr>
        <p:spPr>
          <a:xfrm>
            <a:off x="457200" y="242316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3" name="text-180"/>
          <p:cNvSpPr txBox="1"/>
          <p:nvPr/>
        </p:nvSpPr>
        <p:spPr>
          <a:xfrm>
            <a:off x="987552" y="2404872"/>
            <a:ext cx="3429000" cy="438912"/>
          </a:xfrm>
          <a:prstGeom prst="rect">
            <a:avLst/>
          </a:prstGeom>
          <a:noFill/>
          <a:ln/>
        </p:spPr>
        <p:txBody>
          <a:bodyPr wrap="square" lIns="0" tIns="0" rIns="0" bIns="0" rtlCol="0" anchor="ctr"/>
          <a:lstStyle/>
          <a:p>
            <a:pPr indent="0" marL="0">
              <a:buNone/>
            </a:pPr>
            <a:r>
              <a:rPr lang="en-US" sz="1400" dirty="0">
                <a:solidFill>
                  <a:schemeClr val="tx1"/>
                </a:solidFill>
              </a:rPr>
              <a:t>Triggers: choose Daily and a time</a:t>
            </a:r>
            <a:endParaRPr lang="en-US" sz="1400" dirty="0"/>
          </a:p>
        </p:txBody>
      </p:sp>
      <p:sp>
        <p:nvSpPr>
          <p:cNvPr id="14" name="step-181"/>
          <p:cNvSpPr/>
          <p:nvPr/>
        </p:nvSpPr>
        <p:spPr>
          <a:xfrm>
            <a:off x="457200" y="2971800"/>
            <a:ext cx="384048" cy="384048"/>
          </a:xfrm>
          <a:prstGeom prst="ellipse">
            <a:avLst/>
          </a:prstGeom>
          <a:solidFill>
            <a:schemeClr val="accent1"/>
          </a:solidFill>
          <a:ln w="12700">
            <a:solidFill>
              <a:schemeClr val="accent1"/>
            </a:solidFill>
            <a:prstDash val="solid"/>
          </a:ln>
        </p:spPr>
      </p:sp>
      <p:sp>
        <p:nvSpPr>
          <p:cNvPr id="15" name="text-182"/>
          <p:cNvSpPr txBox="1"/>
          <p:nvPr/>
        </p:nvSpPr>
        <p:spPr>
          <a:xfrm>
            <a:off x="457200" y="297180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6" name="text-183"/>
          <p:cNvSpPr txBox="1"/>
          <p:nvPr/>
        </p:nvSpPr>
        <p:spPr>
          <a:xfrm>
            <a:off x="987552" y="2953512"/>
            <a:ext cx="3429000" cy="438912"/>
          </a:xfrm>
          <a:prstGeom prst="rect">
            <a:avLst/>
          </a:prstGeom>
          <a:noFill/>
          <a:ln/>
        </p:spPr>
        <p:txBody>
          <a:bodyPr wrap="square" lIns="0" tIns="0" rIns="0" bIns="0" rtlCol="0" anchor="ctr"/>
          <a:lstStyle/>
          <a:p>
            <a:pPr indent="0" marL="0">
              <a:buNone/>
            </a:pPr>
            <a:r>
              <a:rPr lang="en-US" sz="1400" dirty="0">
                <a:solidFill>
                  <a:schemeClr val="tx1"/>
                </a:solidFill>
              </a:rPr>
              <a:t>Actions: choose the program or script, and fill in Start in</a:t>
            </a:r>
            <a:endParaRPr lang="en-US" sz="1400" dirty="0"/>
          </a:p>
        </p:txBody>
      </p:sp>
      <p:sp>
        <p:nvSpPr>
          <p:cNvPr id="17" name="step-184"/>
          <p:cNvSpPr/>
          <p:nvPr/>
        </p:nvSpPr>
        <p:spPr>
          <a:xfrm>
            <a:off x="457200" y="3520440"/>
            <a:ext cx="384048" cy="384048"/>
          </a:xfrm>
          <a:prstGeom prst="ellipse">
            <a:avLst/>
          </a:prstGeom>
          <a:solidFill>
            <a:schemeClr val="accent1"/>
          </a:solidFill>
          <a:ln w="12700">
            <a:solidFill>
              <a:schemeClr val="accent1"/>
            </a:solidFill>
            <a:prstDash val="solid"/>
          </a:ln>
        </p:spPr>
      </p:sp>
      <p:sp>
        <p:nvSpPr>
          <p:cNvPr id="18" name="text-185"/>
          <p:cNvSpPr txBox="1"/>
          <p:nvPr/>
        </p:nvSpPr>
        <p:spPr>
          <a:xfrm>
            <a:off x="457200" y="352044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19" name="text-186"/>
          <p:cNvSpPr txBox="1"/>
          <p:nvPr/>
        </p:nvSpPr>
        <p:spPr>
          <a:xfrm>
            <a:off x="987552" y="3502152"/>
            <a:ext cx="3429000" cy="438912"/>
          </a:xfrm>
          <a:prstGeom prst="rect">
            <a:avLst/>
          </a:prstGeom>
          <a:noFill/>
          <a:ln/>
        </p:spPr>
        <p:txBody>
          <a:bodyPr wrap="square" lIns="0" tIns="0" rIns="0" bIns="0" rtlCol="0" anchor="ctr"/>
          <a:lstStyle/>
          <a:p>
            <a:pPr indent="0" marL="0">
              <a:buNone/>
            </a:pPr>
            <a:r>
              <a:rPr lang="en-US" sz="1400" dirty="0">
                <a:solidFill>
                  <a:schemeClr val="tx1"/>
                </a:solidFill>
              </a:rPr>
              <a:t>Settings: allow run on demand; run after a missed start</a:t>
            </a:r>
            <a:endParaRPr lang="en-US" sz="1400" dirty="0"/>
          </a:p>
        </p:txBody>
      </p:sp>
      <p:sp>
        <p:nvSpPr>
          <p:cNvPr id="20" name="step-187"/>
          <p:cNvSpPr/>
          <p:nvPr/>
        </p:nvSpPr>
        <p:spPr>
          <a:xfrm>
            <a:off x="457200" y="4069080"/>
            <a:ext cx="384048" cy="384048"/>
          </a:xfrm>
          <a:prstGeom prst="ellipse">
            <a:avLst/>
          </a:prstGeom>
          <a:solidFill>
            <a:schemeClr val="accent1"/>
          </a:solidFill>
          <a:ln w="12700">
            <a:solidFill>
              <a:schemeClr val="accent1"/>
            </a:solidFill>
            <a:prstDash val="solid"/>
          </a:ln>
        </p:spPr>
      </p:sp>
      <p:sp>
        <p:nvSpPr>
          <p:cNvPr id="21" name="text-188"/>
          <p:cNvSpPr txBox="1"/>
          <p:nvPr/>
        </p:nvSpPr>
        <p:spPr>
          <a:xfrm>
            <a:off x="457200" y="406908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6</a:t>
            </a:r>
            <a:endParaRPr lang="en-US" sz="1400" dirty="0"/>
          </a:p>
        </p:txBody>
      </p:sp>
      <p:sp>
        <p:nvSpPr>
          <p:cNvPr id="22" name="text-189"/>
          <p:cNvSpPr txBox="1"/>
          <p:nvPr/>
        </p:nvSpPr>
        <p:spPr>
          <a:xfrm>
            <a:off x="987552" y="4050792"/>
            <a:ext cx="3429000" cy="438912"/>
          </a:xfrm>
          <a:prstGeom prst="rect">
            <a:avLst/>
          </a:prstGeom>
          <a:noFill/>
          <a:ln/>
        </p:spPr>
        <p:txBody>
          <a:bodyPr wrap="square" lIns="0" tIns="0" rIns="0" bIns="0" rtlCol="0" anchor="ctr"/>
          <a:lstStyle/>
          <a:p>
            <a:pPr indent="0" marL="0">
              <a:buNone/>
            </a:pPr>
            <a:r>
              <a:rPr lang="en-US" sz="1400" dirty="0">
                <a:solidFill>
                  <a:schemeClr val="tx1"/>
                </a:solidFill>
              </a:rPr>
              <a:t>Right-click the task and choose Run to test it</a:t>
            </a:r>
            <a:endParaRPr lang="en-US" sz="1400" dirty="0"/>
          </a:p>
        </p:txBody>
      </p:sp>
      <p:sp>
        <p:nvSpPr>
          <p:cNvPr id="23" name="text-190"/>
          <p:cNvSpPr txBox="1"/>
          <p:nvPr/>
        </p:nvSpPr>
        <p:spPr>
          <a:xfrm>
            <a:off x="4709160" y="1325880"/>
            <a:ext cx="3977640" cy="292608"/>
          </a:xfrm>
          <a:prstGeom prst="rect">
            <a:avLst/>
          </a:prstGeom>
          <a:noFill/>
          <a:ln/>
        </p:spPr>
        <p:txBody>
          <a:bodyPr wrap="square" lIns="0" tIns="0" rIns="0" bIns="0" rtlCol="0" anchor="t"/>
          <a:lstStyle/>
          <a:p>
            <a:pPr indent="0" marL="0">
              <a:buNone/>
            </a:pPr>
            <a:r>
              <a:rPr lang="en-US" sz="1400" b="1" dirty="0">
                <a:solidFill>
                  <a:schemeClr val="tx2"/>
                </a:solidFill>
              </a:rPr>
              <a:t>Or use the command line (schtasks):</a:t>
            </a:r>
            <a:endParaRPr lang="en-US" sz="1400" dirty="0"/>
          </a:p>
        </p:txBody>
      </p:sp>
      <p:sp>
        <p:nvSpPr>
          <p:cNvPr id="24" name="code-bg-191"/>
          <p:cNvSpPr/>
          <p:nvPr/>
        </p:nvSpPr>
        <p:spPr>
          <a:xfrm>
            <a:off x="4709160" y="1691640"/>
            <a:ext cx="3977640" cy="2834640"/>
          </a:xfrm>
          <a:prstGeom prst="roundRect">
            <a:avLst>
              <a:gd name="adj" fmla="val 1935"/>
            </a:avLst>
          </a:prstGeom>
          <a:solidFill>
            <a:schemeClr val="tx2"/>
          </a:solidFill>
          <a:ln w="12700">
            <a:solidFill>
              <a:schemeClr val="tx2"/>
            </a:solidFill>
            <a:prstDash val="solid"/>
          </a:ln>
        </p:spPr>
      </p:sp>
      <p:sp>
        <p:nvSpPr>
          <p:cNvPr id="25" name="code-192"/>
          <p:cNvSpPr txBox="1"/>
          <p:nvPr/>
        </p:nvSpPr>
        <p:spPr>
          <a:xfrm>
            <a:off x="4873752" y="1819656"/>
            <a:ext cx="3648456" cy="2578608"/>
          </a:xfrm>
          <a:prstGeom prst="rect">
            <a:avLst/>
          </a:prstGeom>
          <a:noFill/>
          <a:ln/>
        </p:spPr>
        <p:txBody>
          <a:bodyPr wrap="square" lIns="0" tIns="0" rIns="0" bIns="0" rtlCol="0" anchor="t"/>
          <a:lstStyle/>
          <a:p>
            <a:pPr indent="0" marL="0">
              <a:buNone/>
            </a:pPr>
            <a:r>
              <a:rPr lang="en-US" sz="1200" dirty="0">
                <a:solidFill>
                  <a:schemeClr val="accent5"/>
                </a:solidFill>
                <a:latin typeface="Consolas" pitchFamily="34" charset="0"/>
                <a:ea typeface="Consolas" pitchFamily="34" charset="-122"/>
                <a:cs typeface="Consolas" pitchFamily="34" charset="-120"/>
              </a:rPr>
              <a:t>:: Run every day at 6:00 PM</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schtasks /create /tn "IT-Lab\Report"</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  /tr "C:\Lab\report.bat"</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  /sc daily /st 18:00</a:t>
            </a:r>
            <a:endParaRPr lang="en-US" sz="1200" dirty="0"/>
          </a:p>
          <a:p>
            <a:pPr indent="0" marL="0">
              <a:buNone/>
            </a:pPr>
            <a:endParaRPr lang="en-US" sz="1200" dirty="0"/>
          </a:p>
          <a:p>
            <a:pPr indent="0" marL="0">
              <a:buNone/>
            </a:pPr>
            <a:r>
              <a:rPr lang="en-US" sz="1200" dirty="0">
                <a:solidFill>
                  <a:schemeClr val="accent5"/>
                </a:solidFill>
                <a:latin typeface="Consolas" pitchFamily="34" charset="0"/>
                <a:ea typeface="Consolas" pitchFamily="34" charset="-122"/>
                <a:cs typeface="Consolas" pitchFamily="34" charset="-120"/>
              </a:rPr>
              <a:t>:: Run now, view, delete</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schtasks /run /tn "IT-Lab\Report"</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schtasks /query /tn "IT-Lab\Report"</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schtasks /delete /tn "IT-Lab\Report" /f</a:t>
            </a:r>
            <a:endParaRPr lang="en-US" sz="12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3 · WINDOWS</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Did It Work? Read the Last Run Result</a:t>
            </a:r>
            <a:endParaRPr lang="en-US" sz="2600" dirty="0"/>
          </a:p>
        </p:txBody>
      </p:sp>
      <p:sp>
        <p:nvSpPr>
          <p:cNvPr id="5" name="card-193"/>
          <p:cNvSpPr/>
          <p:nvPr/>
        </p:nvSpPr>
        <p:spPr>
          <a:xfrm>
            <a:off x="457200" y="1325880"/>
            <a:ext cx="1920240" cy="251460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6" name="icon-bg-194"/>
          <p:cNvSpPr/>
          <p:nvPr/>
        </p:nvSpPr>
        <p:spPr>
          <a:xfrm>
            <a:off x="1051560" y="1508760"/>
            <a:ext cx="731520" cy="731520"/>
          </a:xfrm>
          <a:prstGeom prst="ellipse">
            <a:avLst/>
          </a:prstGeom>
          <a:solidFill>
            <a:schemeClr val="accent6"/>
          </a:solidFill>
          <a:ln w="12700">
            <a:solidFill>
              <a:schemeClr val="accent6"/>
            </a:solidFill>
            <a:prstDash val="solid"/>
          </a:ln>
        </p:spPr>
      </p:sp>
      <p:pic>
        <p:nvPicPr>
          <p:cNvPr id="7" name="icon-195" descr="preencoded.png">    </p:cNvPr>
          <p:cNvPicPr>
            <a:picLocks noChangeAspect="1"/>
          </p:cNvPicPr>
          <p:nvPr/>
        </p:nvPicPr>
        <p:blipFill>
          <a:blip r:embed="rId1"/>
          <a:stretch>
            <a:fillRect/>
          </a:stretch>
        </p:blipFill>
        <p:spPr>
          <a:xfrm>
            <a:off x="1234440" y="1691640"/>
            <a:ext cx="365760" cy="365760"/>
          </a:xfrm>
          <a:prstGeom prst="rect">
            <a:avLst/>
          </a:prstGeom>
        </p:spPr>
      </p:pic>
      <p:sp>
        <p:nvSpPr>
          <p:cNvPr id="8" name="text-196"/>
          <p:cNvSpPr txBox="1"/>
          <p:nvPr/>
        </p:nvSpPr>
        <p:spPr>
          <a:xfrm>
            <a:off x="548640" y="2331720"/>
            <a:ext cx="1737360" cy="411480"/>
          </a:xfrm>
          <a:prstGeom prst="rect">
            <a:avLst/>
          </a:prstGeom>
          <a:noFill/>
          <a:ln/>
        </p:spPr>
        <p:txBody>
          <a:bodyPr wrap="square" lIns="0" tIns="0" rIns="0" bIns="0" rtlCol="0" anchor="t"/>
          <a:lstStyle/>
          <a:p>
            <a:pPr algn="ctr" indent="0" marL="0">
              <a:buNone/>
            </a:pPr>
            <a:r>
              <a:rPr lang="en-US" sz="2000" b="1" dirty="0">
                <a:solidFill>
                  <a:schemeClr val="tx2"/>
                </a:solidFill>
                <a:latin typeface="Consolas" pitchFamily="34" charset="0"/>
                <a:ea typeface="Consolas" pitchFamily="34" charset="-122"/>
                <a:cs typeface="Consolas" pitchFamily="34" charset="-120"/>
              </a:rPr>
              <a:t>0x0</a:t>
            </a:r>
            <a:endParaRPr lang="en-US" sz="2000" dirty="0"/>
          </a:p>
        </p:txBody>
      </p:sp>
      <p:sp>
        <p:nvSpPr>
          <p:cNvPr id="9" name="text-197"/>
          <p:cNvSpPr txBox="1"/>
          <p:nvPr/>
        </p:nvSpPr>
        <p:spPr>
          <a:xfrm>
            <a:off x="548640" y="2743200"/>
            <a:ext cx="1737360" cy="320040"/>
          </a:xfrm>
          <a:prstGeom prst="rect">
            <a:avLst/>
          </a:prstGeom>
          <a:noFill/>
          <a:ln/>
        </p:spPr>
        <p:txBody>
          <a:bodyPr wrap="square" lIns="0" tIns="0" rIns="0" bIns="0" rtlCol="0" anchor="t"/>
          <a:lstStyle/>
          <a:p>
            <a:pPr algn="ctr" indent="0" marL="0">
              <a:buNone/>
            </a:pPr>
            <a:r>
              <a:rPr lang="en-US" sz="1500" b="1" dirty="0">
                <a:solidFill>
                  <a:schemeClr val="accent2"/>
                </a:solidFill>
              </a:rPr>
              <a:t>Success</a:t>
            </a:r>
            <a:endParaRPr lang="en-US" sz="1500" dirty="0"/>
          </a:p>
        </p:txBody>
      </p:sp>
      <p:sp>
        <p:nvSpPr>
          <p:cNvPr id="10" name="text-198"/>
          <p:cNvSpPr txBox="1"/>
          <p:nvPr/>
        </p:nvSpPr>
        <p:spPr>
          <a:xfrm>
            <a:off x="621792" y="3090672"/>
            <a:ext cx="1591056" cy="685800"/>
          </a:xfrm>
          <a:prstGeom prst="rect">
            <a:avLst/>
          </a:prstGeom>
          <a:noFill/>
          <a:ln/>
        </p:spPr>
        <p:txBody>
          <a:bodyPr wrap="square" lIns="0" tIns="0" rIns="0" bIns="0" rtlCol="0" anchor="t"/>
          <a:lstStyle/>
          <a:p>
            <a:pPr algn="ctr" indent="0" marL="0">
              <a:buNone/>
            </a:pPr>
            <a:r>
              <a:rPr lang="en-US" sz="1300" dirty="0">
                <a:solidFill>
                  <a:schemeClr val="tx1"/>
                </a:solidFill>
              </a:rPr>
              <a:t>The task completed with no errors</a:t>
            </a:r>
            <a:endParaRPr lang="en-US" sz="1300" dirty="0"/>
          </a:p>
        </p:txBody>
      </p:sp>
      <p:sp>
        <p:nvSpPr>
          <p:cNvPr id="11" name="card-199"/>
          <p:cNvSpPr/>
          <p:nvPr/>
        </p:nvSpPr>
        <p:spPr>
          <a:xfrm>
            <a:off x="2560320" y="1325880"/>
            <a:ext cx="1920240" cy="251460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2" name="icon-bg-200"/>
          <p:cNvSpPr/>
          <p:nvPr/>
        </p:nvSpPr>
        <p:spPr>
          <a:xfrm>
            <a:off x="3154680" y="1508760"/>
            <a:ext cx="731520" cy="731520"/>
          </a:xfrm>
          <a:prstGeom prst="ellipse">
            <a:avLst/>
          </a:prstGeom>
          <a:solidFill>
            <a:schemeClr val="accent3"/>
          </a:solidFill>
          <a:ln w="12700">
            <a:solidFill>
              <a:schemeClr val="accent3"/>
            </a:solidFill>
            <a:prstDash val="solid"/>
          </a:ln>
        </p:spPr>
      </p:sp>
      <p:pic>
        <p:nvPicPr>
          <p:cNvPr id="13" name="icon-201" descr="preencoded.png">    </p:cNvPr>
          <p:cNvPicPr>
            <a:picLocks noChangeAspect="1"/>
          </p:cNvPicPr>
          <p:nvPr/>
        </p:nvPicPr>
        <p:blipFill>
          <a:blip r:embed="rId2"/>
          <a:stretch>
            <a:fillRect/>
          </a:stretch>
        </p:blipFill>
        <p:spPr>
          <a:xfrm>
            <a:off x="3337560" y="1691640"/>
            <a:ext cx="365760" cy="365760"/>
          </a:xfrm>
          <a:prstGeom prst="rect">
            <a:avLst/>
          </a:prstGeom>
        </p:spPr>
      </p:pic>
      <p:sp>
        <p:nvSpPr>
          <p:cNvPr id="14" name="text-202"/>
          <p:cNvSpPr txBox="1"/>
          <p:nvPr/>
        </p:nvSpPr>
        <p:spPr>
          <a:xfrm>
            <a:off x="2651760" y="2331720"/>
            <a:ext cx="1737360" cy="411480"/>
          </a:xfrm>
          <a:prstGeom prst="rect">
            <a:avLst/>
          </a:prstGeom>
          <a:noFill/>
          <a:ln/>
        </p:spPr>
        <p:txBody>
          <a:bodyPr wrap="square" lIns="0" tIns="0" rIns="0" bIns="0" rtlCol="0" anchor="t"/>
          <a:lstStyle/>
          <a:p>
            <a:pPr algn="ctr" indent="0" marL="0">
              <a:buNone/>
            </a:pPr>
            <a:r>
              <a:rPr lang="en-US" sz="2000" b="1" dirty="0">
                <a:solidFill>
                  <a:schemeClr val="tx2"/>
                </a:solidFill>
                <a:latin typeface="Consolas" pitchFamily="34" charset="0"/>
                <a:ea typeface="Consolas" pitchFamily="34" charset="-122"/>
                <a:cs typeface="Consolas" pitchFamily="34" charset="-120"/>
              </a:rPr>
              <a:t>0x1</a:t>
            </a:r>
            <a:endParaRPr lang="en-US" sz="2000" dirty="0"/>
          </a:p>
        </p:txBody>
      </p:sp>
      <p:sp>
        <p:nvSpPr>
          <p:cNvPr id="15" name="text-203"/>
          <p:cNvSpPr txBox="1"/>
          <p:nvPr/>
        </p:nvSpPr>
        <p:spPr>
          <a:xfrm>
            <a:off x="2651760" y="2743200"/>
            <a:ext cx="1737360" cy="320040"/>
          </a:xfrm>
          <a:prstGeom prst="rect">
            <a:avLst/>
          </a:prstGeom>
          <a:noFill/>
          <a:ln/>
        </p:spPr>
        <p:txBody>
          <a:bodyPr wrap="square" lIns="0" tIns="0" rIns="0" bIns="0" rtlCol="0" anchor="t"/>
          <a:lstStyle/>
          <a:p>
            <a:pPr algn="ctr" indent="0" marL="0">
              <a:buNone/>
            </a:pPr>
            <a:r>
              <a:rPr lang="en-US" sz="1500" b="1" dirty="0">
                <a:solidFill>
                  <a:schemeClr val="accent2"/>
                </a:solidFill>
              </a:rPr>
              <a:t>Script error</a:t>
            </a:r>
            <a:endParaRPr lang="en-US" sz="1500" dirty="0"/>
          </a:p>
        </p:txBody>
      </p:sp>
      <p:sp>
        <p:nvSpPr>
          <p:cNvPr id="16" name="text-204"/>
          <p:cNvSpPr txBox="1"/>
          <p:nvPr/>
        </p:nvSpPr>
        <p:spPr>
          <a:xfrm>
            <a:off x="2724912" y="3090672"/>
            <a:ext cx="1591056" cy="685800"/>
          </a:xfrm>
          <a:prstGeom prst="rect">
            <a:avLst/>
          </a:prstGeom>
          <a:noFill/>
          <a:ln/>
        </p:spPr>
        <p:txBody>
          <a:bodyPr wrap="square" lIns="0" tIns="0" rIns="0" bIns="0" rtlCol="0" anchor="t"/>
          <a:lstStyle/>
          <a:p>
            <a:pPr algn="ctr" indent="0" marL="0">
              <a:buNone/>
            </a:pPr>
            <a:r>
              <a:rPr lang="en-US" sz="1300" dirty="0">
                <a:solidFill>
                  <a:schemeClr val="tx1"/>
                </a:solidFill>
              </a:rPr>
              <a:t>Run the exact command by hand to see the error</a:t>
            </a:r>
            <a:endParaRPr lang="en-US" sz="1300" dirty="0"/>
          </a:p>
        </p:txBody>
      </p:sp>
      <p:sp>
        <p:nvSpPr>
          <p:cNvPr id="17" name="card-205"/>
          <p:cNvSpPr/>
          <p:nvPr/>
        </p:nvSpPr>
        <p:spPr>
          <a:xfrm>
            <a:off x="4663440" y="1325880"/>
            <a:ext cx="1920240" cy="251460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8" name="icon-bg-206"/>
          <p:cNvSpPr/>
          <p:nvPr/>
        </p:nvSpPr>
        <p:spPr>
          <a:xfrm>
            <a:off x="5257800" y="1508760"/>
            <a:ext cx="731520" cy="731520"/>
          </a:xfrm>
          <a:prstGeom prst="ellipse">
            <a:avLst/>
          </a:prstGeom>
          <a:solidFill>
            <a:schemeClr val="accent3"/>
          </a:solidFill>
          <a:ln w="12700">
            <a:solidFill>
              <a:schemeClr val="accent3"/>
            </a:solidFill>
            <a:prstDash val="solid"/>
          </a:ln>
        </p:spPr>
      </p:sp>
      <p:pic>
        <p:nvPicPr>
          <p:cNvPr id="19" name="icon-207" descr="preencoded.png">    </p:cNvPr>
          <p:cNvPicPr>
            <a:picLocks noChangeAspect="1"/>
          </p:cNvPicPr>
          <p:nvPr/>
        </p:nvPicPr>
        <p:blipFill>
          <a:blip r:embed="rId3"/>
          <a:stretch>
            <a:fillRect/>
          </a:stretch>
        </p:blipFill>
        <p:spPr>
          <a:xfrm>
            <a:off x="5440680" y="1691640"/>
            <a:ext cx="365760" cy="365760"/>
          </a:xfrm>
          <a:prstGeom prst="rect">
            <a:avLst/>
          </a:prstGeom>
        </p:spPr>
      </p:pic>
      <p:sp>
        <p:nvSpPr>
          <p:cNvPr id="20" name="text-208"/>
          <p:cNvSpPr txBox="1"/>
          <p:nvPr/>
        </p:nvSpPr>
        <p:spPr>
          <a:xfrm>
            <a:off x="4754880" y="2331720"/>
            <a:ext cx="1737360" cy="411480"/>
          </a:xfrm>
          <a:prstGeom prst="rect">
            <a:avLst/>
          </a:prstGeom>
          <a:noFill/>
          <a:ln/>
        </p:spPr>
        <p:txBody>
          <a:bodyPr wrap="square" lIns="0" tIns="0" rIns="0" bIns="0" rtlCol="0" anchor="t"/>
          <a:lstStyle/>
          <a:p>
            <a:pPr algn="ctr" indent="0" marL="0">
              <a:buNone/>
            </a:pPr>
            <a:r>
              <a:rPr lang="en-US" sz="2000" b="1" dirty="0">
                <a:solidFill>
                  <a:schemeClr val="tx2"/>
                </a:solidFill>
                <a:latin typeface="Consolas" pitchFamily="34" charset="0"/>
                <a:ea typeface="Consolas" pitchFamily="34" charset="-122"/>
                <a:cs typeface="Consolas" pitchFamily="34" charset="-120"/>
              </a:rPr>
              <a:t>0x2</a:t>
            </a:r>
            <a:endParaRPr lang="en-US" sz="2000" dirty="0"/>
          </a:p>
        </p:txBody>
      </p:sp>
      <p:sp>
        <p:nvSpPr>
          <p:cNvPr id="21" name="text-209"/>
          <p:cNvSpPr txBox="1"/>
          <p:nvPr/>
        </p:nvSpPr>
        <p:spPr>
          <a:xfrm>
            <a:off x="4754880" y="2743200"/>
            <a:ext cx="1737360" cy="320040"/>
          </a:xfrm>
          <a:prstGeom prst="rect">
            <a:avLst/>
          </a:prstGeom>
          <a:noFill/>
          <a:ln/>
        </p:spPr>
        <p:txBody>
          <a:bodyPr wrap="square" lIns="0" tIns="0" rIns="0" bIns="0" rtlCol="0" anchor="t"/>
          <a:lstStyle/>
          <a:p>
            <a:pPr algn="ctr" indent="0" marL="0">
              <a:buNone/>
            </a:pPr>
            <a:r>
              <a:rPr lang="en-US" sz="1500" b="1" dirty="0">
                <a:solidFill>
                  <a:schemeClr val="accent2"/>
                </a:solidFill>
              </a:rPr>
              <a:t>File not found</a:t>
            </a:r>
            <a:endParaRPr lang="en-US" sz="1500" dirty="0"/>
          </a:p>
        </p:txBody>
      </p:sp>
      <p:sp>
        <p:nvSpPr>
          <p:cNvPr id="22" name="text-210"/>
          <p:cNvSpPr txBox="1"/>
          <p:nvPr/>
        </p:nvSpPr>
        <p:spPr>
          <a:xfrm>
            <a:off x="4828032" y="3090672"/>
            <a:ext cx="1591056" cy="685800"/>
          </a:xfrm>
          <a:prstGeom prst="rect">
            <a:avLst/>
          </a:prstGeom>
          <a:noFill/>
          <a:ln/>
        </p:spPr>
        <p:txBody>
          <a:bodyPr wrap="square" lIns="0" tIns="0" rIns="0" bIns="0" rtlCol="0" anchor="t"/>
          <a:lstStyle/>
          <a:p>
            <a:pPr algn="ctr" indent="0" marL="0">
              <a:buNone/>
            </a:pPr>
            <a:r>
              <a:rPr lang="en-US" sz="1300" dirty="0">
                <a:solidFill>
                  <a:schemeClr val="tx1"/>
                </a:solidFill>
              </a:rPr>
              <a:t>Check the path and spelling in the action</a:t>
            </a:r>
            <a:endParaRPr lang="en-US" sz="1300" dirty="0"/>
          </a:p>
        </p:txBody>
      </p:sp>
      <p:sp>
        <p:nvSpPr>
          <p:cNvPr id="23" name="card-211"/>
          <p:cNvSpPr/>
          <p:nvPr/>
        </p:nvSpPr>
        <p:spPr>
          <a:xfrm>
            <a:off x="6766560" y="1325880"/>
            <a:ext cx="1920240" cy="251460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4" name="icon-bg-212"/>
          <p:cNvSpPr/>
          <p:nvPr/>
        </p:nvSpPr>
        <p:spPr>
          <a:xfrm>
            <a:off x="7360920" y="1508760"/>
            <a:ext cx="731520" cy="731520"/>
          </a:xfrm>
          <a:prstGeom prst="ellipse">
            <a:avLst/>
          </a:prstGeom>
          <a:solidFill>
            <a:schemeClr val="accent4"/>
          </a:solidFill>
          <a:ln w="12700">
            <a:solidFill>
              <a:schemeClr val="accent4"/>
            </a:solidFill>
            <a:prstDash val="solid"/>
          </a:ln>
        </p:spPr>
      </p:sp>
      <p:pic>
        <p:nvPicPr>
          <p:cNvPr id="25" name="icon-213" descr="preencoded.png">    </p:cNvPr>
          <p:cNvPicPr>
            <a:picLocks noChangeAspect="1"/>
          </p:cNvPicPr>
          <p:nvPr/>
        </p:nvPicPr>
        <p:blipFill>
          <a:blip r:embed="rId4"/>
          <a:stretch>
            <a:fillRect/>
          </a:stretch>
        </p:blipFill>
        <p:spPr>
          <a:xfrm>
            <a:off x="7543800" y="1691640"/>
            <a:ext cx="365760" cy="365760"/>
          </a:xfrm>
          <a:prstGeom prst="rect">
            <a:avLst/>
          </a:prstGeom>
        </p:spPr>
      </p:pic>
      <p:sp>
        <p:nvSpPr>
          <p:cNvPr id="26" name="text-214"/>
          <p:cNvSpPr txBox="1"/>
          <p:nvPr/>
        </p:nvSpPr>
        <p:spPr>
          <a:xfrm>
            <a:off x="6858000" y="2331720"/>
            <a:ext cx="1737360" cy="411480"/>
          </a:xfrm>
          <a:prstGeom prst="rect">
            <a:avLst/>
          </a:prstGeom>
          <a:noFill/>
          <a:ln/>
        </p:spPr>
        <p:txBody>
          <a:bodyPr wrap="square" lIns="0" tIns="0" rIns="0" bIns="0" rtlCol="0" anchor="t"/>
          <a:lstStyle/>
          <a:p>
            <a:pPr algn="ctr" indent="0" marL="0">
              <a:buNone/>
            </a:pPr>
            <a:r>
              <a:rPr lang="en-US" sz="2000" b="1" dirty="0">
                <a:solidFill>
                  <a:schemeClr val="tx2"/>
                </a:solidFill>
                <a:latin typeface="Consolas" pitchFamily="34" charset="0"/>
                <a:ea typeface="Consolas" pitchFamily="34" charset="-122"/>
                <a:cs typeface="Consolas" pitchFamily="34" charset="-120"/>
              </a:rPr>
              <a:t>0x41301</a:t>
            </a:r>
            <a:endParaRPr lang="en-US" sz="2000" dirty="0"/>
          </a:p>
        </p:txBody>
      </p:sp>
      <p:sp>
        <p:nvSpPr>
          <p:cNvPr id="27" name="text-215"/>
          <p:cNvSpPr txBox="1"/>
          <p:nvPr/>
        </p:nvSpPr>
        <p:spPr>
          <a:xfrm>
            <a:off x="6858000" y="2743200"/>
            <a:ext cx="1737360" cy="320040"/>
          </a:xfrm>
          <a:prstGeom prst="rect">
            <a:avLst/>
          </a:prstGeom>
          <a:noFill/>
          <a:ln/>
        </p:spPr>
        <p:txBody>
          <a:bodyPr wrap="square" lIns="0" tIns="0" rIns="0" bIns="0" rtlCol="0" anchor="t"/>
          <a:lstStyle/>
          <a:p>
            <a:pPr algn="ctr" indent="0" marL="0">
              <a:buNone/>
            </a:pPr>
            <a:r>
              <a:rPr lang="en-US" sz="1500" b="1" dirty="0">
                <a:solidFill>
                  <a:schemeClr val="accent2"/>
                </a:solidFill>
              </a:rPr>
              <a:t>Still running</a:t>
            </a:r>
            <a:endParaRPr lang="en-US" sz="1500" dirty="0"/>
          </a:p>
        </p:txBody>
      </p:sp>
      <p:sp>
        <p:nvSpPr>
          <p:cNvPr id="28" name="text-216"/>
          <p:cNvSpPr txBox="1"/>
          <p:nvPr/>
        </p:nvSpPr>
        <p:spPr>
          <a:xfrm>
            <a:off x="6931152" y="3090672"/>
            <a:ext cx="1591056" cy="685800"/>
          </a:xfrm>
          <a:prstGeom prst="rect">
            <a:avLst/>
          </a:prstGeom>
          <a:noFill/>
          <a:ln/>
        </p:spPr>
        <p:txBody>
          <a:bodyPr wrap="square" lIns="0" tIns="0" rIns="0" bIns="0" rtlCol="0" anchor="t"/>
          <a:lstStyle/>
          <a:p>
            <a:pPr algn="ctr" indent="0" marL="0">
              <a:buNone/>
            </a:pPr>
            <a:r>
              <a:rPr lang="en-US" sz="1300" dirty="0">
                <a:solidFill>
                  <a:schemeClr val="tx1"/>
                </a:solidFill>
              </a:rPr>
              <a:t>Wait, or check for a script that never ends</a:t>
            </a:r>
            <a:endParaRPr lang="en-US" sz="1300" dirty="0"/>
          </a:p>
        </p:txBody>
      </p:sp>
      <p:sp>
        <p:nvSpPr>
          <p:cNvPr id="29" name="card-217"/>
          <p:cNvSpPr/>
          <p:nvPr/>
        </p:nvSpPr>
        <p:spPr>
          <a:xfrm>
            <a:off x="457200" y="4023360"/>
            <a:ext cx="8229600" cy="566928"/>
          </a:xfrm>
          <a:prstGeom prst="roundRect">
            <a:avLst>
              <a:gd name="adj" fmla="val 12903"/>
            </a:avLst>
          </a:prstGeom>
          <a:solidFill>
            <a:schemeClr val="bg2"/>
          </a:solidFill>
          <a:ln w="12700">
            <a:solidFill>
              <a:schemeClr val="bg2"/>
            </a:solidFill>
            <a:prstDash val="solid"/>
          </a:ln>
        </p:spPr>
      </p:sp>
      <p:sp>
        <p:nvSpPr>
          <p:cNvPr id="30" name="text-218"/>
          <p:cNvSpPr txBox="1"/>
          <p:nvPr/>
        </p:nvSpPr>
        <p:spPr>
          <a:xfrm>
            <a:off x="685800" y="4023360"/>
            <a:ext cx="7863840" cy="566928"/>
          </a:xfrm>
          <a:prstGeom prst="rect">
            <a:avLst/>
          </a:prstGeom>
          <a:noFill/>
          <a:ln/>
        </p:spPr>
        <p:txBody>
          <a:bodyPr wrap="square" lIns="0" tIns="0" rIns="0" bIns="0" rtlCol="0" anchor="ctr"/>
          <a:lstStyle/>
          <a:p>
            <a:pPr indent="0" marL="0">
              <a:buNone/>
            </a:pPr>
            <a:r>
              <a:rPr lang="en-US" sz="1400" b="1" dirty="0">
                <a:solidFill>
                  <a:schemeClr val="tx2"/>
                </a:solidFill>
              </a:rPr>
              <a:t>More detail: </a:t>
            </a:r>
            <a:pPr indent="0" marL="0">
              <a:buNone/>
            </a:pPr>
            <a:r>
              <a:rPr lang="en-US" sz="1400" dirty="0">
                <a:solidFill>
                  <a:schemeClr val="tx1"/>
                </a:solidFill>
              </a:rPr>
              <a:t>open the History tab. If it is empty, click "Enable All Tasks History".</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4 · LINUX</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Reading a cron Line: Five Fields + a Command</a:t>
            </a:r>
            <a:endParaRPr lang="en-US" sz="2600" dirty="0"/>
          </a:p>
        </p:txBody>
      </p:sp>
      <p:sp>
        <p:nvSpPr>
          <p:cNvPr id="5" name="card-219"/>
          <p:cNvSpPr/>
          <p:nvPr/>
        </p:nvSpPr>
        <p:spPr>
          <a:xfrm>
            <a:off x="457200" y="1371600"/>
            <a:ext cx="1078992" cy="1005840"/>
          </a:xfrm>
          <a:prstGeom prst="roundRect">
            <a:avLst>
              <a:gd name="adj" fmla="val 7273"/>
            </a:avLst>
          </a:prstGeom>
          <a:solidFill>
            <a:schemeClr val="tx2"/>
          </a:solidFill>
          <a:ln w="12700">
            <a:solidFill>
              <a:schemeClr val="tx2"/>
            </a:solidFill>
            <a:prstDash val="solid"/>
          </a:ln>
        </p:spPr>
      </p:sp>
      <p:sp>
        <p:nvSpPr>
          <p:cNvPr id="6" name="text-220"/>
          <p:cNvSpPr txBox="1"/>
          <p:nvPr/>
        </p:nvSpPr>
        <p:spPr>
          <a:xfrm>
            <a:off x="457200" y="1371600"/>
            <a:ext cx="1078992" cy="1005840"/>
          </a:xfrm>
          <a:prstGeom prst="rect">
            <a:avLst/>
          </a:prstGeom>
          <a:noFill/>
          <a:ln/>
        </p:spPr>
        <p:txBody>
          <a:bodyPr wrap="square" lIns="0" tIns="0" rIns="0" bIns="0" rtlCol="0" anchor="ctr"/>
          <a:lstStyle/>
          <a:p>
            <a:pPr algn="ctr" indent="0" marL="0">
              <a:buNone/>
            </a:pPr>
            <a:r>
              <a:rPr lang="en-US" sz="3200" b="1" dirty="0">
                <a:solidFill>
                  <a:schemeClr val="bg1"/>
                </a:solidFill>
                <a:latin typeface="Consolas" pitchFamily="34" charset="0"/>
                <a:ea typeface="Consolas" pitchFamily="34" charset="-122"/>
                <a:cs typeface="Consolas" pitchFamily="34" charset="-120"/>
              </a:rPr>
              <a:t>30</a:t>
            </a:r>
            <a:endParaRPr lang="en-US" sz="3200" dirty="0"/>
          </a:p>
        </p:txBody>
      </p:sp>
      <p:sp>
        <p:nvSpPr>
          <p:cNvPr id="7" name="text-221"/>
          <p:cNvSpPr txBox="1"/>
          <p:nvPr/>
        </p:nvSpPr>
        <p:spPr>
          <a:xfrm>
            <a:off x="411480" y="2487168"/>
            <a:ext cx="1170432" cy="274320"/>
          </a:xfrm>
          <a:prstGeom prst="rect">
            <a:avLst/>
          </a:prstGeom>
          <a:noFill/>
          <a:ln/>
        </p:spPr>
        <p:txBody>
          <a:bodyPr wrap="square" lIns="0" tIns="0" rIns="0" bIns="0" rtlCol="0" anchor="t"/>
          <a:lstStyle/>
          <a:p>
            <a:pPr algn="ctr" indent="0" marL="0">
              <a:buNone/>
            </a:pPr>
            <a:r>
              <a:rPr lang="en-US" sz="1400" b="1" dirty="0">
                <a:solidFill>
                  <a:schemeClr val="tx2"/>
                </a:solidFill>
              </a:rPr>
              <a:t>minute</a:t>
            </a:r>
            <a:endParaRPr lang="en-US" sz="1400" dirty="0"/>
          </a:p>
        </p:txBody>
      </p:sp>
      <p:sp>
        <p:nvSpPr>
          <p:cNvPr id="8" name="text-222"/>
          <p:cNvSpPr txBox="1"/>
          <p:nvPr/>
        </p:nvSpPr>
        <p:spPr>
          <a:xfrm>
            <a:off x="411480" y="2761488"/>
            <a:ext cx="1170432" cy="274320"/>
          </a:xfrm>
          <a:prstGeom prst="rect">
            <a:avLst/>
          </a:prstGeom>
          <a:noFill/>
          <a:ln/>
        </p:spPr>
        <p:txBody>
          <a:bodyPr wrap="square" lIns="0" tIns="0" rIns="0" bIns="0" rtlCol="0" anchor="t"/>
          <a:lstStyle/>
          <a:p>
            <a:pPr algn="ctr" indent="0" marL="0">
              <a:buNone/>
            </a:pPr>
            <a:r>
              <a:rPr lang="en-US" sz="1200" dirty="0">
                <a:solidFill>
                  <a:schemeClr val="accent5"/>
                </a:solidFill>
              </a:rPr>
              <a:t>0-59</a:t>
            </a:r>
            <a:endParaRPr lang="en-US" sz="1200" dirty="0"/>
          </a:p>
        </p:txBody>
      </p:sp>
      <p:sp>
        <p:nvSpPr>
          <p:cNvPr id="9" name="card-223"/>
          <p:cNvSpPr/>
          <p:nvPr/>
        </p:nvSpPr>
        <p:spPr>
          <a:xfrm>
            <a:off x="1664208" y="1371600"/>
            <a:ext cx="1078992" cy="1005840"/>
          </a:xfrm>
          <a:prstGeom prst="roundRect">
            <a:avLst>
              <a:gd name="adj" fmla="val 7273"/>
            </a:avLst>
          </a:prstGeom>
          <a:solidFill>
            <a:schemeClr val="accent2"/>
          </a:solidFill>
          <a:ln w="12700">
            <a:solidFill>
              <a:schemeClr val="accent2"/>
            </a:solidFill>
            <a:prstDash val="solid"/>
          </a:ln>
        </p:spPr>
      </p:sp>
      <p:sp>
        <p:nvSpPr>
          <p:cNvPr id="10" name="text-224"/>
          <p:cNvSpPr txBox="1"/>
          <p:nvPr/>
        </p:nvSpPr>
        <p:spPr>
          <a:xfrm>
            <a:off x="1664208" y="1371600"/>
            <a:ext cx="1078992" cy="1005840"/>
          </a:xfrm>
          <a:prstGeom prst="rect">
            <a:avLst/>
          </a:prstGeom>
          <a:noFill/>
          <a:ln/>
        </p:spPr>
        <p:txBody>
          <a:bodyPr wrap="square" lIns="0" tIns="0" rIns="0" bIns="0" rtlCol="0" anchor="ctr"/>
          <a:lstStyle/>
          <a:p>
            <a:pPr algn="ctr" indent="0" marL="0">
              <a:buNone/>
            </a:pPr>
            <a:r>
              <a:rPr lang="en-US" sz="3200" b="1" dirty="0">
                <a:solidFill>
                  <a:schemeClr val="bg1"/>
                </a:solidFill>
                <a:latin typeface="Consolas" pitchFamily="34" charset="0"/>
                <a:ea typeface="Consolas" pitchFamily="34" charset="-122"/>
                <a:cs typeface="Consolas" pitchFamily="34" charset="-120"/>
              </a:rPr>
              <a:t>18</a:t>
            </a:r>
            <a:endParaRPr lang="en-US" sz="3200" dirty="0"/>
          </a:p>
        </p:txBody>
      </p:sp>
      <p:sp>
        <p:nvSpPr>
          <p:cNvPr id="11" name="text-225"/>
          <p:cNvSpPr txBox="1"/>
          <p:nvPr/>
        </p:nvSpPr>
        <p:spPr>
          <a:xfrm>
            <a:off x="1618488" y="2487168"/>
            <a:ext cx="1170432" cy="274320"/>
          </a:xfrm>
          <a:prstGeom prst="rect">
            <a:avLst/>
          </a:prstGeom>
          <a:noFill/>
          <a:ln/>
        </p:spPr>
        <p:txBody>
          <a:bodyPr wrap="square" lIns="0" tIns="0" rIns="0" bIns="0" rtlCol="0" anchor="t"/>
          <a:lstStyle/>
          <a:p>
            <a:pPr algn="ctr" indent="0" marL="0">
              <a:buNone/>
            </a:pPr>
            <a:r>
              <a:rPr lang="en-US" sz="1400" b="1" dirty="0">
                <a:solidFill>
                  <a:schemeClr val="tx2"/>
                </a:solidFill>
              </a:rPr>
              <a:t>hour</a:t>
            </a:r>
            <a:endParaRPr lang="en-US" sz="1400" dirty="0"/>
          </a:p>
        </p:txBody>
      </p:sp>
      <p:sp>
        <p:nvSpPr>
          <p:cNvPr id="12" name="text-226"/>
          <p:cNvSpPr txBox="1"/>
          <p:nvPr/>
        </p:nvSpPr>
        <p:spPr>
          <a:xfrm>
            <a:off x="1618488" y="2761488"/>
            <a:ext cx="1170432" cy="274320"/>
          </a:xfrm>
          <a:prstGeom prst="rect">
            <a:avLst/>
          </a:prstGeom>
          <a:noFill/>
          <a:ln/>
        </p:spPr>
        <p:txBody>
          <a:bodyPr wrap="square" lIns="0" tIns="0" rIns="0" bIns="0" rtlCol="0" anchor="t"/>
          <a:lstStyle/>
          <a:p>
            <a:pPr algn="ctr" indent="0" marL="0">
              <a:buNone/>
            </a:pPr>
            <a:r>
              <a:rPr lang="en-US" sz="1200" dirty="0">
                <a:solidFill>
                  <a:schemeClr val="accent5"/>
                </a:solidFill>
              </a:rPr>
              <a:t>0-23</a:t>
            </a:r>
            <a:endParaRPr lang="en-US" sz="1200" dirty="0"/>
          </a:p>
        </p:txBody>
      </p:sp>
      <p:sp>
        <p:nvSpPr>
          <p:cNvPr id="13" name="card-227"/>
          <p:cNvSpPr/>
          <p:nvPr/>
        </p:nvSpPr>
        <p:spPr>
          <a:xfrm>
            <a:off x="2871216" y="1371600"/>
            <a:ext cx="1078992" cy="1005840"/>
          </a:xfrm>
          <a:prstGeom prst="roundRect">
            <a:avLst>
              <a:gd name="adj" fmla="val 7273"/>
            </a:avLst>
          </a:prstGeom>
          <a:solidFill>
            <a:schemeClr val="tx2"/>
          </a:solidFill>
          <a:ln w="12700">
            <a:solidFill>
              <a:schemeClr val="tx2"/>
            </a:solidFill>
            <a:prstDash val="solid"/>
          </a:ln>
        </p:spPr>
      </p:sp>
      <p:sp>
        <p:nvSpPr>
          <p:cNvPr id="14" name="text-228"/>
          <p:cNvSpPr txBox="1"/>
          <p:nvPr/>
        </p:nvSpPr>
        <p:spPr>
          <a:xfrm>
            <a:off x="2871216" y="1371600"/>
            <a:ext cx="1078992" cy="1005840"/>
          </a:xfrm>
          <a:prstGeom prst="rect">
            <a:avLst/>
          </a:prstGeom>
          <a:noFill/>
          <a:ln/>
        </p:spPr>
        <p:txBody>
          <a:bodyPr wrap="square" lIns="0" tIns="0" rIns="0" bIns="0" rtlCol="0" anchor="ctr"/>
          <a:lstStyle/>
          <a:p>
            <a:pPr algn="ctr" indent="0" marL="0">
              <a:buNone/>
            </a:pPr>
            <a:r>
              <a:rPr lang="en-US" sz="3200" b="1" dirty="0">
                <a:solidFill>
                  <a:schemeClr val="bg1"/>
                </a:solidFill>
                <a:latin typeface="Consolas" pitchFamily="34" charset="0"/>
                <a:ea typeface="Consolas" pitchFamily="34" charset="-122"/>
                <a:cs typeface="Consolas" pitchFamily="34" charset="-120"/>
              </a:rPr>
              <a:t>*</a:t>
            </a:r>
            <a:endParaRPr lang="en-US" sz="3200" dirty="0"/>
          </a:p>
        </p:txBody>
      </p:sp>
      <p:sp>
        <p:nvSpPr>
          <p:cNvPr id="15" name="text-229"/>
          <p:cNvSpPr txBox="1"/>
          <p:nvPr/>
        </p:nvSpPr>
        <p:spPr>
          <a:xfrm>
            <a:off x="2825496" y="2487168"/>
            <a:ext cx="1170432" cy="274320"/>
          </a:xfrm>
          <a:prstGeom prst="rect">
            <a:avLst/>
          </a:prstGeom>
          <a:noFill/>
          <a:ln/>
        </p:spPr>
        <p:txBody>
          <a:bodyPr wrap="square" lIns="0" tIns="0" rIns="0" bIns="0" rtlCol="0" anchor="t"/>
          <a:lstStyle/>
          <a:p>
            <a:pPr algn="ctr" indent="0" marL="0">
              <a:buNone/>
            </a:pPr>
            <a:r>
              <a:rPr lang="en-US" sz="1400" b="1" dirty="0">
                <a:solidFill>
                  <a:schemeClr val="tx2"/>
                </a:solidFill>
              </a:rPr>
              <a:t>day of month</a:t>
            </a:r>
            <a:endParaRPr lang="en-US" sz="1400" dirty="0"/>
          </a:p>
        </p:txBody>
      </p:sp>
      <p:sp>
        <p:nvSpPr>
          <p:cNvPr id="16" name="text-230"/>
          <p:cNvSpPr txBox="1"/>
          <p:nvPr/>
        </p:nvSpPr>
        <p:spPr>
          <a:xfrm>
            <a:off x="2825496" y="2761488"/>
            <a:ext cx="1170432" cy="274320"/>
          </a:xfrm>
          <a:prstGeom prst="rect">
            <a:avLst/>
          </a:prstGeom>
          <a:noFill/>
          <a:ln/>
        </p:spPr>
        <p:txBody>
          <a:bodyPr wrap="square" lIns="0" tIns="0" rIns="0" bIns="0" rtlCol="0" anchor="t"/>
          <a:lstStyle/>
          <a:p>
            <a:pPr algn="ctr" indent="0" marL="0">
              <a:buNone/>
            </a:pPr>
            <a:r>
              <a:rPr lang="en-US" sz="1200" dirty="0">
                <a:solidFill>
                  <a:schemeClr val="accent5"/>
                </a:solidFill>
              </a:rPr>
              <a:t>1-31</a:t>
            </a:r>
            <a:endParaRPr lang="en-US" sz="1200" dirty="0"/>
          </a:p>
        </p:txBody>
      </p:sp>
      <p:sp>
        <p:nvSpPr>
          <p:cNvPr id="17" name="card-231"/>
          <p:cNvSpPr/>
          <p:nvPr/>
        </p:nvSpPr>
        <p:spPr>
          <a:xfrm>
            <a:off x="4078224" y="1371600"/>
            <a:ext cx="1078992" cy="1005840"/>
          </a:xfrm>
          <a:prstGeom prst="roundRect">
            <a:avLst>
              <a:gd name="adj" fmla="val 7273"/>
            </a:avLst>
          </a:prstGeom>
          <a:solidFill>
            <a:schemeClr val="accent2"/>
          </a:solidFill>
          <a:ln w="12700">
            <a:solidFill>
              <a:schemeClr val="accent2"/>
            </a:solidFill>
            <a:prstDash val="solid"/>
          </a:ln>
        </p:spPr>
      </p:sp>
      <p:sp>
        <p:nvSpPr>
          <p:cNvPr id="18" name="text-232"/>
          <p:cNvSpPr txBox="1"/>
          <p:nvPr/>
        </p:nvSpPr>
        <p:spPr>
          <a:xfrm>
            <a:off x="4078224" y="1371600"/>
            <a:ext cx="1078992" cy="1005840"/>
          </a:xfrm>
          <a:prstGeom prst="rect">
            <a:avLst/>
          </a:prstGeom>
          <a:noFill/>
          <a:ln/>
        </p:spPr>
        <p:txBody>
          <a:bodyPr wrap="square" lIns="0" tIns="0" rIns="0" bIns="0" rtlCol="0" anchor="ctr"/>
          <a:lstStyle/>
          <a:p>
            <a:pPr algn="ctr" indent="0" marL="0">
              <a:buNone/>
            </a:pPr>
            <a:r>
              <a:rPr lang="en-US" sz="3200" b="1" dirty="0">
                <a:solidFill>
                  <a:schemeClr val="bg1"/>
                </a:solidFill>
                <a:latin typeface="Consolas" pitchFamily="34" charset="0"/>
                <a:ea typeface="Consolas" pitchFamily="34" charset="-122"/>
                <a:cs typeface="Consolas" pitchFamily="34" charset="-120"/>
              </a:rPr>
              <a:t>*</a:t>
            </a:r>
            <a:endParaRPr lang="en-US" sz="3200" dirty="0"/>
          </a:p>
        </p:txBody>
      </p:sp>
      <p:sp>
        <p:nvSpPr>
          <p:cNvPr id="19" name="text-233"/>
          <p:cNvSpPr txBox="1"/>
          <p:nvPr/>
        </p:nvSpPr>
        <p:spPr>
          <a:xfrm>
            <a:off x="4032504" y="2487168"/>
            <a:ext cx="1170432" cy="274320"/>
          </a:xfrm>
          <a:prstGeom prst="rect">
            <a:avLst/>
          </a:prstGeom>
          <a:noFill/>
          <a:ln/>
        </p:spPr>
        <p:txBody>
          <a:bodyPr wrap="square" lIns="0" tIns="0" rIns="0" bIns="0" rtlCol="0" anchor="t"/>
          <a:lstStyle/>
          <a:p>
            <a:pPr algn="ctr" indent="0" marL="0">
              <a:buNone/>
            </a:pPr>
            <a:r>
              <a:rPr lang="en-US" sz="1400" b="1" dirty="0">
                <a:solidFill>
                  <a:schemeClr val="tx2"/>
                </a:solidFill>
              </a:rPr>
              <a:t>month</a:t>
            </a:r>
            <a:endParaRPr lang="en-US" sz="1400" dirty="0"/>
          </a:p>
        </p:txBody>
      </p:sp>
      <p:sp>
        <p:nvSpPr>
          <p:cNvPr id="20" name="text-234"/>
          <p:cNvSpPr txBox="1"/>
          <p:nvPr/>
        </p:nvSpPr>
        <p:spPr>
          <a:xfrm>
            <a:off x="4032504" y="2761488"/>
            <a:ext cx="1170432" cy="274320"/>
          </a:xfrm>
          <a:prstGeom prst="rect">
            <a:avLst/>
          </a:prstGeom>
          <a:noFill/>
          <a:ln/>
        </p:spPr>
        <p:txBody>
          <a:bodyPr wrap="square" lIns="0" tIns="0" rIns="0" bIns="0" rtlCol="0" anchor="t"/>
          <a:lstStyle/>
          <a:p>
            <a:pPr algn="ctr" indent="0" marL="0">
              <a:buNone/>
            </a:pPr>
            <a:r>
              <a:rPr lang="en-US" sz="1200" dirty="0">
                <a:solidFill>
                  <a:schemeClr val="accent5"/>
                </a:solidFill>
              </a:rPr>
              <a:t>1-12</a:t>
            </a:r>
            <a:endParaRPr lang="en-US" sz="1200" dirty="0"/>
          </a:p>
        </p:txBody>
      </p:sp>
      <p:sp>
        <p:nvSpPr>
          <p:cNvPr id="21" name="card-235"/>
          <p:cNvSpPr/>
          <p:nvPr/>
        </p:nvSpPr>
        <p:spPr>
          <a:xfrm>
            <a:off x="5285232" y="1371600"/>
            <a:ext cx="1078992" cy="1005840"/>
          </a:xfrm>
          <a:prstGeom prst="roundRect">
            <a:avLst>
              <a:gd name="adj" fmla="val 7273"/>
            </a:avLst>
          </a:prstGeom>
          <a:solidFill>
            <a:schemeClr val="tx2"/>
          </a:solidFill>
          <a:ln w="12700">
            <a:solidFill>
              <a:schemeClr val="tx2"/>
            </a:solidFill>
            <a:prstDash val="solid"/>
          </a:ln>
        </p:spPr>
      </p:sp>
      <p:sp>
        <p:nvSpPr>
          <p:cNvPr id="22" name="text-236"/>
          <p:cNvSpPr txBox="1"/>
          <p:nvPr/>
        </p:nvSpPr>
        <p:spPr>
          <a:xfrm>
            <a:off x="5285232" y="1371600"/>
            <a:ext cx="1078992" cy="1005840"/>
          </a:xfrm>
          <a:prstGeom prst="rect">
            <a:avLst/>
          </a:prstGeom>
          <a:noFill/>
          <a:ln/>
        </p:spPr>
        <p:txBody>
          <a:bodyPr wrap="square" lIns="0" tIns="0" rIns="0" bIns="0" rtlCol="0" anchor="ctr"/>
          <a:lstStyle/>
          <a:p>
            <a:pPr algn="ctr" indent="0" marL="0">
              <a:buNone/>
            </a:pPr>
            <a:r>
              <a:rPr lang="en-US" sz="3200" b="1" dirty="0">
                <a:solidFill>
                  <a:schemeClr val="bg1"/>
                </a:solidFill>
                <a:latin typeface="Consolas" pitchFamily="34" charset="0"/>
                <a:ea typeface="Consolas" pitchFamily="34" charset="-122"/>
                <a:cs typeface="Consolas" pitchFamily="34" charset="-120"/>
              </a:rPr>
              <a:t>1-5</a:t>
            </a:r>
            <a:endParaRPr lang="en-US" sz="3200" dirty="0"/>
          </a:p>
        </p:txBody>
      </p:sp>
      <p:sp>
        <p:nvSpPr>
          <p:cNvPr id="23" name="text-237"/>
          <p:cNvSpPr txBox="1"/>
          <p:nvPr/>
        </p:nvSpPr>
        <p:spPr>
          <a:xfrm>
            <a:off x="5239512" y="2487168"/>
            <a:ext cx="1170432" cy="274320"/>
          </a:xfrm>
          <a:prstGeom prst="rect">
            <a:avLst/>
          </a:prstGeom>
          <a:noFill/>
          <a:ln/>
        </p:spPr>
        <p:txBody>
          <a:bodyPr wrap="square" lIns="0" tIns="0" rIns="0" bIns="0" rtlCol="0" anchor="t"/>
          <a:lstStyle/>
          <a:p>
            <a:pPr algn="ctr" indent="0" marL="0">
              <a:buNone/>
            </a:pPr>
            <a:r>
              <a:rPr lang="en-US" sz="1400" b="1" dirty="0">
                <a:solidFill>
                  <a:schemeClr val="tx2"/>
                </a:solidFill>
              </a:rPr>
              <a:t>day of week</a:t>
            </a:r>
            <a:endParaRPr lang="en-US" sz="1400" dirty="0"/>
          </a:p>
        </p:txBody>
      </p:sp>
      <p:sp>
        <p:nvSpPr>
          <p:cNvPr id="24" name="text-238"/>
          <p:cNvSpPr txBox="1"/>
          <p:nvPr/>
        </p:nvSpPr>
        <p:spPr>
          <a:xfrm>
            <a:off x="5239512" y="2761488"/>
            <a:ext cx="1170432" cy="274320"/>
          </a:xfrm>
          <a:prstGeom prst="rect">
            <a:avLst/>
          </a:prstGeom>
          <a:noFill/>
          <a:ln/>
        </p:spPr>
        <p:txBody>
          <a:bodyPr wrap="square" lIns="0" tIns="0" rIns="0" bIns="0" rtlCol="0" anchor="t"/>
          <a:lstStyle/>
          <a:p>
            <a:pPr algn="ctr" indent="0" marL="0">
              <a:buNone/>
            </a:pPr>
            <a:r>
              <a:rPr lang="en-US" sz="1200" dirty="0">
                <a:solidFill>
                  <a:schemeClr val="accent5"/>
                </a:solidFill>
              </a:rPr>
              <a:t>0-7 (0 = Sun)</a:t>
            </a:r>
            <a:endParaRPr lang="en-US" sz="1200" dirty="0"/>
          </a:p>
        </p:txBody>
      </p:sp>
      <p:sp>
        <p:nvSpPr>
          <p:cNvPr id="25" name="card-239"/>
          <p:cNvSpPr/>
          <p:nvPr/>
        </p:nvSpPr>
        <p:spPr>
          <a:xfrm>
            <a:off x="6537960" y="1371600"/>
            <a:ext cx="2148840" cy="1005840"/>
          </a:xfrm>
          <a:prstGeom prst="roundRect">
            <a:avLst>
              <a:gd name="adj" fmla="val 7273"/>
            </a:avLst>
          </a:prstGeom>
          <a:solidFill>
            <a:schemeClr val="accent1"/>
          </a:solidFill>
          <a:ln w="12700">
            <a:solidFill>
              <a:schemeClr val="accent1"/>
            </a:solidFill>
            <a:prstDash val="solid"/>
          </a:ln>
        </p:spPr>
      </p:sp>
      <p:sp>
        <p:nvSpPr>
          <p:cNvPr id="26" name="text-240"/>
          <p:cNvSpPr txBox="1"/>
          <p:nvPr/>
        </p:nvSpPr>
        <p:spPr>
          <a:xfrm>
            <a:off x="6537960" y="1371600"/>
            <a:ext cx="2148840" cy="1005840"/>
          </a:xfrm>
          <a:prstGeom prst="rect">
            <a:avLst/>
          </a:prstGeom>
          <a:noFill/>
          <a:ln/>
        </p:spPr>
        <p:txBody>
          <a:bodyPr wrap="square" lIns="0" tIns="0" rIns="0" bIns="0" rtlCol="0" anchor="ctr"/>
          <a:lstStyle/>
          <a:p>
            <a:pPr algn="ctr" indent="0" marL="0">
              <a:buNone/>
            </a:pPr>
            <a:r>
              <a:rPr lang="en-US" sz="2000" b="1" dirty="0">
                <a:solidFill>
                  <a:schemeClr val="tx2"/>
                </a:solidFill>
                <a:latin typeface="Consolas" pitchFamily="34" charset="0"/>
                <a:ea typeface="Consolas" pitchFamily="34" charset="-122"/>
                <a:cs typeface="Consolas" pitchFamily="34" charset="-120"/>
              </a:rPr>
              <a:t>backup.sh</a:t>
            </a:r>
            <a:endParaRPr lang="en-US" sz="2000" dirty="0"/>
          </a:p>
        </p:txBody>
      </p:sp>
      <p:sp>
        <p:nvSpPr>
          <p:cNvPr id="27" name="text-241"/>
          <p:cNvSpPr txBox="1"/>
          <p:nvPr/>
        </p:nvSpPr>
        <p:spPr>
          <a:xfrm>
            <a:off x="6537960" y="2487168"/>
            <a:ext cx="2148840" cy="274320"/>
          </a:xfrm>
          <a:prstGeom prst="rect">
            <a:avLst/>
          </a:prstGeom>
          <a:noFill/>
          <a:ln/>
        </p:spPr>
        <p:txBody>
          <a:bodyPr wrap="square" lIns="0" tIns="0" rIns="0" bIns="0" rtlCol="0" anchor="t"/>
          <a:lstStyle/>
          <a:p>
            <a:pPr algn="ctr" indent="0" marL="0">
              <a:buNone/>
            </a:pPr>
            <a:r>
              <a:rPr lang="en-US" sz="1400" b="1" dirty="0">
                <a:solidFill>
                  <a:schemeClr val="tx2"/>
                </a:solidFill>
              </a:rPr>
              <a:t>command</a:t>
            </a:r>
            <a:endParaRPr lang="en-US" sz="1400" dirty="0"/>
          </a:p>
        </p:txBody>
      </p:sp>
      <p:sp>
        <p:nvSpPr>
          <p:cNvPr id="28" name="text-242"/>
          <p:cNvSpPr txBox="1"/>
          <p:nvPr/>
        </p:nvSpPr>
        <p:spPr>
          <a:xfrm>
            <a:off x="6537960" y="2761488"/>
            <a:ext cx="2148840" cy="274320"/>
          </a:xfrm>
          <a:prstGeom prst="rect">
            <a:avLst/>
          </a:prstGeom>
          <a:noFill/>
          <a:ln/>
        </p:spPr>
        <p:txBody>
          <a:bodyPr wrap="square" lIns="0" tIns="0" rIns="0" bIns="0" rtlCol="0" anchor="t"/>
          <a:lstStyle/>
          <a:p>
            <a:pPr algn="ctr" indent="0" marL="0">
              <a:buNone/>
            </a:pPr>
            <a:r>
              <a:rPr lang="en-US" sz="1200" dirty="0">
                <a:solidFill>
                  <a:schemeClr val="accent5"/>
                </a:solidFill>
              </a:rPr>
              <a:t>use the full path</a:t>
            </a:r>
            <a:endParaRPr lang="en-US" sz="1200" dirty="0"/>
          </a:p>
        </p:txBody>
      </p:sp>
      <p:sp>
        <p:nvSpPr>
          <p:cNvPr id="29" name="card-243"/>
          <p:cNvSpPr/>
          <p:nvPr/>
        </p:nvSpPr>
        <p:spPr>
          <a:xfrm>
            <a:off x="457200" y="3291840"/>
            <a:ext cx="8229600" cy="1280160"/>
          </a:xfrm>
          <a:prstGeom prst="roundRect">
            <a:avLst>
              <a:gd name="adj" fmla="val 5714"/>
            </a:avLst>
          </a:prstGeom>
          <a:solidFill>
            <a:schemeClr val="bg2"/>
          </a:solidFill>
          <a:ln w="12700">
            <a:solidFill>
              <a:schemeClr val="bg2"/>
            </a:solidFill>
            <a:prstDash val="solid"/>
          </a:ln>
        </p:spPr>
      </p:sp>
      <p:sp>
        <p:nvSpPr>
          <p:cNvPr id="30" name="icon-bg-244"/>
          <p:cNvSpPr/>
          <p:nvPr/>
        </p:nvSpPr>
        <p:spPr>
          <a:xfrm>
            <a:off x="685800" y="3520440"/>
            <a:ext cx="777240" cy="777240"/>
          </a:xfrm>
          <a:prstGeom prst="ellipse">
            <a:avLst/>
          </a:prstGeom>
          <a:solidFill>
            <a:schemeClr val="accent1"/>
          </a:solidFill>
          <a:ln w="12700">
            <a:solidFill>
              <a:schemeClr val="accent1"/>
            </a:solidFill>
            <a:prstDash val="solid"/>
          </a:ln>
        </p:spPr>
      </p:sp>
      <p:pic>
        <p:nvPicPr>
          <p:cNvPr id="31" name="icon-245" descr="preencoded.png">    </p:cNvPr>
          <p:cNvPicPr>
            <a:picLocks noChangeAspect="1"/>
          </p:cNvPicPr>
          <p:nvPr/>
        </p:nvPicPr>
        <p:blipFill>
          <a:blip r:embed="rId1"/>
          <a:stretch>
            <a:fillRect/>
          </a:stretch>
        </p:blipFill>
        <p:spPr>
          <a:xfrm>
            <a:off x="880110" y="3714750"/>
            <a:ext cx="388620" cy="388620"/>
          </a:xfrm>
          <a:prstGeom prst="rect">
            <a:avLst/>
          </a:prstGeom>
        </p:spPr>
      </p:pic>
      <p:sp>
        <p:nvSpPr>
          <p:cNvPr id="32" name="text-246"/>
          <p:cNvSpPr txBox="1"/>
          <p:nvPr/>
        </p:nvSpPr>
        <p:spPr>
          <a:xfrm>
            <a:off x="1691640" y="3474720"/>
            <a:ext cx="6858000" cy="868680"/>
          </a:xfrm>
          <a:prstGeom prst="rect">
            <a:avLst/>
          </a:prstGeom>
          <a:noFill/>
          <a:ln/>
        </p:spPr>
        <p:txBody>
          <a:bodyPr wrap="square" lIns="0" tIns="0" rIns="0" bIns="0" rtlCol="0" anchor="ctr"/>
          <a:lstStyle/>
          <a:p>
            <a:pPr indent="0" marL="0">
              <a:buNone/>
            </a:pPr>
            <a:r>
              <a:rPr lang="en-US" sz="1800" b="1" dirty="0">
                <a:solidFill>
                  <a:schemeClr val="tx2"/>
                </a:solidFill>
              </a:rPr>
              <a:t>Meaning: at 6:30 PM, Monday to Friday</a:t>
            </a:r>
            <a:endParaRPr lang="en-US" sz="1400" dirty="0"/>
          </a:p>
          <a:p>
            <a:pPr indent="0" marL="0">
              <a:buNone/>
            </a:pPr>
            <a:r>
              <a:rPr lang="en-US" sz="1400" dirty="0">
                <a:solidFill>
                  <a:schemeClr val="tx1"/>
                </a:solidFill>
              </a:rPr>
              <a:t>* means "every"   ,  makes a list   -  makes a range   /  means "every so many"</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4 · LINUX</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Common cron Schedules (and One Big Mistake)</a:t>
            </a:r>
            <a:endParaRPr lang="en-US" sz="2600" dirty="0"/>
          </a:p>
        </p:txBody>
      </p:sp>
      <p:graphicFrame>
        <p:nvGraphicFramePr>
          <p:cNvPr id="13" name="cron-table"/>
          <p:cNvGraphicFramePr>
            <a:graphicFrameLocks noGrp="1"/>
          </p:cNvGraphicFramePr>
          <p:nvPr>
            <p:extLst>
              <p:ext uri="{D42A27DB-BD31-4B8C-83A1-F6EECF244321}">
                <p14:modId xmlns:p14="http://schemas.microsoft.com/office/powerpoint/2010/main" val="1579011935"/>
              </p:ext>
            </p:extLst>
          </p:nvPr>
        </p:nvGraphicFramePr>
        <p:xfrm>
          <a:off x="457200" y="1325880"/>
          <a:ext cx="4754880" cy="914400"/>
        </p:xfrm>
        <a:graphic>
          <a:graphicData uri="http://schemas.openxmlformats.org/drawingml/2006/table">
            <a:tbl>
              <a:tblPr/>
              <a:tblGrid>
                <a:gridCol w="2011680"/>
                <a:gridCol w="2743200"/>
              </a:tblGrid>
              <a:tr h="438912">
                <a:tc>
                  <a:txBody>
                    <a:bodyPr/>
                    <a:lstStyle/>
                    <a:p>
                      <a:pPr indent="0" marL="0">
                        <a:buNone/>
                      </a:pPr>
                      <a:r>
                        <a:rPr lang="en-US" sz="1400" b="1" dirty="0">
                          <a:solidFill>
                            <a:schemeClr val="bg1"/>
                          </a:solidFill>
                        </a:rPr>
                        <a:t>Cron expression</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Meaning</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r>
              <a:tr h="438912">
                <a:tc>
                  <a:txBody>
                    <a:bodyPr/>
                    <a:lstStyle/>
                    <a:p>
                      <a:pPr indent="0" marL="0">
                        <a:buNone/>
                      </a:pPr>
                      <a:r>
                        <a:rPr lang="en-US" sz="1400" b="1" dirty="0">
                          <a:solidFill>
                            <a:schemeClr val="tx2"/>
                          </a:solidFill>
                          <a:latin typeface="Consolas" pitchFamily="34" charset="0"/>
                          <a:ea typeface="Consolas" pitchFamily="34" charset="-122"/>
                          <a:cs typeface="Consolas" pitchFamily="34" charset="-120"/>
                        </a:rPr>
                        <a:t>*/15 * * * *</a:t>
                      </a:r>
                      <a:endParaRPr lang="en-US" sz="1400" dirty="0">
                        <a:latin typeface="Consolas" charset="0"/>
                        <a:ea typeface="Consolas" charset="0"/>
                        <a:cs typeface="Consolas" charset="0"/>
                      </a:endParaRPr>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Every 15 minutes</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r>
              <a:tr h="438912">
                <a:tc>
                  <a:txBody>
                    <a:bodyPr/>
                    <a:lstStyle/>
                    <a:p>
                      <a:pPr indent="0" marL="0">
                        <a:buNone/>
                      </a:pPr>
                      <a:r>
                        <a:rPr lang="en-US" sz="1400" b="1" dirty="0">
                          <a:solidFill>
                            <a:schemeClr val="tx2"/>
                          </a:solidFill>
                          <a:latin typeface="Consolas" pitchFamily="34" charset="0"/>
                          <a:ea typeface="Consolas" pitchFamily="34" charset="-122"/>
                          <a:cs typeface="Consolas" pitchFamily="34" charset="-120"/>
                        </a:rPr>
                        <a:t>0 * * * *</a:t>
                      </a:r>
                      <a:endParaRPr lang="en-US" sz="1400" dirty="0">
                        <a:latin typeface="Consolas" charset="0"/>
                        <a:ea typeface="Consolas" charset="0"/>
                        <a:cs typeface="Consolas" charset="0"/>
                      </a:endParaRPr>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Every hour</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tx2"/>
                          </a:solidFill>
                          <a:latin typeface="Consolas" pitchFamily="34" charset="0"/>
                          <a:ea typeface="Consolas" pitchFamily="34" charset="-122"/>
                          <a:cs typeface="Consolas" pitchFamily="34" charset="-120"/>
                        </a:rPr>
                        <a:t>0 2 * * *</a:t>
                      </a:r>
                      <a:endParaRPr lang="en-US" sz="1400" dirty="0">
                        <a:latin typeface="Consolas" charset="0"/>
                        <a:ea typeface="Consolas" charset="0"/>
                        <a:cs typeface="Consolas" charset="0"/>
                      </a:endParaRPr>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Every day at 2:00 AM</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r>
              <a:tr h="438912">
                <a:tc>
                  <a:txBody>
                    <a:bodyPr/>
                    <a:lstStyle/>
                    <a:p>
                      <a:pPr indent="0" marL="0">
                        <a:buNone/>
                      </a:pPr>
                      <a:r>
                        <a:rPr lang="en-US" sz="1400" b="1" dirty="0">
                          <a:solidFill>
                            <a:schemeClr val="tx2"/>
                          </a:solidFill>
                          <a:latin typeface="Consolas" pitchFamily="34" charset="0"/>
                          <a:ea typeface="Consolas" pitchFamily="34" charset="-122"/>
                          <a:cs typeface="Consolas" pitchFamily="34" charset="-120"/>
                        </a:rPr>
                        <a:t>30 18 * * 1-5</a:t>
                      </a:r>
                      <a:endParaRPr lang="en-US" sz="1400" dirty="0">
                        <a:latin typeface="Consolas" charset="0"/>
                        <a:ea typeface="Consolas" charset="0"/>
                        <a:cs typeface="Consolas" charset="0"/>
                      </a:endParaRPr>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Weekdays at 6:30 PM</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tx2"/>
                          </a:solidFill>
                          <a:latin typeface="Consolas" pitchFamily="34" charset="0"/>
                          <a:ea typeface="Consolas" pitchFamily="34" charset="-122"/>
                          <a:cs typeface="Consolas" pitchFamily="34" charset="-120"/>
                        </a:rPr>
                        <a:t>0 3 * * 0</a:t>
                      </a:r>
                      <a:endParaRPr lang="en-US" sz="1400" dirty="0">
                        <a:latin typeface="Consolas" charset="0"/>
                        <a:ea typeface="Consolas" charset="0"/>
                        <a:cs typeface="Consolas" charset="0"/>
                      </a:endParaRPr>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Sundays at 3:00 AM</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r>
              <a:tr h="438912">
                <a:tc>
                  <a:txBody>
                    <a:bodyPr/>
                    <a:lstStyle/>
                    <a:p>
                      <a:pPr indent="0" marL="0">
                        <a:buNone/>
                      </a:pPr>
                      <a:r>
                        <a:rPr lang="en-US" sz="1400" b="1" dirty="0">
                          <a:solidFill>
                            <a:schemeClr val="tx2"/>
                          </a:solidFill>
                          <a:latin typeface="Consolas" pitchFamily="34" charset="0"/>
                          <a:ea typeface="Consolas" pitchFamily="34" charset="-122"/>
                          <a:cs typeface="Consolas" pitchFamily="34" charset="-120"/>
                        </a:rPr>
                        <a:t>0 0 1 * *</a:t>
                      </a:r>
                      <a:endParaRPr lang="en-US" sz="1400" dirty="0">
                        <a:latin typeface="Consolas" charset="0"/>
                        <a:ea typeface="Consolas" charset="0"/>
                        <a:cs typeface="Consolas" charset="0"/>
                      </a:endParaRPr>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First day of every month</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bl>
          </a:graphicData>
        </a:graphic>
      </p:graphicFrame>
      <p:sp>
        <p:nvSpPr>
          <p:cNvPr id="6" name="card-247"/>
          <p:cNvSpPr/>
          <p:nvPr/>
        </p:nvSpPr>
        <p:spPr>
          <a:xfrm>
            <a:off x="5486400" y="1325880"/>
            <a:ext cx="3200400" cy="3108960"/>
          </a:xfrm>
          <a:prstGeom prst="roundRect">
            <a:avLst>
              <a:gd name="adj" fmla="val 2353"/>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7" name="icon-bg-248"/>
          <p:cNvSpPr/>
          <p:nvPr/>
        </p:nvSpPr>
        <p:spPr>
          <a:xfrm>
            <a:off x="5715000" y="1536192"/>
            <a:ext cx="640080" cy="640080"/>
          </a:xfrm>
          <a:prstGeom prst="ellipse">
            <a:avLst/>
          </a:prstGeom>
          <a:solidFill>
            <a:schemeClr val="accent3"/>
          </a:solidFill>
          <a:ln w="12700">
            <a:solidFill>
              <a:schemeClr val="accent3"/>
            </a:solidFill>
            <a:prstDash val="solid"/>
          </a:ln>
        </p:spPr>
      </p:sp>
      <p:pic>
        <p:nvPicPr>
          <p:cNvPr id="8" name="icon-249" descr="preencoded.png">    </p:cNvPr>
          <p:cNvPicPr>
            <a:picLocks noChangeAspect="1"/>
          </p:cNvPicPr>
          <p:nvPr/>
        </p:nvPicPr>
        <p:blipFill>
          <a:blip r:embed="rId1"/>
          <a:stretch>
            <a:fillRect/>
          </a:stretch>
        </p:blipFill>
        <p:spPr>
          <a:xfrm>
            <a:off x="5875020" y="1696212"/>
            <a:ext cx="320040" cy="320040"/>
          </a:xfrm>
          <a:prstGeom prst="rect">
            <a:avLst/>
          </a:prstGeom>
        </p:spPr>
      </p:pic>
      <p:sp>
        <p:nvSpPr>
          <p:cNvPr id="9" name="text-250"/>
          <p:cNvSpPr txBox="1"/>
          <p:nvPr/>
        </p:nvSpPr>
        <p:spPr>
          <a:xfrm>
            <a:off x="6492240" y="1581912"/>
            <a:ext cx="2011680" cy="548640"/>
          </a:xfrm>
          <a:prstGeom prst="rect">
            <a:avLst/>
          </a:prstGeom>
          <a:noFill/>
          <a:ln/>
        </p:spPr>
        <p:txBody>
          <a:bodyPr wrap="square" lIns="0" tIns="0" rIns="0" bIns="0" rtlCol="0" anchor="ctr"/>
          <a:lstStyle/>
          <a:p>
            <a:pPr indent="0" marL="0">
              <a:buNone/>
            </a:pPr>
            <a:r>
              <a:rPr lang="en-US" sz="1700" b="1" dirty="0">
                <a:solidFill>
                  <a:schemeClr val="accent3"/>
                </a:solidFill>
              </a:rPr>
              <a:t>Common mistake</a:t>
            </a:r>
            <a:endParaRPr lang="en-US" sz="1700" dirty="0"/>
          </a:p>
        </p:txBody>
      </p:sp>
      <p:sp>
        <p:nvSpPr>
          <p:cNvPr id="10" name="text-251"/>
          <p:cNvSpPr txBox="1"/>
          <p:nvPr/>
        </p:nvSpPr>
        <p:spPr>
          <a:xfrm>
            <a:off x="5715000" y="2331720"/>
            <a:ext cx="1097280" cy="274320"/>
          </a:xfrm>
          <a:prstGeom prst="rect">
            <a:avLst/>
          </a:prstGeom>
          <a:noFill/>
          <a:ln/>
        </p:spPr>
        <p:txBody>
          <a:bodyPr wrap="square" lIns="0" tIns="0" rIns="0" bIns="0" rtlCol="0" anchor="t"/>
          <a:lstStyle/>
          <a:p>
            <a:pPr indent="0" marL="0">
              <a:buNone/>
            </a:pPr>
            <a:r>
              <a:rPr lang="en-US" sz="1300" b="1" dirty="0">
                <a:solidFill>
                  <a:schemeClr val="accent5"/>
                </a:solidFill>
              </a:rPr>
              <a:t>Wrong</a:t>
            </a:r>
            <a:endParaRPr lang="en-US" sz="1300" dirty="0"/>
          </a:p>
        </p:txBody>
      </p:sp>
      <p:sp>
        <p:nvSpPr>
          <p:cNvPr id="11" name="text-252"/>
          <p:cNvSpPr txBox="1"/>
          <p:nvPr/>
        </p:nvSpPr>
        <p:spPr>
          <a:xfrm>
            <a:off x="5715000" y="2587752"/>
            <a:ext cx="2743200" cy="329184"/>
          </a:xfrm>
          <a:prstGeom prst="rect">
            <a:avLst/>
          </a:prstGeom>
          <a:noFill/>
          <a:ln/>
        </p:spPr>
        <p:txBody>
          <a:bodyPr wrap="square" lIns="0" tIns="0" rIns="0" bIns="0" rtlCol="0" anchor="t"/>
          <a:lstStyle/>
          <a:p>
            <a:pPr indent="0" marL="0">
              <a:buNone/>
            </a:pPr>
            <a:r>
              <a:rPr lang="en-US" sz="1800" b="1" dirty="0">
                <a:solidFill>
                  <a:schemeClr val="accent3"/>
                </a:solidFill>
                <a:latin typeface="Consolas" pitchFamily="34" charset="0"/>
                <a:ea typeface="Consolas" pitchFamily="34" charset="-122"/>
                <a:cs typeface="Consolas" pitchFamily="34" charset="-120"/>
              </a:rPr>
              <a:t>* 2 * * *</a:t>
            </a:r>
            <a:endParaRPr lang="en-US" sz="1800" dirty="0"/>
          </a:p>
        </p:txBody>
      </p:sp>
      <p:sp>
        <p:nvSpPr>
          <p:cNvPr id="12" name="text-253"/>
          <p:cNvSpPr txBox="1"/>
          <p:nvPr/>
        </p:nvSpPr>
        <p:spPr>
          <a:xfrm>
            <a:off x="5715000" y="2926080"/>
            <a:ext cx="2788920" cy="457200"/>
          </a:xfrm>
          <a:prstGeom prst="rect">
            <a:avLst/>
          </a:prstGeom>
          <a:noFill/>
          <a:ln/>
        </p:spPr>
        <p:txBody>
          <a:bodyPr wrap="square" lIns="0" tIns="0" rIns="0" bIns="0" rtlCol="0" anchor="t"/>
          <a:lstStyle/>
          <a:p>
            <a:pPr indent="0" marL="0">
              <a:buNone/>
            </a:pPr>
            <a:r>
              <a:rPr lang="en-US" sz="1300" dirty="0">
                <a:solidFill>
                  <a:schemeClr val="tx1"/>
                </a:solidFill>
              </a:rPr>
              <a:t>Runs every minute from 2:00 to 2:59 (60 times!)</a:t>
            </a:r>
            <a:endParaRPr lang="en-US" sz="1300" dirty="0"/>
          </a:p>
        </p:txBody>
      </p:sp>
      <p:sp>
        <p:nvSpPr>
          <p:cNvPr id="13" name="text-254"/>
          <p:cNvSpPr txBox="1"/>
          <p:nvPr/>
        </p:nvSpPr>
        <p:spPr>
          <a:xfrm>
            <a:off x="5715000" y="3493008"/>
            <a:ext cx="1097280" cy="274320"/>
          </a:xfrm>
          <a:prstGeom prst="rect">
            <a:avLst/>
          </a:prstGeom>
          <a:noFill/>
          <a:ln/>
        </p:spPr>
        <p:txBody>
          <a:bodyPr wrap="square" lIns="0" tIns="0" rIns="0" bIns="0" rtlCol="0" anchor="t"/>
          <a:lstStyle/>
          <a:p>
            <a:pPr indent="0" marL="0">
              <a:buNone/>
            </a:pPr>
            <a:r>
              <a:rPr lang="en-US" sz="1300" b="1" dirty="0">
                <a:solidFill>
                  <a:schemeClr val="accent5"/>
                </a:solidFill>
              </a:rPr>
              <a:t>Right</a:t>
            </a:r>
            <a:endParaRPr lang="en-US" sz="1300" dirty="0"/>
          </a:p>
        </p:txBody>
      </p:sp>
      <p:sp>
        <p:nvSpPr>
          <p:cNvPr id="14" name="text-255"/>
          <p:cNvSpPr txBox="1"/>
          <p:nvPr/>
        </p:nvSpPr>
        <p:spPr>
          <a:xfrm>
            <a:off x="5715000" y="3749040"/>
            <a:ext cx="2743200" cy="329184"/>
          </a:xfrm>
          <a:prstGeom prst="rect">
            <a:avLst/>
          </a:prstGeom>
          <a:noFill/>
          <a:ln/>
        </p:spPr>
        <p:txBody>
          <a:bodyPr wrap="square" lIns="0" tIns="0" rIns="0" bIns="0" rtlCol="0" anchor="t"/>
          <a:lstStyle/>
          <a:p>
            <a:pPr indent="0" marL="0">
              <a:buNone/>
            </a:pPr>
            <a:r>
              <a:rPr lang="en-US" sz="1800" b="1" dirty="0">
                <a:solidFill>
                  <a:schemeClr val="accent2"/>
                </a:solidFill>
                <a:latin typeface="Consolas" pitchFamily="34" charset="0"/>
                <a:ea typeface="Consolas" pitchFamily="34" charset="-122"/>
                <a:cs typeface="Consolas" pitchFamily="34" charset="-120"/>
              </a:rPr>
              <a:t>0 2 * * *</a:t>
            </a:r>
            <a:endParaRPr lang="en-US" sz="18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4 · LINUX</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cron for Repeating Jobs, at for One-Time Jobs</a:t>
            </a:r>
            <a:endParaRPr lang="en-US" sz="2600" dirty="0"/>
          </a:p>
        </p:txBody>
      </p:sp>
      <p:sp>
        <p:nvSpPr>
          <p:cNvPr id="5" name="icon-bg-256"/>
          <p:cNvSpPr/>
          <p:nvPr/>
        </p:nvSpPr>
        <p:spPr>
          <a:xfrm>
            <a:off x="457200" y="1325880"/>
            <a:ext cx="548640" cy="548640"/>
          </a:xfrm>
          <a:prstGeom prst="ellipse">
            <a:avLst/>
          </a:prstGeom>
          <a:solidFill>
            <a:schemeClr val="tx2"/>
          </a:solidFill>
          <a:ln w="12700">
            <a:solidFill>
              <a:schemeClr val="tx2"/>
            </a:solidFill>
            <a:prstDash val="solid"/>
          </a:ln>
        </p:spPr>
      </p:sp>
      <p:pic>
        <p:nvPicPr>
          <p:cNvPr id="6" name="icon-257" descr="preencoded.png">    </p:cNvPr>
          <p:cNvPicPr>
            <a:picLocks noChangeAspect="1"/>
          </p:cNvPicPr>
          <p:nvPr/>
        </p:nvPicPr>
        <p:blipFill>
          <a:blip r:embed="rId1"/>
          <a:stretch>
            <a:fillRect/>
          </a:stretch>
        </p:blipFill>
        <p:spPr>
          <a:xfrm>
            <a:off x="594360" y="1463040"/>
            <a:ext cx="274320" cy="274320"/>
          </a:xfrm>
          <a:prstGeom prst="rect">
            <a:avLst/>
          </a:prstGeom>
        </p:spPr>
      </p:pic>
      <p:sp>
        <p:nvSpPr>
          <p:cNvPr id="7" name="text-258"/>
          <p:cNvSpPr txBox="1"/>
          <p:nvPr/>
        </p:nvSpPr>
        <p:spPr>
          <a:xfrm>
            <a:off x="1143000" y="1325880"/>
            <a:ext cx="3200400" cy="548640"/>
          </a:xfrm>
          <a:prstGeom prst="rect">
            <a:avLst/>
          </a:prstGeom>
          <a:noFill/>
          <a:ln/>
        </p:spPr>
        <p:txBody>
          <a:bodyPr wrap="square" lIns="0" tIns="0" rIns="0" bIns="0" rtlCol="0" anchor="ctr"/>
          <a:lstStyle/>
          <a:p>
            <a:pPr indent="0" marL="0">
              <a:buNone/>
            </a:pPr>
            <a:r>
              <a:rPr lang="en-US" sz="1800" b="1" dirty="0">
                <a:solidFill>
                  <a:schemeClr val="tx2"/>
                </a:solidFill>
              </a:rPr>
              <a:t>cron: repeating jobs</a:t>
            </a:r>
            <a:endParaRPr lang="en-US" sz="1800" dirty="0"/>
          </a:p>
        </p:txBody>
      </p:sp>
      <p:sp>
        <p:nvSpPr>
          <p:cNvPr id="8" name="code-bg-259"/>
          <p:cNvSpPr/>
          <p:nvPr/>
        </p:nvSpPr>
        <p:spPr>
          <a:xfrm>
            <a:off x="457200" y="2011680"/>
            <a:ext cx="3977640" cy="1920240"/>
          </a:xfrm>
          <a:prstGeom prst="roundRect">
            <a:avLst>
              <a:gd name="adj" fmla="val 2857"/>
            </a:avLst>
          </a:prstGeom>
          <a:solidFill>
            <a:schemeClr val="tx2"/>
          </a:solidFill>
          <a:ln w="12700">
            <a:solidFill>
              <a:schemeClr val="tx2"/>
            </a:solidFill>
            <a:prstDash val="solid"/>
          </a:ln>
        </p:spPr>
      </p:sp>
      <p:sp>
        <p:nvSpPr>
          <p:cNvPr id="9" name="code-260"/>
          <p:cNvSpPr txBox="1"/>
          <p:nvPr/>
        </p:nvSpPr>
        <p:spPr>
          <a:xfrm>
            <a:off x="621792" y="2139696"/>
            <a:ext cx="3648456" cy="1664208"/>
          </a:xfrm>
          <a:prstGeom prst="rect">
            <a:avLst/>
          </a:prstGeom>
          <a:noFill/>
          <a:ln/>
        </p:spPr>
        <p:txBody>
          <a:bodyPr wrap="square" lIns="0" tIns="0" rIns="0" bIns="0" rtlCol="0" anchor="t"/>
          <a:lstStyle/>
          <a:p>
            <a:pPr indent="0" marL="0">
              <a:buNone/>
            </a:pPr>
            <a:r>
              <a:rPr lang="en-US" sz="1200" dirty="0">
                <a:solidFill>
                  <a:schemeClr val="bg1"/>
                </a:solidFill>
                <a:latin typeface="Consolas" pitchFamily="34" charset="0"/>
                <a:ea typeface="Consolas" pitchFamily="34" charset="-122"/>
                <a:cs typeface="Consolas" pitchFamily="34" charset="-120"/>
              </a:rPr>
              <a:t>crontab -e    # edit your jobs</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crontab -l    # list your jobs</a:t>
            </a:r>
            <a:endParaRPr lang="en-US" sz="1200" dirty="0"/>
          </a:p>
          <a:p>
            <a:pPr indent="0" marL="0">
              <a:buNone/>
            </a:pPr>
            <a:endParaRPr lang="en-US" sz="1200" dirty="0"/>
          </a:p>
          <a:p>
            <a:pPr indent="0" marL="0">
              <a:buNone/>
            </a:pPr>
            <a:r>
              <a:rPr lang="en-US" sz="1200" dirty="0">
                <a:solidFill>
                  <a:schemeClr val="accent5"/>
                </a:solidFill>
                <a:latin typeface="Consolas" pitchFamily="34" charset="0"/>
                <a:ea typeface="Consolas" pitchFamily="34" charset="-122"/>
                <a:cs typeface="Consolas" pitchFamily="34" charset="-120"/>
              </a:rPr>
              <a:t># Every night at 1:30 AM</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30 1 * * * /home/student/backup.sh</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  &gt;&gt; /home/student/backup.log 2&gt;&amp;1</a:t>
            </a:r>
            <a:endParaRPr lang="en-US" sz="1200" dirty="0"/>
          </a:p>
        </p:txBody>
      </p:sp>
      <p:sp>
        <p:nvSpPr>
          <p:cNvPr id="10" name="icon-bg-261"/>
          <p:cNvSpPr/>
          <p:nvPr/>
        </p:nvSpPr>
        <p:spPr>
          <a:xfrm>
            <a:off x="4709160" y="1325880"/>
            <a:ext cx="548640" cy="548640"/>
          </a:xfrm>
          <a:prstGeom prst="ellipse">
            <a:avLst/>
          </a:prstGeom>
          <a:solidFill>
            <a:schemeClr val="accent2"/>
          </a:solidFill>
          <a:ln w="12700">
            <a:solidFill>
              <a:schemeClr val="accent2"/>
            </a:solidFill>
            <a:prstDash val="solid"/>
          </a:ln>
        </p:spPr>
      </p:sp>
      <p:pic>
        <p:nvPicPr>
          <p:cNvPr id="11" name="icon-262" descr="preencoded.png">    </p:cNvPr>
          <p:cNvPicPr>
            <a:picLocks noChangeAspect="1"/>
          </p:cNvPicPr>
          <p:nvPr/>
        </p:nvPicPr>
        <p:blipFill>
          <a:blip r:embed="rId2"/>
          <a:stretch>
            <a:fillRect/>
          </a:stretch>
        </p:blipFill>
        <p:spPr>
          <a:xfrm>
            <a:off x="4846320" y="1463040"/>
            <a:ext cx="274320" cy="274320"/>
          </a:xfrm>
          <a:prstGeom prst="rect">
            <a:avLst/>
          </a:prstGeom>
        </p:spPr>
      </p:pic>
      <p:sp>
        <p:nvSpPr>
          <p:cNvPr id="12" name="text-263"/>
          <p:cNvSpPr txBox="1"/>
          <p:nvPr/>
        </p:nvSpPr>
        <p:spPr>
          <a:xfrm>
            <a:off x="5394960" y="1325880"/>
            <a:ext cx="3200400" cy="548640"/>
          </a:xfrm>
          <a:prstGeom prst="rect">
            <a:avLst/>
          </a:prstGeom>
          <a:noFill/>
          <a:ln/>
        </p:spPr>
        <p:txBody>
          <a:bodyPr wrap="square" lIns="0" tIns="0" rIns="0" bIns="0" rtlCol="0" anchor="ctr"/>
          <a:lstStyle/>
          <a:p>
            <a:pPr indent="0" marL="0">
              <a:buNone/>
            </a:pPr>
            <a:r>
              <a:rPr lang="en-US" sz="1800" b="1" dirty="0">
                <a:solidFill>
                  <a:schemeClr val="tx2"/>
                </a:solidFill>
              </a:rPr>
              <a:t>at: one-time jobs</a:t>
            </a:r>
            <a:endParaRPr lang="en-US" sz="1800" dirty="0"/>
          </a:p>
        </p:txBody>
      </p:sp>
      <p:sp>
        <p:nvSpPr>
          <p:cNvPr id="13" name="code-bg-264"/>
          <p:cNvSpPr/>
          <p:nvPr/>
        </p:nvSpPr>
        <p:spPr>
          <a:xfrm>
            <a:off x="4709160" y="2011680"/>
            <a:ext cx="3977640" cy="1920240"/>
          </a:xfrm>
          <a:prstGeom prst="roundRect">
            <a:avLst>
              <a:gd name="adj" fmla="val 2857"/>
            </a:avLst>
          </a:prstGeom>
          <a:solidFill>
            <a:schemeClr val="tx2"/>
          </a:solidFill>
          <a:ln w="12700">
            <a:solidFill>
              <a:schemeClr val="tx2"/>
            </a:solidFill>
            <a:prstDash val="solid"/>
          </a:ln>
        </p:spPr>
      </p:sp>
      <p:sp>
        <p:nvSpPr>
          <p:cNvPr id="14" name="code-265"/>
          <p:cNvSpPr txBox="1"/>
          <p:nvPr/>
        </p:nvSpPr>
        <p:spPr>
          <a:xfrm>
            <a:off x="4873752" y="2139696"/>
            <a:ext cx="3648456" cy="1664208"/>
          </a:xfrm>
          <a:prstGeom prst="rect">
            <a:avLst/>
          </a:prstGeom>
          <a:noFill/>
          <a:ln/>
        </p:spPr>
        <p:txBody>
          <a:bodyPr wrap="square" lIns="0" tIns="0" rIns="0" bIns="0" rtlCol="0" anchor="t"/>
          <a:lstStyle/>
          <a:p>
            <a:pPr indent="0" marL="0">
              <a:buNone/>
            </a:pPr>
            <a:r>
              <a:rPr lang="en-US" sz="1200" dirty="0">
                <a:solidFill>
                  <a:schemeClr val="bg1"/>
                </a:solidFill>
                <a:latin typeface="Consolas" pitchFamily="34" charset="0"/>
                <a:ea typeface="Consolas" pitchFamily="34" charset="-122"/>
                <a:cs typeface="Consolas" pitchFamily="34" charset="-120"/>
              </a:rPr>
              <a:t>at 23:00         # then type the command</a:t>
            </a:r>
            <a:endParaRPr lang="en-US" sz="1200" dirty="0"/>
          </a:p>
          <a:p>
            <a:pPr indent="0" marL="0">
              <a:buNone/>
            </a:pPr>
            <a:r>
              <a:rPr lang="en-US" sz="1200" dirty="0">
                <a:solidFill>
                  <a:schemeClr val="accent5"/>
                </a:solidFill>
                <a:latin typeface="Consolas" pitchFamily="34" charset="0"/>
                <a:ea typeface="Consolas" pitchFamily="34" charset="-122"/>
                <a:cs typeface="Consolas" pitchFamily="34" charset="-120"/>
              </a:rPr>
              <a:t>                  # and press Ctrl+D</a:t>
            </a:r>
            <a:endParaRPr lang="en-US" sz="1200" dirty="0"/>
          </a:p>
          <a:p>
            <a:pPr indent="0" marL="0">
              <a:buNone/>
            </a:pP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echo "/home/student/report.sh" |</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  at now + 2 hours</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atq               # list waiting jobs</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atrm 3            # remove job 3</a:t>
            </a:r>
            <a:endParaRPr lang="en-US" sz="1200" dirty="0"/>
          </a:p>
        </p:txBody>
      </p:sp>
      <p:sp>
        <p:nvSpPr>
          <p:cNvPr id="15" name="text-266"/>
          <p:cNvSpPr txBox="1"/>
          <p:nvPr/>
        </p:nvSpPr>
        <p:spPr>
          <a:xfrm>
            <a:off x="457200" y="4224528"/>
            <a:ext cx="8229600" cy="365760"/>
          </a:xfrm>
          <a:prstGeom prst="rect">
            <a:avLst/>
          </a:prstGeom>
          <a:noFill/>
          <a:ln/>
        </p:spPr>
        <p:txBody>
          <a:bodyPr wrap="square" lIns="0" tIns="0" rIns="0" bIns="0" rtlCol="0" anchor="ctr"/>
          <a:lstStyle/>
          <a:p>
            <a:pPr indent="0" marL="0">
              <a:buNone/>
            </a:pPr>
            <a:r>
              <a:rPr lang="en-US" sz="1400" b="1" dirty="0">
                <a:solidFill>
                  <a:schemeClr val="accent3"/>
                </a:solidFill>
              </a:rPr>
              <a:t>Careful: </a:t>
            </a:r>
            <a:pPr indent="0" marL="0">
              <a:buNone/>
            </a:pPr>
            <a:r>
              <a:rPr lang="en-US" sz="1400" dirty="0">
                <a:solidFill>
                  <a:schemeClr val="tx1"/>
                </a:solidFill>
              </a:rPr>
              <a:t>crontab -r deletes ALL your cron jobs without asking. Edit with crontab -e instead.</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5 · SCRIPTING</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Scripts Do the Real Work: PowerShell and Bash</a:t>
            </a:r>
            <a:endParaRPr lang="en-US" sz="2600" dirty="0"/>
          </a:p>
        </p:txBody>
      </p:sp>
      <p:sp>
        <p:nvSpPr>
          <p:cNvPr id="5" name="icon-bg-267"/>
          <p:cNvSpPr/>
          <p:nvPr/>
        </p:nvSpPr>
        <p:spPr>
          <a:xfrm>
            <a:off x="457200" y="1325880"/>
            <a:ext cx="548640" cy="548640"/>
          </a:xfrm>
          <a:prstGeom prst="ellipse">
            <a:avLst/>
          </a:prstGeom>
          <a:solidFill>
            <a:schemeClr val="accent4"/>
          </a:solidFill>
          <a:ln w="12700">
            <a:solidFill>
              <a:schemeClr val="accent4"/>
            </a:solidFill>
            <a:prstDash val="solid"/>
          </a:ln>
        </p:spPr>
      </p:sp>
      <p:pic>
        <p:nvPicPr>
          <p:cNvPr id="6" name="icon-268" descr="preencoded.png">    </p:cNvPr>
          <p:cNvPicPr>
            <a:picLocks noChangeAspect="1"/>
          </p:cNvPicPr>
          <p:nvPr/>
        </p:nvPicPr>
        <p:blipFill>
          <a:blip r:embed="rId1"/>
          <a:stretch>
            <a:fillRect/>
          </a:stretch>
        </p:blipFill>
        <p:spPr>
          <a:xfrm>
            <a:off x="594360" y="1463040"/>
            <a:ext cx="274320" cy="274320"/>
          </a:xfrm>
          <a:prstGeom prst="rect">
            <a:avLst/>
          </a:prstGeom>
        </p:spPr>
      </p:pic>
      <p:sp>
        <p:nvSpPr>
          <p:cNvPr id="7" name="text-269"/>
          <p:cNvSpPr txBox="1"/>
          <p:nvPr/>
        </p:nvSpPr>
        <p:spPr>
          <a:xfrm>
            <a:off x="1143000" y="1298448"/>
            <a:ext cx="3291840" cy="320040"/>
          </a:xfrm>
          <a:prstGeom prst="rect">
            <a:avLst/>
          </a:prstGeom>
          <a:noFill/>
          <a:ln/>
        </p:spPr>
        <p:txBody>
          <a:bodyPr wrap="square" lIns="0" tIns="0" rIns="0" bIns="0" rtlCol="0" anchor="t"/>
          <a:lstStyle/>
          <a:p>
            <a:pPr indent="0" marL="0">
              <a:buNone/>
            </a:pPr>
            <a:r>
              <a:rPr lang="en-US" sz="1800" b="1" dirty="0">
                <a:solidFill>
                  <a:schemeClr val="tx2"/>
                </a:solidFill>
              </a:rPr>
              <a:t>PowerShell (Windows)</a:t>
            </a:r>
            <a:endParaRPr lang="en-US" sz="1800" dirty="0"/>
          </a:p>
        </p:txBody>
      </p:sp>
      <p:sp>
        <p:nvSpPr>
          <p:cNvPr id="8" name="text-270"/>
          <p:cNvSpPr txBox="1"/>
          <p:nvPr/>
        </p:nvSpPr>
        <p:spPr>
          <a:xfrm>
            <a:off x="1143000" y="1618488"/>
            <a:ext cx="3291840" cy="274320"/>
          </a:xfrm>
          <a:prstGeom prst="rect">
            <a:avLst/>
          </a:prstGeom>
          <a:noFill/>
          <a:ln/>
        </p:spPr>
        <p:txBody>
          <a:bodyPr wrap="square" lIns="0" tIns="0" rIns="0" bIns="0" rtlCol="0" anchor="t"/>
          <a:lstStyle/>
          <a:p>
            <a:pPr indent="0" marL="0">
              <a:buNone/>
            </a:pPr>
            <a:r>
              <a:rPr lang="en-US" sz="1300" dirty="0">
                <a:solidFill>
                  <a:schemeClr val="accent5"/>
                </a:solidFill>
              </a:rPr>
              <a:t>.ps1 files; readable Verb-Noun commands</a:t>
            </a:r>
            <a:endParaRPr lang="en-US" sz="1300" dirty="0"/>
          </a:p>
        </p:txBody>
      </p:sp>
      <p:sp>
        <p:nvSpPr>
          <p:cNvPr id="9" name="code-bg-271"/>
          <p:cNvSpPr/>
          <p:nvPr/>
        </p:nvSpPr>
        <p:spPr>
          <a:xfrm>
            <a:off x="457200" y="2057400"/>
            <a:ext cx="3977640" cy="1965960"/>
          </a:xfrm>
          <a:prstGeom prst="roundRect">
            <a:avLst>
              <a:gd name="adj" fmla="val 2791"/>
            </a:avLst>
          </a:prstGeom>
          <a:solidFill>
            <a:schemeClr val="tx2"/>
          </a:solidFill>
          <a:ln w="12700">
            <a:solidFill>
              <a:schemeClr val="tx2"/>
            </a:solidFill>
            <a:prstDash val="solid"/>
          </a:ln>
        </p:spPr>
      </p:sp>
      <p:sp>
        <p:nvSpPr>
          <p:cNvPr id="10" name="code-272"/>
          <p:cNvSpPr txBox="1"/>
          <p:nvPr/>
        </p:nvSpPr>
        <p:spPr>
          <a:xfrm>
            <a:off x="621792" y="2185416"/>
            <a:ext cx="3648456" cy="1709928"/>
          </a:xfrm>
          <a:prstGeom prst="rect">
            <a:avLst/>
          </a:prstGeom>
          <a:noFill/>
          <a:ln/>
        </p:spPr>
        <p:txBody>
          <a:bodyPr wrap="square" lIns="0" tIns="0" rIns="0" bIns="0" rtlCol="0" anchor="t"/>
          <a:lstStyle/>
          <a:p>
            <a:pPr indent="0" marL="0">
              <a:buNone/>
            </a:pPr>
            <a:r>
              <a:rPr lang="en-US" sz="1150" dirty="0">
                <a:solidFill>
                  <a:schemeClr val="accent5"/>
                </a:solidFill>
                <a:latin typeface="Consolas" pitchFamily="34" charset="0"/>
                <a:ea typeface="Consolas" pitchFamily="34" charset="-122"/>
                <a:cs typeface="Consolas" pitchFamily="34" charset="-120"/>
              </a:rPr>
              <a:t># Delete .log files older than 7 days</a:t>
            </a:r>
            <a:endParaRPr lang="en-US" sz="1150" dirty="0"/>
          </a:p>
          <a:p>
            <a:pPr indent="0" marL="0">
              <a:buNone/>
            </a:pPr>
            <a:r>
              <a:rPr lang="en-US" sz="1150" dirty="0">
                <a:solidFill>
                  <a:schemeClr val="bg1"/>
                </a:solidFill>
                <a:latin typeface="Consolas" pitchFamily="34" charset="0"/>
                <a:ea typeface="Consolas" pitchFamily="34" charset="-122"/>
                <a:cs typeface="Consolas" pitchFamily="34" charset="-120"/>
              </a:rPr>
              <a:t>Get-ChildItem C:\Lab\Logs -Filter *.log |</a:t>
            </a:r>
            <a:endParaRPr lang="en-US" sz="1150" dirty="0"/>
          </a:p>
          <a:p>
            <a:pPr indent="0" marL="0">
              <a:buNone/>
            </a:pPr>
            <a:r>
              <a:rPr lang="en-US" sz="1150" dirty="0">
                <a:solidFill>
                  <a:schemeClr val="bg1"/>
                </a:solidFill>
                <a:latin typeface="Consolas" pitchFamily="34" charset="0"/>
                <a:ea typeface="Consolas" pitchFamily="34" charset="-122"/>
                <a:cs typeface="Consolas" pitchFamily="34" charset="-120"/>
              </a:rPr>
              <a:t>  Where-Object { $_.LastWriteTime -lt</a:t>
            </a:r>
            <a:endParaRPr lang="en-US" sz="1150" dirty="0"/>
          </a:p>
          <a:p>
            <a:pPr indent="0" marL="0">
              <a:buNone/>
            </a:pPr>
            <a:r>
              <a:rPr lang="en-US" sz="1150" dirty="0">
                <a:solidFill>
                  <a:schemeClr val="bg1"/>
                </a:solidFill>
                <a:latin typeface="Consolas" pitchFamily="34" charset="0"/>
                <a:ea typeface="Consolas" pitchFamily="34" charset="-122"/>
                <a:cs typeface="Consolas" pitchFamily="34" charset="-120"/>
              </a:rPr>
              <a:t>    (Get-Date).AddDays(-7) } |</a:t>
            </a:r>
            <a:endParaRPr lang="en-US" sz="1150" dirty="0"/>
          </a:p>
          <a:p>
            <a:pPr indent="0" marL="0">
              <a:buNone/>
            </a:pPr>
            <a:r>
              <a:rPr lang="en-US" sz="1150" dirty="0">
                <a:solidFill>
                  <a:schemeClr val="bg1"/>
                </a:solidFill>
                <a:latin typeface="Consolas" pitchFamily="34" charset="0"/>
                <a:ea typeface="Consolas" pitchFamily="34" charset="-122"/>
                <a:cs typeface="Consolas" pitchFamily="34" charset="-120"/>
              </a:rPr>
              <a:t>  Remove-Item -WhatIf   # preview first</a:t>
            </a:r>
            <a:endParaRPr lang="en-US" sz="1150" dirty="0"/>
          </a:p>
          <a:p>
            <a:pPr indent="0" marL="0">
              <a:buNone/>
            </a:pPr>
            <a:r>
              <a:rPr lang="en-US" sz="1150" dirty="0">
                <a:solidFill>
                  <a:schemeClr val="bg1"/>
                </a:solidFill>
                <a:latin typeface="Consolas" pitchFamily="34" charset="0"/>
                <a:ea typeface="Consolas" pitchFamily="34" charset="-122"/>
                <a:cs typeface="Consolas" pitchFamily="34" charset="-120"/>
              </a:rPr>
              <a:t>exit 0</a:t>
            </a:r>
            <a:endParaRPr lang="en-US" sz="1150" dirty="0"/>
          </a:p>
        </p:txBody>
      </p:sp>
      <p:sp>
        <p:nvSpPr>
          <p:cNvPr id="11" name="icon-bg-273"/>
          <p:cNvSpPr/>
          <p:nvPr/>
        </p:nvSpPr>
        <p:spPr>
          <a:xfrm>
            <a:off x="4709160" y="1325880"/>
            <a:ext cx="548640" cy="548640"/>
          </a:xfrm>
          <a:prstGeom prst="ellipse">
            <a:avLst/>
          </a:prstGeom>
          <a:solidFill>
            <a:schemeClr val="accent2"/>
          </a:solidFill>
          <a:ln w="12700">
            <a:solidFill>
              <a:schemeClr val="accent2"/>
            </a:solidFill>
            <a:prstDash val="solid"/>
          </a:ln>
        </p:spPr>
      </p:sp>
      <p:pic>
        <p:nvPicPr>
          <p:cNvPr id="12" name="icon-274" descr="preencoded.png">    </p:cNvPr>
          <p:cNvPicPr>
            <a:picLocks noChangeAspect="1"/>
          </p:cNvPicPr>
          <p:nvPr/>
        </p:nvPicPr>
        <p:blipFill>
          <a:blip r:embed="rId2"/>
          <a:stretch>
            <a:fillRect/>
          </a:stretch>
        </p:blipFill>
        <p:spPr>
          <a:xfrm>
            <a:off x="4846320" y="1463040"/>
            <a:ext cx="274320" cy="274320"/>
          </a:xfrm>
          <a:prstGeom prst="rect">
            <a:avLst/>
          </a:prstGeom>
        </p:spPr>
      </p:pic>
      <p:sp>
        <p:nvSpPr>
          <p:cNvPr id="13" name="text-275"/>
          <p:cNvSpPr txBox="1"/>
          <p:nvPr/>
        </p:nvSpPr>
        <p:spPr>
          <a:xfrm>
            <a:off x="5394960" y="1298448"/>
            <a:ext cx="3291840" cy="320040"/>
          </a:xfrm>
          <a:prstGeom prst="rect">
            <a:avLst/>
          </a:prstGeom>
          <a:noFill/>
          <a:ln/>
        </p:spPr>
        <p:txBody>
          <a:bodyPr wrap="square" lIns="0" tIns="0" rIns="0" bIns="0" rtlCol="0" anchor="t"/>
          <a:lstStyle/>
          <a:p>
            <a:pPr indent="0" marL="0">
              <a:buNone/>
            </a:pPr>
            <a:r>
              <a:rPr lang="en-US" sz="1800" b="1" dirty="0">
                <a:solidFill>
                  <a:schemeClr val="tx2"/>
                </a:solidFill>
              </a:rPr>
              <a:t>Bash (Linux)</a:t>
            </a:r>
            <a:endParaRPr lang="en-US" sz="1800" dirty="0"/>
          </a:p>
        </p:txBody>
      </p:sp>
      <p:sp>
        <p:nvSpPr>
          <p:cNvPr id="14" name="text-276"/>
          <p:cNvSpPr txBox="1"/>
          <p:nvPr/>
        </p:nvSpPr>
        <p:spPr>
          <a:xfrm>
            <a:off x="5394960" y="1618488"/>
            <a:ext cx="3291840" cy="274320"/>
          </a:xfrm>
          <a:prstGeom prst="rect">
            <a:avLst/>
          </a:prstGeom>
          <a:noFill/>
          <a:ln/>
        </p:spPr>
        <p:txBody>
          <a:bodyPr wrap="square" lIns="0" tIns="0" rIns="0" bIns="0" rtlCol="0" anchor="t"/>
          <a:lstStyle/>
          <a:p>
            <a:pPr indent="0" marL="0">
              <a:buNone/>
            </a:pPr>
            <a:r>
              <a:rPr lang="en-US" sz="1300" dirty="0">
                <a:solidFill>
                  <a:schemeClr val="accent5"/>
                </a:solidFill>
              </a:rPr>
              <a:t>Starts with #!/bin/bash; run chmod +x</a:t>
            </a:r>
            <a:endParaRPr lang="en-US" sz="1300" dirty="0"/>
          </a:p>
        </p:txBody>
      </p:sp>
      <p:sp>
        <p:nvSpPr>
          <p:cNvPr id="15" name="code-bg-277"/>
          <p:cNvSpPr/>
          <p:nvPr/>
        </p:nvSpPr>
        <p:spPr>
          <a:xfrm>
            <a:off x="4709160" y="2057400"/>
            <a:ext cx="3977640" cy="1965960"/>
          </a:xfrm>
          <a:prstGeom prst="roundRect">
            <a:avLst>
              <a:gd name="adj" fmla="val 2791"/>
            </a:avLst>
          </a:prstGeom>
          <a:solidFill>
            <a:schemeClr val="tx2"/>
          </a:solidFill>
          <a:ln w="12700">
            <a:solidFill>
              <a:schemeClr val="tx2"/>
            </a:solidFill>
            <a:prstDash val="solid"/>
          </a:ln>
        </p:spPr>
      </p:sp>
      <p:sp>
        <p:nvSpPr>
          <p:cNvPr id="16" name="code-278"/>
          <p:cNvSpPr txBox="1"/>
          <p:nvPr/>
        </p:nvSpPr>
        <p:spPr>
          <a:xfrm>
            <a:off x="4873752" y="2185416"/>
            <a:ext cx="3648456" cy="1709928"/>
          </a:xfrm>
          <a:prstGeom prst="rect">
            <a:avLst/>
          </a:prstGeom>
          <a:noFill/>
          <a:ln/>
        </p:spPr>
        <p:txBody>
          <a:bodyPr wrap="square" lIns="0" tIns="0" rIns="0" bIns="0" rtlCol="0" anchor="t"/>
          <a:lstStyle/>
          <a:p>
            <a:pPr indent="0" marL="0">
              <a:buNone/>
            </a:pPr>
            <a:r>
              <a:rPr lang="en-US" sz="1150" dirty="0">
                <a:solidFill>
                  <a:schemeClr val="accent5"/>
                </a:solidFill>
                <a:latin typeface="Consolas" pitchFamily="34" charset="0"/>
                <a:ea typeface="Consolas" pitchFamily="34" charset="-122"/>
                <a:cs typeface="Consolas" pitchFamily="34" charset="-120"/>
              </a:rPr>
              <a:t>#!/bin/bash</a:t>
            </a:r>
            <a:endParaRPr lang="en-US" sz="1150" dirty="0"/>
          </a:p>
          <a:p>
            <a:pPr indent="0" marL="0">
              <a:buNone/>
            </a:pPr>
            <a:r>
              <a:rPr lang="en-US" sz="1150" dirty="0">
                <a:solidFill>
                  <a:schemeClr val="accent5"/>
                </a:solidFill>
                <a:latin typeface="Consolas" pitchFamily="34" charset="0"/>
                <a:ea typeface="Consolas" pitchFamily="34" charset="-122"/>
                <a:cs typeface="Consolas" pitchFamily="34" charset="-120"/>
              </a:rPr>
              <a:t># Back up the data folder with a date</a:t>
            </a:r>
            <a:endParaRPr lang="en-US" sz="1150" dirty="0"/>
          </a:p>
          <a:p>
            <a:pPr indent="0" marL="0">
              <a:buNone/>
            </a:pPr>
            <a:r>
              <a:rPr lang="en-US" sz="1150" dirty="0">
                <a:solidFill>
                  <a:schemeClr val="bg1"/>
                </a:solidFill>
                <a:latin typeface="Consolas" pitchFamily="34" charset="0"/>
                <a:ea typeface="Consolas" pitchFamily="34" charset="-122"/>
                <a:cs typeface="Consolas" pitchFamily="34" charset="-120"/>
              </a:rPr>
              <a:t>tar -czf /home/student/backups/data.tar.gz \</a:t>
            </a:r>
            <a:endParaRPr lang="en-US" sz="1150" dirty="0"/>
          </a:p>
          <a:p>
            <a:pPr indent="0" marL="0">
              <a:buNone/>
            </a:pPr>
            <a:r>
              <a:rPr lang="en-US" sz="1150" dirty="0">
                <a:solidFill>
                  <a:schemeClr val="bg1"/>
                </a:solidFill>
                <a:latin typeface="Consolas" pitchFamily="34" charset="0"/>
                <a:ea typeface="Consolas" pitchFamily="34" charset="-122"/>
                <a:cs typeface="Consolas" pitchFamily="34" charset="-120"/>
              </a:rPr>
              <a:t>    /home/student/data</a:t>
            </a:r>
            <a:endParaRPr lang="en-US" sz="1150" dirty="0"/>
          </a:p>
          <a:p>
            <a:pPr indent="0" marL="0">
              <a:buNone/>
            </a:pPr>
            <a:r>
              <a:rPr lang="en-US" sz="1150" dirty="0">
                <a:solidFill>
                  <a:schemeClr val="bg1"/>
                </a:solidFill>
                <a:latin typeface="Consolas" pitchFamily="34" charset="0"/>
                <a:ea typeface="Consolas" pitchFamily="34" charset="-122"/>
                <a:cs typeface="Consolas" pitchFamily="34" charset="-120"/>
              </a:rPr>
              <a:t>echo "Backup done: $(date)" &gt;&gt; backup.log</a:t>
            </a:r>
            <a:endParaRPr lang="en-US" sz="1150" dirty="0"/>
          </a:p>
          <a:p>
            <a:pPr indent="0" marL="0">
              <a:buNone/>
            </a:pPr>
            <a:r>
              <a:rPr lang="en-US" sz="1150" dirty="0">
                <a:solidFill>
                  <a:schemeClr val="bg1"/>
                </a:solidFill>
                <a:latin typeface="Consolas" pitchFamily="34" charset="0"/>
                <a:ea typeface="Consolas" pitchFamily="34" charset="-122"/>
                <a:cs typeface="Consolas" pitchFamily="34" charset="-120"/>
              </a:rPr>
              <a:t>exit 0</a:t>
            </a:r>
            <a:endParaRPr lang="en-US" sz="1150" dirty="0"/>
          </a:p>
        </p:txBody>
      </p:sp>
      <p:sp>
        <p:nvSpPr>
          <p:cNvPr id="17" name="text-279"/>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400" b="1" dirty="0">
                <a:solidFill>
                  <a:schemeClr val="tx2"/>
                </a:solidFill>
              </a:rPr>
              <a:t>Golden habit: </a:t>
            </a:r>
            <a:pPr indent="0" marL="0">
              <a:buNone/>
            </a:pPr>
            <a:r>
              <a:rPr lang="en-US" sz="1400" dirty="0">
                <a:solidFill>
                  <a:schemeClr val="tx1"/>
                </a:solidFill>
              </a:rPr>
              <a:t>preview before deleting (-WhatIf in PowerShell, find -print in Linux).</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5 · SCRIPTING</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What System Administrators Automate</a:t>
            </a:r>
            <a:endParaRPr lang="en-US" sz="2600" dirty="0"/>
          </a:p>
        </p:txBody>
      </p:sp>
      <p:sp>
        <p:nvSpPr>
          <p:cNvPr id="5" name="card-280"/>
          <p:cNvSpPr/>
          <p:nvPr/>
        </p:nvSpPr>
        <p:spPr>
          <a:xfrm>
            <a:off x="457200" y="132588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6" name="icon-bg-281"/>
          <p:cNvSpPr/>
          <p:nvPr/>
        </p:nvSpPr>
        <p:spPr>
          <a:xfrm>
            <a:off x="685800" y="1691640"/>
            <a:ext cx="731520" cy="731520"/>
          </a:xfrm>
          <a:prstGeom prst="ellipse">
            <a:avLst/>
          </a:prstGeom>
          <a:solidFill>
            <a:schemeClr val="accent1"/>
          </a:solidFill>
          <a:ln w="12700">
            <a:solidFill>
              <a:schemeClr val="accent1"/>
            </a:solidFill>
            <a:prstDash val="solid"/>
          </a:ln>
        </p:spPr>
      </p:sp>
      <p:pic>
        <p:nvPicPr>
          <p:cNvPr id="7" name="icon-282" descr="preencoded.png">    </p:cNvPr>
          <p:cNvPicPr>
            <a:picLocks noChangeAspect="1"/>
          </p:cNvPicPr>
          <p:nvPr/>
        </p:nvPicPr>
        <p:blipFill>
          <a:blip r:embed="rId1"/>
          <a:stretch>
            <a:fillRect/>
          </a:stretch>
        </p:blipFill>
        <p:spPr>
          <a:xfrm>
            <a:off x="868680" y="1874520"/>
            <a:ext cx="365760" cy="365760"/>
          </a:xfrm>
          <a:prstGeom prst="rect">
            <a:avLst/>
          </a:prstGeom>
        </p:spPr>
      </p:pic>
      <p:sp>
        <p:nvSpPr>
          <p:cNvPr id="8" name="text-283"/>
          <p:cNvSpPr txBox="1"/>
          <p:nvPr/>
        </p:nvSpPr>
        <p:spPr>
          <a:xfrm>
            <a:off x="1554480" y="1709928"/>
            <a:ext cx="1371600" cy="365760"/>
          </a:xfrm>
          <a:prstGeom prst="rect">
            <a:avLst/>
          </a:prstGeom>
          <a:noFill/>
          <a:ln/>
        </p:spPr>
        <p:txBody>
          <a:bodyPr wrap="square" lIns="0" tIns="0" rIns="0" bIns="0" rtlCol="0" anchor="t"/>
          <a:lstStyle/>
          <a:p>
            <a:pPr indent="0" marL="0">
              <a:buNone/>
            </a:pPr>
            <a:r>
              <a:rPr lang="en-US" sz="1600" b="1" dirty="0">
                <a:solidFill>
                  <a:schemeClr val="tx2"/>
                </a:solidFill>
              </a:rPr>
              <a:t>Backups</a:t>
            </a:r>
            <a:endParaRPr lang="en-US" sz="1600" dirty="0"/>
          </a:p>
        </p:txBody>
      </p:sp>
      <p:sp>
        <p:nvSpPr>
          <p:cNvPr id="9" name="text-284"/>
          <p:cNvSpPr txBox="1"/>
          <p:nvPr/>
        </p:nvSpPr>
        <p:spPr>
          <a:xfrm>
            <a:off x="1554480" y="2075688"/>
            <a:ext cx="1371600" cy="411480"/>
          </a:xfrm>
          <a:prstGeom prst="rect">
            <a:avLst/>
          </a:prstGeom>
          <a:noFill/>
          <a:ln/>
        </p:spPr>
        <p:txBody>
          <a:bodyPr wrap="square" lIns="0" tIns="0" rIns="0" bIns="0" rtlCol="0" anchor="t"/>
          <a:lstStyle/>
          <a:p>
            <a:pPr indent="0" marL="0">
              <a:buNone/>
            </a:pPr>
            <a:r>
              <a:rPr lang="en-US" sz="1300" dirty="0">
                <a:solidFill>
                  <a:schemeClr val="tx1"/>
                </a:solidFill>
              </a:rPr>
              <a:t>Nightly</a:t>
            </a:r>
            <a:endParaRPr lang="en-US" sz="1300" dirty="0"/>
          </a:p>
        </p:txBody>
      </p:sp>
      <p:sp>
        <p:nvSpPr>
          <p:cNvPr id="10" name="card-285"/>
          <p:cNvSpPr/>
          <p:nvPr/>
        </p:nvSpPr>
        <p:spPr>
          <a:xfrm>
            <a:off x="3291840" y="132588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1" name="icon-bg-286"/>
          <p:cNvSpPr/>
          <p:nvPr/>
        </p:nvSpPr>
        <p:spPr>
          <a:xfrm>
            <a:off x="3520440" y="1691640"/>
            <a:ext cx="731520" cy="731520"/>
          </a:xfrm>
          <a:prstGeom prst="ellipse">
            <a:avLst/>
          </a:prstGeom>
          <a:solidFill>
            <a:schemeClr val="accent2"/>
          </a:solidFill>
          <a:ln w="12700">
            <a:solidFill>
              <a:schemeClr val="accent2"/>
            </a:solidFill>
            <a:prstDash val="solid"/>
          </a:ln>
        </p:spPr>
      </p:sp>
      <p:pic>
        <p:nvPicPr>
          <p:cNvPr id="12" name="icon-287" descr="preencoded.png">    </p:cNvPr>
          <p:cNvPicPr>
            <a:picLocks noChangeAspect="1"/>
          </p:cNvPicPr>
          <p:nvPr/>
        </p:nvPicPr>
        <p:blipFill>
          <a:blip r:embed="rId2"/>
          <a:stretch>
            <a:fillRect/>
          </a:stretch>
        </p:blipFill>
        <p:spPr>
          <a:xfrm>
            <a:off x="3703320" y="1874520"/>
            <a:ext cx="365760" cy="365760"/>
          </a:xfrm>
          <a:prstGeom prst="rect">
            <a:avLst/>
          </a:prstGeom>
        </p:spPr>
      </p:pic>
      <p:sp>
        <p:nvSpPr>
          <p:cNvPr id="13" name="text-288"/>
          <p:cNvSpPr txBox="1"/>
          <p:nvPr/>
        </p:nvSpPr>
        <p:spPr>
          <a:xfrm>
            <a:off x="4389120" y="1709928"/>
            <a:ext cx="1371600" cy="365760"/>
          </a:xfrm>
          <a:prstGeom prst="rect">
            <a:avLst/>
          </a:prstGeom>
          <a:noFill/>
          <a:ln/>
        </p:spPr>
        <p:txBody>
          <a:bodyPr wrap="square" lIns="0" tIns="0" rIns="0" bIns="0" rtlCol="0" anchor="t"/>
          <a:lstStyle/>
          <a:p>
            <a:pPr indent="0" marL="0">
              <a:buNone/>
            </a:pPr>
            <a:r>
              <a:rPr lang="en-US" sz="1600" b="1" dirty="0">
                <a:solidFill>
                  <a:schemeClr val="tx2"/>
                </a:solidFill>
              </a:rPr>
              <a:t>Log cleanup</a:t>
            </a:r>
            <a:endParaRPr lang="en-US" sz="1600" dirty="0"/>
          </a:p>
        </p:txBody>
      </p:sp>
      <p:sp>
        <p:nvSpPr>
          <p:cNvPr id="14" name="text-289"/>
          <p:cNvSpPr txBox="1"/>
          <p:nvPr/>
        </p:nvSpPr>
        <p:spPr>
          <a:xfrm>
            <a:off x="4389120" y="2075688"/>
            <a:ext cx="1371600" cy="411480"/>
          </a:xfrm>
          <a:prstGeom prst="rect">
            <a:avLst/>
          </a:prstGeom>
          <a:noFill/>
          <a:ln/>
        </p:spPr>
        <p:txBody>
          <a:bodyPr wrap="square" lIns="0" tIns="0" rIns="0" bIns="0" rtlCol="0" anchor="t"/>
          <a:lstStyle/>
          <a:p>
            <a:pPr indent="0" marL="0">
              <a:buNone/>
            </a:pPr>
            <a:r>
              <a:rPr lang="en-US" sz="1300" dirty="0">
                <a:solidFill>
                  <a:schemeClr val="tx1"/>
                </a:solidFill>
              </a:rPr>
              <a:t>Daily or weekly</a:t>
            </a:r>
            <a:endParaRPr lang="en-US" sz="1300" dirty="0"/>
          </a:p>
        </p:txBody>
      </p:sp>
      <p:sp>
        <p:nvSpPr>
          <p:cNvPr id="15" name="card-290"/>
          <p:cNvSpPr/>
          <p:nvPr/>
        </p:nvSpPr>
        <p:spPr>
          <a:xfrm>
            <a:off x="6126480" y="132588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6" name="icon-bg-291"/>
          <p:cNvSpPr/>
          <p:nvPr/>
        </p:nvSpPr>
        <p:spPr>
          <a:xfrm>
            <a:off x="6355080" y="1691640"/>
            <a:ext cx="731520" cy="731520"/>
          </a:xfrm>
          <a:prstGeom prst="ellipse">
            <a:avLst/>
          </a:prstGeom>
          <a:solidFill>
            <a:schemeClr val="accent1"/>
          </a:solidFill>
          <a:ln w="12700">
            <a:solidFill>
              <a:schemeClr val="accent1"/>
            </a:solidFill>
            <a:prstDash val="solid"/>
          </a:ln>
        </p:spPr>
      </p:sp>
      <p:pic>
        <p:nvPicPr>
          <p:cNvPr id="17" name="icon-292" descr="preencoded.png">    </p:cNvPr>
          <p:cNvPicPr>
            <a:picLocks noChangeAspect="1"/>
          </p:cNvPicPr>
          <p:nvPr/>
        </p:nvPicPr>
        <p:blipFill>
          <a:blip r:embed="rId3"/>
          <a:stretch>
            <a:fillRect/>
          </a:stretch>
        </p:blipFill>
        <p:spPr>
          <a:xfrm>
            <a:off x="6537960" y="1874520"/>
            <a:ext cx="365760" cy="365760"/>
          </a:xfrm>
          <a:prstGeom prst="rect">
            <a:avLst/>
          </a:prstGeom>
        </p:spPr>
      </p:pic>
      <p:sp>
        <p:nvSpPr>
          <p:cNvPr id="18" name="text-293"/>
          <p:cNvSpPr txBox="1"/>
          <p:nvPr/>
        </p:nvSpPr>
        <p:spPr>
          <a:xfrm>
            <a:off x="7223760" y="1709928"/>
            <a:ext cx="1371600" cy="365760"/>
          </a:xfrm>
          <a:prstGeom prst="rect">
            <a:avLst/>
          </a:prstGeom>
          <a:noFill/>
          <a:ln/>
        </p:spPr>
        <p:txBody>
          <a:bodyPr wrap="square" lIns="0" tIns="0" rIns="0" bIns="0" rtlCol="0" anchor="t"/>
          <a:lstStyle/>
          <a:p>
            <a:pPr indent="0" marL="0">
              <a:buNone/>
            </a:pPr>
            <a:r>
              <a:rPr lang="en-US" sz="1600" b="1" dirty="0">
                <a:solidFill>
                  <a:schemeClr val="tx2"/>
                </a:solidFill>
              </a:rPr>
              <a:t>Updates</a:t>
            </a:r>
            <a:endParaRPr lang="en-US" sz="1600" dirty="0"/>
          </a:p>
        </p:txBody>
      </p:sp>
      <p:sp>
        <p:nvSpPr>
          <p:cNvPr id="19" name="text-294"/>
          <p:cNvSpPr txBox="1"/>
          <p:nvPr/>
        </p:nvSpPr>
        <p:spPr>
          <a:xfrm>
            <a:off x="7223760" y="2075688"/>
            <a:ext cx="1371600" cy="411480"/>
          </a:xfrm>
          <a:prstGeom prst="rect">
            <a:avLst/>
          </a:prstGeom>
          <a:noFill/>
          <a:ln/>
        </p:spPr>
        <p:txBody>
          <a:bodyPr wrap="square" lIns="0" tIns="0" rIns="0" bIns="0" rtlCol="0" anchor="t"/>
          <a:lstStyle/>
          <a:p>
            <a:pPr indent="0" marL="0">
              <a:buNone/>
            </a:pPr>
            <a:r>
              <a:rPr lang="en-US" sz="1300" dirty="0">
                <a:solidFill>
                  <a:schemeClr val="tx1"/>
                </a:solidFill>
              </a:rPr>
              <a:t>Weekly</a:t>
            </a:r>
            <a:endParaRPr lang="en-US" sz="1300" dirty="0"/>
          </a:p>
        </p:txBody>
      </p:sp>
      <p:sp>
        <p:nvSpPr>
          <p:cNvPr id="20" name="card-295"/>
          <p:cNvSpPr/>
          <p:nvPr/>
        </p:nvSpPr>
        <p:spPr>
          <a:xfrm>
            <a:off x="457200" y="297180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1" name="icon-bg-296"/>
          <p:cNvSpPr/>
          <p:nvPr/>
        </p:nvSpPr>
        <p:spPr>
          <a:xfrm>
            <a:off x="685800" y="3337560"/>
            <a:ext cx="731520" cy="731520"/>
          </a:xfrm>
          <a:prstGeom prst="ellipse">
            <a:avLst/>
          </a:prstGeom>
          <a:solidFill>
            <a:schemeClr val="accent2"/>
          </a:solidFill>
          <a:ln w="12700">
            <a:solidFill>
              <a:schemeClr val="accent2"/>
            </a:solidFill>
            <a:prstDash val="solid"/>
          </a:ln>
        </p:spPr>
      </p:sp>
      <p:pic>
        <p:nvPicPr>
          <p:cNvPr id="22" name="icon-297" descr="preencoded.png">    </p:cNvPr>
          <p:cNvPicPr>
            <a:picLocks noChangeAspect="1"/>
          </p:cNvPicPr>
          <p:nvPr/>
        </p:nvPicPr>
        <p:blipFill>
          <a:blip r:embed="rId4"/>
          <a:stretch>
            <a:fillRect/>
          </a:stretch>
        </p:blipFill>
        <p:spPr>
          <a:xfrm>
            <a:off x="868680" y="3520440"/>
            <a:ext cx="365760" cy="365760"/>
          </a:xfrm>
          <a:prstGeom prst="rect">
            <a:avLst/>
          </a:prstGeom>
        </p:spPr>
      </p:pic>
      <p:sp>
        <p:nvSpPr>
          <p:cNvPr id="23" name="text-298"/>
          <p:cNvSpPr txBox="1"/>
          <p:nvPr/>
        </p:nvSpPr>
        <p:spPr>
          <a:xfrm>
            <a:off x="1554480" y="3355848"/>
            <a:ext cx="1371600" cy="365760"/>
          </a:xfrm>
          <a:prstGeom prst="rect">
            <a:avLst/>
          </a:prstGeom>
          <a:noFill/>
          <a:ln/>
        </p:spPr>
        <p:txBody>
          <a:bodyPr wrap="square" lIns="0" tIns="0" rIns="0" bIns="0" rtlCol="0" anchor="t"/>
          <a:lstStyle/>
          <a:p>
            <a:pPr indent="0" marL="0">
              <a:buNone/>
            </a:pPr>
            <a:r>
              <a:rPr lang="en-US" sz="1600" b="1" dirty="0">
                <a:solidFill>
                  <a:schemeClr val="tx2"/>
                </a:solidFill>
              </a:rPr>
              <a:t>Monitoring</a:t>
            </a:r>
            <a:endParaRPr lang="en-US" sz="1600" dirty="0"/>
          </a:p>
        </p:txBody>
      </p:sp>
      <p:sp>
        <p:nvSpPr>
          <p:cNvPr id="24" name="text-299"/>
          <p:cNvSpPr txBox="1"/>
          <p:nvPr/>
        </p:nvSpPr>
        <p:spPr>
          <a:xfrm>
            <a:off x="1554480" y="3721608"/>
            <a:ext cx="1371600" cy="411480"/>
          </a:xfrm>
          <a:prstGeom prst="rect">
            <a:avLst/>
          </a:prstGeom>
          <a:noFill/>
          <a:ln/>
        </p:spPr>
        <p:txBody>
          <a:bodyPr wrap="square" lIns="0" tIns="0" rIns="0" bIns="0" rtlCol="0" anchor="t"/>
          <a:lstStyle/>
          <a:p>
            <a:pPr indent="0" marL="0">
              <a:buNone/>
            </a:pPr>
            <a:r>
              <a:rPr lang="en-US" sz="1300" dirty="0">
                <a:solidFill>
                  <a:schemeClr val="tx1"/>
                </a:solidFill>
              </a:rPr>
              <a:t>Every 5-15 minutes</a:t>
            </a:r>
            <a:endParaRPr lang="en-US" sz="1300" dirty="0"/>
          </a:p>
        </p:txBody>
      </p:sp>
      <p:sp>
        <p:nvSpPr>
          <p:cNvPr id="25" name="card-300"/>
          <p:cNvSpPr/>
          <p:nvPr/>
        </p:nvSpPr>
        <p:spPr>
          <a:xfrm>
            <a:off x="3291840" y="297180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6" name="icon-bg-301"/>
          <p:cNvSpPr/>
          <p:nvPr/>
        </p:nvSpPr>
        <p:spPr>
          <a:xfrm>
            <a:off x="3520440" y="3337560"/>
            <a:ext cx="731520" cy="731520"/>
          </a:xfrm>
          <a:prstGeom prst="ellipse">
            <a:avLst/>
          </a:prstGeom>
          <a:solidFill>
            <a:schemeClr val="accent1"/>
          </a:solidFill>
          <a:ln w="12700">
            <a:solidFill>
              <a:schemeClr val="accent1"/>
            </a:solidFill>
            <a:prstDash val="solid"/>
          </a:ln>
        </p:spPr>
      </p:sp>
      <p:pic>
        <p:nvPicPr>
          <p:cNvPr id="27" name="icon-302" descr="preencoded.png">    </p:cNvPr>
          <p:cNvPicPr>
            <a:picLocks noChangeAspect="1"/>
          </p:cNvPicPr>
          <p:nvPr/>
        </p:nvPicPr>
        <p:blipFill>
          <a:blip r:embed="rId5"/>
          <a:stretch>
            <a:fillRect/>
          </a:stretch>
        </p:blipFill>
        <p:spPr>
          <a:xfrm>
            <a:off x="3703320" y="3520440"/>
            <a:ext cx="365760" cy="365760"/>
          </a:xfrm>
          <a:prstGeom prst="rect">
            <a:avLst/>
          </a:prstGeom>
        </p:spPr>
      </p:pic>
      <p:sp>
        <p:nvSpPr>
          <p:cNvPr id="28" name="text-303"/>
          <p:cNvSpPr txBox="1"/>
          <p:nvPr/>
        </p:nvSpPr>
        <p:spPr>
          <a:xfrm>
            <a:off x="4389120" y="3355848"/>
            <a:ext cx="1371600" cy="365760"/>
          </a:xfrm>
          <a:prstGeom prst="rect">
            <a:avLst/>
          </a:prstGeom>
          <a:noFill/>
          <a:ln/>
        </p:spPr>
        <p:txBody>
          <a:bodyPr wrap="square" lIns="0" tIns="0" rIns="0" bIns="0" rtlCol="0" anchor="t"/>
          <a:lstStyle/>
          <a:p>
            <a:pPr indent="0" marL="0">
              <a:buNone/>
            </a:pPr>
            <a:r>
              <a:rPr lang="en-US" sz="1600" b="1" dirty="0">
                <a:solidFill>
                  <a:schemeClr val="tx2"/>
                </a:solidFill>
              </a:rPr>
              <a:t>Reports</a:t>
            </a:r>
            <a:endParaRPr lang="en-US" sz="1600" dirty="0"/>
          </a:p>
        </p:txBody>
      </p:sp>
      <p:sp>
        <p:nvSpPr>
          <p:cNvPr id="29" name="text-304"/>
          <p:cNvSpPr txBox="1"/>
          <p:nvPr/>
        </p:nvSpPr>
        <p:spPr>
          <a:xfrm>
            <a:off x="4389120" y="3721608"/>
            <a:ext cx="1371600" cy="411480"/>
          </a:xfrm>
          <a:prstGeom prst="rect">
            <a:avLst/>
          </a:prstGeom>
          <a:noFill/>
          <a:ln/>
        </p:spPr>
        <p:txBody>
          <a:bodyPr wrap="square" lIns="0" tIns="0" rIns="0" bIns="0" rtlCol="0" anchor="t"/>
          <a:lstStyle/>
          <a:p>
            <a:pPr indent="0" marL="0">
              <a:buNone/>
            </a:pPr>
            <a:r>
              <a:rPr lang="en-US" sz="1300" dirty="0">
                <a:solidFill>
                  <a:schemeClr val="tx1"/>
                </a:solidFill>
              </a:rPr>
              <a:t>Daily, weekly, monthly</a:t>
            </a:r>
            <a:endParaRPr lang="en-US" sz="1300" dirty="0"/>
          </a:p>
        </p:txBody>
      </p:sp>
      <p:sp>
        <p:nvSpPr>
          <p:cNvPr id="30" name="card-305"/>
          <p:cNvSpPr/>
          <p:nvPr/>
        </p:nvSpPr>
        <p:spPr>
          <a:xfrm>
            <a:off x="6126480" y="297180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31" name="icon-bg-306"/>
          <p:cNvSpPr/>
          <p:nvPr/>
        </p:nvSpPr>
        <p:spPr>
          <a:xfrm>
            <a:off x="6355080" y="3337560"/>
            <a:ext cx="731520" cy="731520"/>
          </a:xfrm>
          <a:prstGeom prst="ellipse">
            <a:avLst/>
          </a:prstGeom>
          <a:solidFill>
            <a:schemeClr val="accent2"/>
          </a:solidFill>
          <a:ln w="12700">
            <a:solidFill>
              <a:schemeClr val="accent2"/>
            </a:solidFill>
            <a:prstDash val="solid"/>
          </a:ln>
        </p:spPr>
      </p:sp>
      <p:pic>
        <p:nvPicPr>
          <p:cNvPr id="32" name="icon-307" descr="preencoded.png">    </p:cNvPr>
          <p:cNvPicPr>
            <a:picLocks noChangeAspect="1"/>
          </p:cNvPicPr>
          <p:nvPr/>
        </p:nvPicPr>
        <p:blipFill>
          <a:blip r:embed="rId6"/>
          <a:stretch>
            <a:fillRect/>
          </a:stretch>
        </p:blipFill>
        <p:spPr>
          <a:xfrm>
            <a:off x="6537960" y="3520440"/>
            <a:ext cx="365760" cy="365760"/>
          </a:xfrm>
          <a:prstGeom prst="rect">
            <a:avLst/>
          </a:prstGeom>
        </p:spPr>
      </p:pic>
      <p:sp>
        <p:nvSpPr>
          <p:cNvPr id="33" name="text-308"/>
          <p:cNvSpPr txBox="1"/>
          <p:nvPr/>
        </p:nvSpPr>
        <p:spPr>
          <a:xfrm>
            <a:off x="7223760" y="3355848"/>
            <a:ext cx="1371600" cy="365760"/>
          </a:xfrm>
          <a:prstGeom prst="rect">
            <a:avLst/>
          </a:prstGeom>
          <a:noFill/>
          <a:ln/>
        </p:spPr>
        <p:txBody>
          <a:bodyPr wrap="square" lIns="0" tIns="0" rIns="0" bIns="0" rtlCol="0" anchor="t"/>
          <a:lstStyle/>
          <a:p>
            <a:pPr indent="0" marL="0">
              <a:buNone/>
            </a:pPr>
            <a:r>
              <a:rPr lang="en-US" sz="1600" b="1" dirty="0">
                <a:solidFill>
                  <a:schemeClr val="tx2"/>
                </a:solidFill>
              </a:rPr>
              <a:t>Maintenance</a:t>
            </a:r>
            <a:endParaRPr lang="en-US" sz="1600" dirty="0"/>
          </a:p>
        </p:txBody>
      </p:sp>
      <p:sp>
        <p:nvSpPr>
          <p:cNvPr id="34" name="text-309"/>
          <p:cNvSpPr txBox="1"/>
          <p:nvPr/>
        </p:nvSpPr>
        <p:spPr>
          <a:xfrm>
            <a:off x="7223760" y="3721608"/>
            <a:ext cx="1371600" cy="411480"/>
          </a:xfrm>
          <a:prstGeom prst="rect">
            <a:avLst/>
          </a:prstGeom>
          <a:noFill/>
          <a:ln/>
        </p:spPr>
        <p:txBody>
          <a:bodyPr wrap="square" lIns="0" tIns="0" rIns="0" bIns="0" rtlCol="0" anchor="t"/>
          <a:lstStyle/>
          <a:p>
            <a:pPr indent="0" marL="0">
              <a:buNone/>
            </a:pPr>
            <a:r>
              <a:rPr lang="en-US" sz="1300" dirty="0">
                <a:solidFill>
                  <a:schemeClr val="tx1"/>
                </a:solidFill>
              </a:rPr>
              <a:t>Off-hours</a:t>
            </a:r>
            <a:endParaRPr lang="en-US" sz="13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6 · RELIABLE JOBS</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Works by Hand, Fails When Scheduled?</a:t>
            </a:r>
            <a:endParaRPr lang="en-US" sz="2600" dirty="0"/>
          </a:p>
        </p:txBody>
      </p:sp>
      <p:sp>
        <p:nvSpPr>
          <p:cNvPr id="5" name="card-310"/>
          <p:cNvSpPr/>
          <p:nvPr/>
        </p:nvSpPr>
        <p:spPr>
          <a:xfrm>
            <a:off x="457200" y="1325880"/>
            <a:ext cx="256032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6" name="icon-bg-311"/>
          <p:cNvSpPr/>
          <p:nvPr/>
        </p:nvSpPr>
        <p:spPr>
          <a:xfrm>
            <a:off x="685800" y="1536192"/>
            <a:ext cx="640080" cy="640080"/>
          </a:xfrm>
          <a:prstGeom prst="ellipse">
            <a:avLst/>
          </a:prstGeom>
          <a:solidFill>
            <a:schemeClr val="accent4"/>
          </a:solidFill>
          <a:ln w="12700">
            <a:solidFill>
              <a:schemeClr val="accent4"/>
            </a:solidFill>
            <a:prstDash val="solid"/>
          </a:ln>
        </p:spPr>
      </p:sp>
      <p:pic>
        <p:nvPicPr>
          <p:cNvPr id="7" name="icon-312" descr="preencoded.png">    </p:cNvPr>
          <p:cNvPicPr>
            <a:picLocks noChangeAspect="1"/>
          </p:cNvPicPr>
          <p:nvPr/>
        </p:nvPicPr>
        <p:blipFill>
          <a:blip r:embed="rId1"/>
          <a:stretch>
            <a:fillRect/>
          </a:stretch>
        </p:blipFill>
        <p:spPr>
          <a:xfrm>
            <a:off x="845820" y="1696212"/>
            <a:ext cx="320040" cy="320040"/>
          </a:xfrm>
          <a:prstGeom prst="rect">
            <a:avLst/>
          </a:prstGeom>
        </p:spPr>
      </p:pic>
      <p:sp>
        <p:nvSpPr>
          <p:cNvPr id="8" name="text-313"/>
          <p:cNvSpPr txBox="1"/>
          <p:nvPr/>
        </p:nvSpPr>
        <p:spPr>
          <a:xfrm>
            <a:off x="1444752" y="1554480"/>
            <a:ext cx="1508760" cy="603504"/>
          </a:xfrm>
          <a:prstGeom prst="rect">
            <a:avLst/>
          </a:prstGeom>
          <a:noFill/>
          <a:ln/>
        </p:spPr>
        <p:txBody>
          <a:bodyPr wrap="square" lIns="0" tIns="0" rIns="0" bIns="0" rtlCol="0" anchor="ctr"/>
          <a:lstStyle/>
          <a:p>
            <a:pPr indent="0" marL="0">
              <a:buNone/>
            </a:pPr>
            <a:r>
              <a:rPr lang="en-US" sz="1600" b="1" dirty="0">
                <a:solidFill>
                  <a:schemeClr val="tx2"/>
                </a:solidFill>
              </a:rPr>
              <a:t>WHO runs it?</a:t>
            </a:r>
            <a:endParaRPr lang="en-US" sz="1600" dirty="0"/>
          </a:p>
        </p:txBody>
      </p:sp>
      <p:sp>
        <p:nvSpPr>
          <p:cNvPr id="9" name="text-314"/>
          <p:cNvSpPr txBox="1"/>
          <p:nvPr/>
        </p:nvSpPr>
        <p:spPr>
          <a:xfrm>
            <a:off x="685800" y="2331720"/>
            <a:ext cx="2148840" cy="1051560"/>
          </a:xfrm>
          <a:prstGeom prst="rect">
            <a:avLst/>
          </a:prstGeom>
          <a:noFill/>
          <a:ln/>
        </p:spPr>
        <p:txBody>
          <a:bodyPr wrap="square" lIns="0" tIns="0" rIns="0" bIns="0" rtlCol="0" anchor="t"/>
          <a:lstStyle/>
          <a:p>
            <a:pPr indent="0" marL="0">
              <a:buNone/>
            </a:pPr>
            <a:r>
              <a:rPr lang="en-US" sz="1400" dirty="0">
                <a:solidFill>
                  <a:schemeClr val="tx1"/>
                </a:solidFill>
              </a:rPr>
              <a:t>A service account, not you. It may lack permission to your folders.</a:t>
            </a:r>
            <a:endParaRPr lang="en-US" sz="1400" dirty="0"/>
          </a:p>
        </p:txBody>
      </p:sp>
      <p:sp>
        <p:nvSpPr>
          <p:cNvPr id="10" name="card-315"/>
          <p:cNvSpPr/>
          <p:nvPr/>
        </p:nvSpPr>
        <p:spPr>
          <a:xfrm>
            <a:off x="3291840" y="1325880"/>
            <a:ext cx="256032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1" name="icon-bg-316"/>
          <p:cNvSpPr/>
          <p:nvPr/>
        </p:nvSpPr>
        <p:spPr>
          <a:xfrm>
            <a:off x="3520440" y="1536192"/>
            <a:ext cx="640080" cy="640080"/>
          </a:xfrm>
          <a:prstGeom prst="ellipse">
            <a:avLst/>
          </a:prstGeom>
          <a:solidFill>
            <a:schemeClr val="accent4"/>
          </a:solidFill>
          <a:ln w="12700">
            <a:solidFill>
              <a:schemeClr val="accent4"/>
            </a:solidFill>
            <a:prstDash val="solid"/>
          </a:ln>
        </p:spPr>
      </p:sp>
      <p:pic>
        <p:nvPicPr>
          <p:cNvPr id="12" name="icon-317" descr="preencoded.png">    </p:cNvPr>
          <p:cNvPicPr>
            <a:picLocks noChangeAspect="1"/>
          </p:cNvPicPr>
          <p:nvPr/>
        </p:nvPicPr>
        <p:blipFill>
          <a:blip r:embed="rId2"/>
          <a:stretch>
            <a:fillRect/>
          </a:stretch>
        </p:blipFill>
        <p:spPr>
          <a:xfrm>
            <a:off x="3680460" y="1696212"/>
            <a:ext cx="320040" cy="320040"/>
          </a:xfrm>
          <a:prstGeom prst="rect">
            <a:avLst/>
          </a:prstGeom>
        </p:spPr>
      </p:pic>
      <p:sp>
        <p:nvSpPr>
          <p:cNvPr id="13" name="text-318"/>
          <p:cNvSpPr txBox="1"/>
          <p:nvPr/>
        </p:nvSpPr>
        <p:spPr>
          <a:xfrm>
            <a:off x="4279392" y="1554480"/>
            <a:ext cx="1508760" cy="603504"/>
          </a:xfrm>
          <a:prstGeom prst="rect">
            <a:avLst/>
          </a:prstGeom>
          <a:noFill/>
          <a:ln/>
        </p:spPr>
        <p:txBody>
          <a:bodyPr wrap="square" lIns="0" tIns="0" rIns="0" bIns="0" rtlCol="0" anchor="ctr"/>
          <a:lstStyle/>
          <a:p>
            <a:pPr indent="0" marL="0">
              <a:buNone/>
            </a:pPr>
            <a:r>
              <a:rPr lang="en-US" sz="1600" b="1" dirty="0">
                <a:solidFill>
                  <a:schemeClr val="tx2"/>
                </a:solidFill>
              </a:rPr>
              <a:t>WHERE does it run?</a:t>
            </a:r>
            <a:endParaRPr lang="en-US" sz="1600" dirty="0"/>
          </a:p>
        </p:txBody>
      </p:sp>
      <p:sp>
        <p:nvSpPr>
          <p:cNvPr id="14" name="text-319"/>
          <p:cNvSpPr txBox="1"/>
          <p:nvPr/>
        </p:nvSpPr>
        <p:spPr>
          <a:xfrm>
            <a:off x="3520440" y="2331720"/>
            <a:ext cx="2148840" cy="1051560"/>
          </a:xfrm>
          <a:prstGeom prst="rect">
            <a:avLst/>
          </a:prstGeom>
          <a:noFill/>
          <a:ln/>
        </p:spPr>
        <p:txBody>
          <a:bodyPr wrap="square" lIns="0" tIns="0" rIns="0" bIns="0" rtlCol="0" anchor="t"/>
          <a:lstStyle/>
          <a:p>
            <a:pPr indent="0" marL="0">
              <a:buNone/>
            </a:pPr>
            <a:r>
              <a:rPr lang="en-US" sz="1400" dirty="0">
                <a:solidFill>
                  <a:schemeClr val="tx1"/>
                </a:solidFill>
              </a:rPr>
              <a:t>cron starts in your home folder; Windows starts in System32.</a:t>
            </a:r>
            <a:endParaRPr lang="en-US" sz="1400" dirty="0"/>
          </a:p>
        </p:txBody>
      </p:sp>
      <p:sp>
        <p:nvSpPr>
          <p:cNvPr id="15" name="card-320"/>
          <p:cNvSpPr/>
          <p:nvPr/>
        </p:nvSpPr>
        <p:spPr>
          <a:xfrm>
            <a:off x="6126480" y="1325880"/>
            <a:ext cx="256032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6" name="icon-bg-321"/>
          <p:cNvSpPr/>
          <p:nvPr/>
        </p:nvSpPr>
        <p:spPr>
          <a:xfrm>
            <a:off x="6355080" y="1536192"/>
            <a:ext cx="640080" cy="640080"/>
          </a:xfrm>
          <a:prstGeom prst="ellipse">
            <a:avLst/>
          </a:prstGeom>
          <a:solidFill>
            <a:schemeClr val="accent4"/>
          </a:solidFill>
          <a:ln w="12700">
            <a:solidFill>
              <a:schemeClr val="accent4"/>
            </a:solidFill>
            <a:prstDash val="solid"/>
          </a:ln>
        </p:spPr>
      </p:sp>
      <p:pic>
        <p:nvPicPr>
          <p:cNvPr id="17" name="icon-322" descr="preencoded.png">    </p:cNvPr>
          <p:cNvPicPr>
            <a:picLocks noChangeAspect="1"/>
          </p:cNvPicPr>
          <p:nvPr/>
        </p:nvPicPr>
        <p:blipFill>
          <a:blip r:embed="rId3"/>
          <a:stretch>
            <a:fillRect/>
          </a:stretch>
        </p:blipFill>
        <p:spPr>
          <a:xfrm>
            <a:off x="6515100" y="1696212"/>
            <a:ext cx="320040" cy="320040"/>
          </a:xfrm>
          <a:prstGeom prst="rect">
            <a:avLst/>
          </a:prstGeom>
        </p:spPr>
      </p:pic>
      <p:sp>
        <p:nvSpPr>
          <p:cNvPr id="18" name="text-323"/>
          <p:cNvSpPr txBox="1"/>
          <p:nvPr/>
        </p:nvSpPr>
        <p:spPr>
          <a:xfrm>
            <a:off x="7114032" y="1554480"/>
            <a:ext cx="1508760" cy="603504"/>
          </a:xfrm>
          <a:prstGeom prst="rect">
            <a:avLst/>
          </a:prstGeom>
          <a:noFill/>
          <a:ln/>
        </p:spPr>
        <p:txBody>
          <a:bodyPr wrap="square" lIns="0" tIns="0" rIns="0" bIns="0" rtlCol="0" anchor="ctr"/>
          <a:lstStyle/>
          <a:p>
            <a:pPr indent="0" marL="0">
              <a:buNone/>
            </a:pPr>
            <a:r>
              <a:rPr lang="en-US" sz="1600" b="1" dirty="0">
                <a:solidFill>
                  <a:schemeClr val="tx2"/>
                </a:solidFill>
              </a:rPr>
              <a:t>WHAT does it see?</a:t>
            </a:r>
            <a:endParaRPr lang="en-US" sz="1600" dirty="0"/>
          </a:p>
        </p:txBody>
      </p:sp>
      <p:sp>
        <p:nvSpPr>
          <p:cNvPr id="19" name="text-324"/>
          <p:cNvSpPr txBox="1"/>
          <p:nvPr/>
        </p:nvSpPr>
        <p:spPr>
          <a:xfrm>
            <a:off x="6355080" y="2331720"/>
            <a:ext cx="2148840" cy="1051560"/>
          </a:xfrm>
          <a:prstGeom prst="rect">
            <a:avLst/>
          </a:prstGeom>
          <a:noFill/>
          <a:ln/>
        </p:spPr>
        <p:txBody>
          <a:bodyPr wrap="square" lIns="0" tIns="0" rIns="0" bIns="0" rtlCol="0" anchor="t"/>
          <a:lstStyle/>
          <a:p>
            <a:pPr indent="0" marL="0">
              <a:buNone/>
            </a:pPr>
            <a:r>
              <a:rPr lang="en-US" sz="1400" dirty="0">
                <a:solidFill>
                  <a:schemeClr val="tx1"/>
                </a:solidFill>
              </a:rPr>
              <a:t>A shorter PATH and none of your personal settings.</a:t>
            </a:r>
            <a:endParaRPr lang="en-US" sz="1400" dirty="0"/>
          </a:p>
        </p:txBody>
      </p:sp>
      <p:sp>
        <p:nvSpPr>
          <p:cNvPr id="20" name="card-325"/>
          <p:cNvSpPr/>
          <p:nvPr/>
        </p:nvSpPr>
        <p:spPr>
          <a:xfrm>
            <a:off x="457200" y="3749040"/>
            <a:ext cx="8229600" cy="822960"/>
          </a:xfrm>
          <a:prstGeom prst="roundRect">
            <a:avLst>
              <a:gd name="adj" fmla="val 8889"/>
            </a:avLst>
          </a:prstGeom>
          <a:solidFill>
            <a:schemeClr val="accent2"/>
          </a:solidFill>
          <a:ln w="12700">
            <a:solidFill>
              <a:schemeClr val="accent2"/>
            </a:solidFill>
            <a:prstDash val="solid"/>
          </a:ln>
        </p:spPr>
      </p:sp>
      <p:sp>
        <p:nvSpPr>
          <p:cNvPr id="21" name="icon-bg-326"/>
          <p:cNvSpPr/>
          <p:nvPr/>
        </p:nvSpPr>
        <p:spPr>
          <a:xfrm>
            <a:off x="658368" y="3867912"/>
            <a:ext cx="585216" cy="585216"/>
          </a:xfrm>
          <a:prstGeom prst="ellipse">
            <a:avLst/>
          </a:prstGeom>
          <a:solidFill>
            <a:schemeClr val="bg1"/>
          </a:solidFill>
          <a:ln w="12700">
            <a:solidFill>
              <a:schemeClr val="bg1"/>
            </a:solidFill>
            <a:prstDash val="solid"/>
          </a:ln>
        </p:spPr>
      </p:sp>
      <p:pic>
        <p:nvPicPr>
          <p:cNvPr id="22" name="icon-327" descr="preencoded.png">    </p:cNvPr>
          <p:cNvPicPr>
            <a:picLocks noChangeAspect="1"/>
          </p:cNvPicPr>
          <p:nvPr/>
        </p:nvPicPr>
        <p:blipFill>
          <a:blip r:embed="rId4"/>
          <a:stretch>
            <a:fillRect/>
          </a:stretch>
        </p:blipFill>
        <p:spPr>
          <a:xfrm>
            <a:off x="804672" y="4014216"/>
            <a:ext cx="292608" cy="292608"/>
          </a:xfrm>
          <a:prstGeom prst="rect">
            <a:avLst/>
          </a:prstGeom>
        </p:spPr>
      </p:pic>
      <p:sp>
        <p:nvSpPr>
          <p:cNvPr id="23" name="text-328"/>
          <p:cNvSpPr txBox="1"/>
          <p:nvPr/>
        </p:nvSpPr>
        <p:spPr>
          <a:xfrm>
            <a:off x="1417320" y="3767328"/>
            <a:ext cx="7132320" cy="786384"/>
          </a:xfrm>
          <a:prstGeom prst="rect">
            <a:avLst/>
          </a:prstGeom>
          <a:noFill/>
          <a:ln/>
        </p:spPr>
        <p:txBody>
          <a:bodyPr wrap="square" lIns="0" tIns="0" rIns="0" bIns="0" rtlCol="0" anchor="ctr"/>
          <a:lstStyle/>
          <a:p>
            <a:pPr indent="0" marL="0">
              <a:buNone/>
            </a:pPr>
            <a:r>
              <a:rPr lang="en-US" sz="1500" b="1" dirty="0">
                <a:solidFill>
                  <a:schemeClr val="bg1"/>
                </a:solidFill>
              </a:rPr>
              <a:t>The fix: </a:t>
            </a:r>
            <a:pPr indent="0" marL="0">
              <a:buNone/>
            </a:pPr>
            <a:r>
              <a:rPr lang="en-US" sz="1500" dirty="0">
                <a:solidFill>
                  <a:schemeClr val="bg1"/>
                </a:solidFill>
              </a:rPr>
              <a:t>use full paths (/home/student/backup.sh), fill in "Start in" on Windows, and test as the job's own user.</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6 · RELIABLE JOBS</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The Log Is the Job's Screen</a:t>
            </a:r>
            <a:endParaRPr lang="en-US" sz="2600" dirty="0"/>
          </a:p>
        </p:txBody>
      </p:sp>
      <p:sp>
        <p:nvSpPr>
          <p:cNvPr id="5" name="text-329"/>
          <p:cNvSpPr txBox="1"/>
          <p:nvPr/>
        </p:nvSpPr>
        <p:spPr>
          <a:xfrm>
            <a:off x="457200" y="1325880"/>
            <a:ext cx="3931920" cy="292608"/>
          </a:xfrm>
          <a:prstGeom prst="rect">
            <a:avLst/>
          </a:prstGeom>
          <a:noFill/>
          <a:ln/>
        </p:spPr>
        <p:txBody>
          <a:bodyPr wrap="square" lIns="0" tIns="0" rIns="0" bIns="0" rtlCol="0" anchor="t"/>
          <a:lstStyle/>
          <a:p>
            <a:pPr indent="0" marL="0">
              <a:buNone/>
            </a:pPr>
            <a:r>
              <a:rPr lang="en-US" sz="1400" b="1" dirty="0">
                <a:solidFill>
                  <a:schemeClr val="tx2"/>
                </a:solidFill>
              </a:rPr>
              <a:t>Example log</a:t>
            </a:r>
            <a:endParaRPr lang="en-US" sz="1400" dirty="0"/>
          </a:p>
        </p:txBody>
      </p:sp>
      <p:sp>
        <p:nvSpPr>
          <p:cNvPr id="6" name="code-bg-330"/>
          <p:cNvSpPr/>
          <p:nvPr/>
        </p:nvSpPr>
        <p:spPr>
          <a:xfrm>
            <a:off x="457200" y="1664208"/>
            <a:ext cx="3931920" cy="1600200"/>
          </a:xfrm>
          <a:prstGeom prst="roundRect">
            <a:avLst>
              <a:gd name="adj" fmla="val 3429"/>
            </a:avLst>
          </a:prstGeom>
          <a:solidFill>
            <a:schemeClr val="tx2"/>
          </a:solidFill>
          <a:ln w="12700">
            <a:solidFill>
              <a:schemeClr val="tx2"/>
            </a:solidFill>
            <a:prstDash val="solid"/>
          </a:ln>
        </p:spPr>
      </p:sp>
      <p:sp>
        <p:nvSpPr>
          <p:cNvPr id="7" name="code-331"/>
          <p:cNvSpPr txBox="1"/>
          <p:nvPr/>
        </p:nvSpPr>
        <p:spPr>
          <a:xfrm>
            <a:off x="621792" y="1792224"/>
            <a:ext cx="3602736" cy="1344168"/>
          </a:xfrm>
          <a:prstGeom prst="rect">
            <a:avLst/>
          </a:prstGeom>
          <a:noFill/>
          <a:ln/>
        </p:spPr>
        <p:txBody>
          <a:bodyPr wrap="square" lIns="0" tIns="0" rIns="0" bIns="0" rtlCol="0" anchor="t"/>
          <a:lstStyle/>
          <a:p>
            <a:pPr indent="0" marL="0">
              <a:buNone/>
            </a:pPr>
            <a:r>
              <a:rPr lang="en-US" sz="1200" dirty="0">
                <a:solidFill>
                  <a:schemeClr val="bg1"/>
                </a:solidFill>
                <a:latin typeface="Consolas" pitchFamily="34" charset="0"/>
                <a:ea typeface="Consolas" pitchFamily="34" charset="-122"/>
                <a:cs typeface="Consolas" pitchFamily="34" charset="-120"/>
              </a:rPr>
              <a:t>01:30:01  INFO   Backup started</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01:30:04  INFO   Created data.tar.gz</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01:30:04  INFO   Backup finished</a:t>
            </a:r>
            <a:endParaRPr lang="en-US" sz="1200" dirty="0"/>
          </a:p>
          <a:p>
            <a:pPr indent="0" marL="0">
              <a:buNone/>
            </a:pP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01:30:01  ERROR  Folder not found</a:t>
            </a:r>
            <a:endParaRPr lang="en-US" sz="1200" dirty="0"/>
          </a:p>
        </p:txBody>
      </p:sp>
      <p:sp>
        <p:nvSpPr>
          <p:cNvPr id="8" name="card-332"/>
          <p:cNvSpPr/>
          <p:nvPr/>
        </p:nvSpPr>
        <p:spPr>
          <a:xfrm>
            <a:off x="457200" y="3474720"/>
            <a:ext cx="3931920" cy="1097280"/>
          </a:xfrm>
          <a:prstGeom prst="roundRect">
            <a:avLst>
              <a:gd name="adj" fmla="val 6667"/>
            </a:avLst>
          </a:prstGeom>
          <a:solidFill>
            <a:schemeClr val="bg2"/>
          </a:solidFill>
          <a:ln w="12700">
            <a:solidFill>
              <a:schemeClr val="bg2"/>
            </a:solidFill>
            <a:prstDash val="solid"/>
          </a:ln>
        </p:spPr>
      </p:sp>
      <p:sp>
        <p:nvSpPr>
          <p:cNvPr id="9" name="text-333"/>
          <p:cNvSpPr txBox="1"/>
          <p:nvPr/>
        </p:nvSpPr>
        <p:spPr>
          <a:xfrm>
            <a:off x="685800" y="3520440"/>
            <a:ext cx="3566160" cy="1005840"/>
          </a:xfrm>
          <a:prstGeom prst="rect">
            <a:avLst/>
          </a:prstGeom>
          <a:noFill/>
          <a:ln/>
        </p:spPr>
        <p:txBody>
          <a:bodyPr wrap="square" lIns="0" tIns="0" rIns="0" bIns="0" rtlCol="0" anchor="ctr"/>
          <a:lstStyle/>
          <a:p>
            <a:pPr indent="0" marL="0">
              <a:spcAft>
                <a:spcPts val="400"/>
              </a:spcAft>
              <a:buNone/>
            </a:pPr>
            <a:r>
              <a:rPr lang="en-US" sz="1500" b="1" dirty="0">
                <a:solidFill>
                  <a:schemeClr val="accent2"/>
                </a:solidFill>
                <a:latin typeface="Consolas" pitchFamily="34" charset="0"/>
                <a:ea typeface="Consolas" pitchFamily="34" charset="-122"/>
                <a:cs typeface="Consolas" pitchFamily="34" charset="-120"/>
              </a:rPr>
              <a:t>exit 0</a:t>
            </a:r>
            <a:pPr indent="0" marL="0">
              <a:spcAft>
                <a:spcPts val="400"/>
              </a:spcAft>
              <a:buNone/>
            </a:pPr>
            <a:r>
              <a:rPr lang="en-US" sz="1500" dirty="0">
                <a:solidFill>
                  <a:schemeClr val="tx1"/>
                </a:solidFill>
              </a:rPr>
              <a:t>  = success</a:t>
            </a:r>
            <a:endParaRPr lang="en-US" sz="1500" dirty="0"/>
          </a:p>
          <a:p>
            <a:pPr indent="0" marL="0">
              <a:spcAft>
                <a:spcPts val="400"/>
              </a:spcAft>
              <a:buNone/>
            </a:pPr>
            <a:r>
              <a:rPr lang="en-US" sz="1500" b="1" dirty="0">
                <a:solidFill>
                  <a:schemeClr val="accent3"/>
                </a:solidFill>
                <a:latin typeface="Consolas" pitchFamily="34" charset="0"/>
                <a:ea typeface="Consolas" pitchFamily="34" charset="-122"/>
                <a:cs typeface="Consolas" pitchFamily="34" charset="-120"/>
              </a:rPr>
              <a:t>exit 1</a:t>
            </a:r>
            <a:pPr indent="0" marL="0">
              <a:spcAft>
                <a:spcPts val="400"/>
              </a:spcAft>
              <a:buNone/>
            </a:pPr>
            <a:r>
              <a:rPr lang="en-US" sz="1500" dirty="0">
                <a:solidFill>
                  <a:schemeClr val="tx1"/>
                </a:solidFill>
              </a:rPr>
              <a:t>  = failure (the scheduler knows it failed)</a:t>
            </a:r>
            <a:endParaRPr lang="en-US" sz="1500" dirty="0"/>
          </a:p>
        </p:txBody>
      </p:sp>
      <p:sp>
        <p:nvSpPr>
          <p:cNvPr id="10" name="text-334"/>
          <p:cNvSpPr txBox="1"/>
          <p:nvPr/>
        </p:nvSpPr>
        <p:spPr>
          <a:xfrm>
            <a:off x="4754880" y="1325880"/>
            <a:ext cx="3931920" cy="292608"/>
          </a:xfrm>
          <a:prstGeom prst="rect">
            <a:avLst/>
          </a:prstGeom>
          <a:noFill/>
          <a:ln/>
        </p:spPr>
        <p:txBody>
          <a:bodyPr wrap="square" lIns="0" tIns="0" rIns="0" bIns="0" rtlCol="0" anchor="t"/>
          <a:lstStyle/>
          <a:p>
            <a:pPr indent="0" marL="0">
              <a:buNone/>
            </a:pPr>
            <a:r>
              <a:rPr lang="en-US" sz="1400" b="1" dirty="0">
                <a:solidFill>
                  <a:schemeClr val="tx2"/>
                </a:solidFill>
              </a:rPr>
              <a:t>When a job fails, check in order:</a:t>
            </a:r>
            <a:endParaRPr lang="en-US" sz="1400" dirty="0"/>
          </a:p>
        </p:txBody>
      </p:sp>
      <p:sp>
        <p:nvSpPr>
          <p:cNvPr id="11" name="card-335"/>
          <p:cNvSpPr/>
          <p:nvPr/>
        </p:nvSpPr>
        <p:spPr>
          <a:xfrm>
            <a:off x="4754880" y="1737360"/>
            <a:ext cx="3931920" cy="603504"/>
          </a:xfrm>
          <a:prstGeom prst="roundRect">
            <a:avLst>
              <a:gd name="adj" fmla="val 12121"/>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2" name="step-336"/>
          <p:cNvSpPr/>
          <p:nvPr/>
        </p:nvSpPr>
        <p:spPr>
          <a:xfrm>
            <a:off x="4892040" y="1847088"/>
            <a:ext cx="384048" cy="384048"/>
          </a:xfrm>
          <a:prstGeom prst="ellipse">
            <a:avLst/>
          </a:prstGeom>
          <a:solidFill>
            <a:schemeClr val="accent1"/>
          </a:solidFill>
          <a:ln w="12700">
            <a:solidFill>
              <a:schemeClr val="accent1"/>
            </a:solidFill>
            <a:prstDash val="solid"/>
          </a:ln>
        </p:spPr>
      </p:sp>
      <p:sp>
        <p:nvSpPr>
          <p:cNvPr id="13" name="text-337"/>
          <p:cNvSpPr txBox="1"/>
          <p:nvPr/>
        </p:nvSpPr>
        <p:spPr>
          <a:xfrm>
            <a:off x="4892040" y="1847088"/>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4" name="text-338"/>
          <p:cNvSpPr txBox="1"/>
          <p:nvPr/>
        </p:nvSpPr>
        <p:spPr>
          <a:xfrm>
            <a:off x="5413248" y="1737360"/>
            <a:ext cx="3200400" cy="603504"/>
          </a:xfrm>
          <a:prstGeom prst="rect">
            <a:avLst/>
          </a:prstGeom>
          <a:noFill/>
          <a:ln/>
        </p:spPr>
        <p:txBody>
          <a:bodyPr wrap="square" lIns="0" tIns="0" rIns="0" bIns="0" rtlCol="0" anchor="ctr"/>
          <a:lstStyle/>
          <a:p>
            <a:pPr indent="0" marL="0">
              <a:buNone/>
            </a:pPr>
            <a:r>
              <a:rPr lang="en-US" sz="1400" dirty="0">
                <a:solidFill>
                  <a:schemeClr val="tx1"/>
                </a:solidFill>
              </a:rPr>
              <a:t>Did the scheduler start it?</a:t>
            </a:r>
            <a:endParaRPr lang="en-US" sz="1400" dirty="0"/>
          </a:p>
        </p:txBody>
      </p:sp>
      <p:sp>
        <p:nvSpPr>
          <p:cNvPr id="15" name="card-339"/>
          <p:cNvSpPr/>
          <p:nvPr/>
        </p:nvSpPr>
        <p:spPr>
          <a:xfrm>
            <a:off x="4754880" y="2450592"/>
            <a:ext cx="3931920" cy="603504"/>
          </a:xfrm>
          <a:prstGeom prst="roundRect">
            <a:avLst>
              <a:gd name="adj" fmla="val 12121"/>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6" name="step-340"/>
          <p:cNvSpPr/>
          <p:nvPr/>
        </p:nvSpPr>
        <p:spPr>
          <a:xfrm>
            <a:off x="4892040" y="2560320"/>
            <a:ext cx="384048" cy="384048"/>
          </a:xfrm>
          <a:prstGeom prst="ellipse">
            <a:avLst/>
          </a:prstGeom>
          <a:solidFill>
            <a:schemeClr val="accent1"/>
          </a:solidFill>
          <a:ln w="12700">
            <a:solidFill>
              <a:schemeClr val="accent1"/>
            </a:solidFill>
            <a:prstDash val="solid"/>
          </a:ln>
        </p:spPr>
      </p:sp>
      <p:sp>
        <p:nvSpPr>
          <p:cNvPr id="17" name="text-341"/>
          <p:cNvSpPr txBox="1"/>
          <p:nvPr/>
        </p:nvSpPr>
        <p:spPr>
          <a:xfrm>
            <a:off x="4892040" y="256032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8" name="text-342"/>
          <p:cNvSpPr txBox="1"/>
          <p:nvPr/>
        </p:nvSpPr>
        <p:spPr>
          <a:xfrm>
            <a:off x="5413248" y="2450592"/>
            <a:ext cx="3200400" cy="603504"/>
          </a:xfrm>
          <a:prstGeom prst="rect">
            <a:avLst/>
          </a:prstGeom>
          <a:noFill/>
          <a:ln/>
        </p:spPr>
        <p:txBody>
          <a:bodyPr wrap="square" lIns="0" tIns="0" rIns="0" bIns="0" rtlCol="0" anchor="ctr"/>
          <a:lstStyle/>
          <a:p>
            <a:pPr indent="0" marL="0">
              <a:buNone/>
            </a:pPr>
            <a:r>
              <a:rPr lang="en-US" sz="1400" dirty="0">
                <a:solidFill>
                  <a:schemeClr val="tx1"/>
                </a:solidFill>
              </a:rPr>
              <a:t>Did the script start and finish? Read its log.</a:t>
            </a:r>
            <a:endParaRPr lang="en-US" sz="1400" dirty="0"/>
          </a:p>
        </p:txBody>
      </p:sp>
      <p:sp>
        <p:nvSpPr>
          <p:cNvPr id="19" name="card-343"/>
          <p:cNvSpPr/>
          <p:nvPr/>
        </p:nvSpPr>
        <p:spPr>
          <a:xfrm>
            <a:off x="4754880" y="3163824"/>
            <a:ext cx="3931920" cy="603504"/>
          </a:xfrm>
          <a:prstGeom prst="roundRect">
            <a:avLst>
              <a:gd name="adj" fmla="val 12121"/>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0" name="step-344"/>
          <p:cNvSpPr/>
          <p:nvPr/>
        </p:nvSpPr>
        <p:spPr>
          <a:xfrm>
            <a:off x="4892040" y="3273552"/>
            <a:ext cx="384048" cy="384048"/>
          </a:xfrm>
          <a:prstGeom prst="ellipse">
            <a:avLst/>
          </a:prstGeom>
          <a:solidFill>
            <a:schemeClr val="accent1"/>
          </a:solidFill>
          <a:ln w="12700">
            <a:solidFill>
              <a:schemeClr val="accent1"/>
            </a:solidFill>
            <a:prstDash val="solid"/>
          </a:ln>
        </p:spPr>
      </p:sp>
      <p:sp>
        <p:nvSpPr>
          <p:cNvPr id="21" name="text-345"/>
          <p:cNvSpPr txBox="1"/>
          <p:nvPr/>
        </p:nvSpPr>
        <p:spPr>
          <a:xfrm>
            <a:off x="4892040" y="3273552"/>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22" name="text-346"/>
          <p:cNvSpPr txBox="1"/>
          <p:nvPr/>
        </p:nvSpPr>
        <p:spPr>
          <a:xfrm>
            <a:off x="5413248" y="3163824"/>
            <a:ext cx="3200400" cy="603504"/>
          </a:xfrm>
          <a:prstGeom prst="rect">
            <a:avLst/>
          </a:prstGeom>
          <a:noFill/>
          <a:ln/>
        </p:spPr>
        <p:txBody>
          <a:bodyPr wrap="square" lIns="0" tIns="0" rIns="0" bIns="0" rtlCol="0" anchor="ctr"/>
          <a:lstStyle/>
          <a:p>
            <a:pPr indent="0" marL="0">
              <a:buNone/>
            </a:pPr>
            <a:r>
              <a:rPr lang="en-US" sz="1400" dirty="0">
                <a:solidFill>
                  <a:schemeClr val="tx1"/>
                </a:solidFill>
              </a:rPr>
              <a:t>Run the exact command by hand, as the same user.</a:t>
            </a:r>
            <a:endParaRPr lang="en-US" sz="1400" dirty="0"/>
          </a:p>
        </p:txBody>
      </p:sp>
      <p:sp>
        <p:nvSpPr>
          <p:cNvPr id="23" name="card-347"/>
          <p:cNvSpPr/>
          <p:nvPr/>
        </p:nvSpPr>
        <p:spPr>
          <a:xfrm>
            <a:off x="4754880" y="3877056"/>
            <a:ext cx="3931920" cy="603504"/>
          </a:xfrm>
          <a:prstGeom prst="roundRect">
            <a:avLst>
              <a:gd name="adj" fmla="val 12121"/>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4" name="step-348"/>
          <p:cNvSpPr/>
          <p:nvPr/>
        </p:nvSpPr>
        <p:spPr>
          <a:xfrm>
            <a:off x="4892040" y="3986784"/>
            <a:ext cx="384048" cy="384048"/>
          </a:xfrm>
          <a:prstGeom prst="ellipse">
            <a:avLst/>
          </a:prstGeom>
          <a:solidFill>
            <a:schemeClr val="accent1"/>
          </a:solidFill>
          <a:ln w="12700">
            <a:solidFill>
              <a:schemeClr val="accent1"/>
            </a:solidFill>
            <a:prstDash val="solid"/>
          </a:ln>
        </p:spPr>
      </p:sp>
      <p:sp>
        <p:nvSpPr>
          <p:cNvPr id="25" name="text-349"/>
          <p:cNvSpPr txBox="1"/>
          <p:nvPr/>
        </p:nvSpPr>
        <p:spPr>
          <a:xfrm>
            <a:off x="4892040" y="3986784"/>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26" name="text-350"/>
          <p:cNvSpPr txBox="1"/>
          <p:nvPr/>
        </p:nvSpPr>
        <p:spPr>
          <a:xfrm>
            <a:off x="5413248" y="3877056"/>
            <a:ext cx="3200400" cy="603504"/>
          </a:xfrm>
          <a:prstGeom prst="rect">
            <a:avLst/>
          </a:prstGeom>
          <a:noFill/>
          <a:ln/>
        </p:spPr>
        <p:txBody>
          <a:bodyPr wrap="square" lIns="0" tIns="0" rIns="0" bIns="0" rtlCol="0" anchor="ctr"/>
          <a:lstStyle/>
          <a:p>
            <a:pPr indent="0" marL="0">
              <a:buNone/>
            </a:pPr>
            <a:r>
              <a:rPr lang="en-US" sz="1400" dirty="0">
                <a:solidFill>
                  <a:schemeClr val="tx1"/>
                </a:solidFill>
              </a:rPr>
              <a:t>Fix one thing at a time, then test again.</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7 · SECURITY</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Keep Automation Safe</a:t>
            </a:r>
            <a:endParaRPr lang="en-US" sz="2600" dirty="0"/>
          </a:p>
        </p:txBody>
      </p:sp>
      <p:sp>
        <p:nvSpPr>
          <p:cNvPr id="5" name="card-351"/>
          <p:cNvSpPr/>
          <p:nvPr/>
        </p:nvSpPr>
        <p:spPr>
          <a:xfrm>
            <a:off x="457200" y="1325880"/>
            <a:ext cx="397764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6" name="icon-bg-352"/>
          <p:cNvSpPr/>
          <p:nvPr/>
        </p:nvSpPr>
        <p:spPr>
          <a:xfrm>
            <a:off x="685800" y="1600200"/>
            <a:ext cx="731520" cy="731520"/>
          </a:xfrm>
          <a:prstGeom prst="ellipse">
            <a:avLst/>
          </a:prstGeom>
          <a:solidFill>
            <a:schemeClr val="tx2"/>
          </a:solidFill>
          <a:ln w="12700">
            <a:solidFill>
              <a:schemeClr val="tx2"/>
            </a:solidFill>
            <a:prstDash val="solid"/>
          </a:ln>
        </p:spPr>
      </p:sp>
      <p:pic>
        <p:nvPicPr>
          <p:cNvPr id="7" name="icon-353" descr="preencoded.png">    </p:cNvPr>
          <p:cNvPicPr>
            <a:picLocks noChangeAspect="1"/>
          </p:cNvPicPr>
          <p:nvPr/>
        </p:nvPicPr>
        <p:blipFill>
          <a:blip r:embed="rId1"/>
          <a:stretch>
            <a:fillRect/>
          </a:stretch>
        </p:blipFill>
        <p:spPr>
          <a:xfrm>
            <a:off x="868680" y="1783080"/>
            <a:ext cx="365760" cy="365760"/>
          </a:xfrm>
          <a:prstGeom prst="rect">
            <a:avLst/>
          </a:prstGeom>
        </p:spPr>
      </p:pic>
      <p:sp>
        <p:nvSpPr>
          <p:cNvPr id="8" name="text-354"/>
          <p:cNvSpPr txBox="1"/>
          <p:nvPr/>
        </p:nvSpPr>
        <p:spPr>
          <a:xfrm>
            <a:off x="1600200" y="1554480"/>
            <a:ext cx="2697480" cy="347472"/>
          </a:xfrm>
          <a:prstGeom prst="rect">
            <a:avLst/>
          </a:prstGeom>
          <a:noFill/>
          <a:ln/>
        </p:spPr>
        <p:txBody>
          <a:bodyPr wrap="square" lIns="0" tIns="0" rIns="0" bIns="0" rtlCol="0" anchor="t"/>
          <a:lstStyle/>
          <a:p>
            <a:pPr indent="0" marL="0">
              <a:buNone/>
            </a:pPr>
            <a:r>
              <a:rPr lang="en-US" sz="1700" b="1" dirty="0">
                <a:solidFill>
                  <a:schemeClr val="tx2"/>
                </a:solidFill>
              </a:rPr>
              <a:t>Least privilege</a:t>
            </a:r>
            <a:endParaRPr lang="en-US" sz="1700" dirty="0"/>
          </a:p>
        </p:txBody>
      </p:sp>
      <p:sp>
        <p:nvSpPr>
          <p:cNvPr id="9" name="text-355"/>
          <p:cNvSpPr txBox="1"/>
          <p:nvPr/>
        </p:nvSpPr>
        <p:spPr>
          <a:xfrm>
            <a:off x="1600200" y="1920240"/>
            <a:ext cx="2697480" cy="822960"/>
          </a:xfrm>
          <a:prstGeom prst="rect">
            <a:avLst/>
          </a:prstGeom>
          <a:noFill/>
          <a:ln/>
        </p:spPr>
        <p:txBody>
          <a:bodyPr wrap="square" lIns="0" tIns="0" rIns="0" bIns="0" rtlCol="0" anchor="t"/>
          <a:lstStyle/>
          <a:p>
            <a:pPr indent="0" marL="0">
              <a:buNone/>
            </a:pPr>
            <a:r>
              <a:rPr lang="en-US" sz="1400" dirty="0">
                <a:solidFill>
                  <a:schemeClr val="tx1"/>
                </a:solidFill>
              </a:rPr>
              <a:t>Give each job only the access it needs, like a hotel key card that opens only certain rooms.</a:t>
            </a:r>
            <a:endParaRPr lang="en-US" sz="1400" dirty="0"/>
          </a:p>
        </p:txBody>
      </p:sp>
      <p:sp>
        <p:nvSpPr>
          <p:cNvPr id="10" name="card-356"/>
          <p:cNvSpPr/>
          <p:nvPr/>
        </p:nvSpPr>
        <p:spPr>
          <a:xfrm>
            <a:off x="4709160" y="1325880"/>
            <a:ext cx="397764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1" name="icon-bg-357"/>
          <p:cNvSpPr/>
          <p:nvPr/>
        </p:nvSpPr>
        <p:spPr>
          <a:xfrm>
            <a:off x="4937760" y="1600200"/>
            <a:ext cx="731520" cy="731520"/>
          </a:xfrm>
          <a:prstGeom prst="ellipse">
            <a:avLst/>
          </a:prstGeom>
          <a:solidFill>
            <a:schemeClr val="accent2"/>
          </a:solidFill>
          <a:ln w="12700">
            <a:solidFill>
              <a:schemeClr val="accent2"/>
            </a:solidFill>
            <a:prstDash val="solid"/>
          </a:ln>
        </p:spPr>
      </p:sp>
      <p:pic>
        <p:nvPicPr>
          <p:cNvPr id="12" name="icon-358" descr="preencoded.png">    </p:cNvPr>
          <p:cNvPicPr>
            <a:picLocks noChangeAspect="1"/>
          </p:cNvPicPr>
          <p:nvPr/>
        </p:nvPicPr>
        <p:blipFill>
          <a:blip r:embed="rId2"/>
          <a:stretch>
            <a:fillRect/>
          </a:stretch>
        </p:blipFill>
        <p:spPr>
          <a:xfrm>
            <a:off x="5120640" y="1783080"/>
            <a:ext cx="365760" cy="365760"/>
          </a:xfrm>
          <a:prstGeom prst="rect">
            <a:avLst/>
          </a:prstGeom>
        </p:spPr>
      </p:pic>
      <p:sp>
        <p:nvSpPr>
          <p:cNvPr id="13" name="text-359"/>
          <p:cNvSpPr txBox="1"/>
          <p:nvPr/>
        </p:nvSpPr>
        <p:spPr>
          <a:xfrm>
            <a:off x="5852160" y="1554480"/>
            <a:ext cx="2697480" cy="347472"/>
          </a:xfrm>
          <a:prstGeom prst="rect">
            <a:avLst/>
          </a:prstGeom>
          <a:noFill/>
          <a:ln/>
        </p:spPr>
        <p:txBody>
          <a:bodyPr wrap="square" lIns="0" tIns="0" rIns="0" bIns="0" rtlCol="0" anchor="t"/>
          <a:lstStyle/>
          <a:p>
            <a:pPr indent="0" marL="0">
              <a:buNone/>
            </a:pPr>
            <a:r>
              <a:rPr lang="en-US" sz="1700" b="1" dirty="0">
                <a:solidFill>
                  <a:schemeClr val="tx2"/>
                </a:solidFill>
              </a:rPr>
              <a:t>Protect your scripts</a:t>
            </a:r>
            <a:endParaRPr lang="en-US" sz="1700" dirty="0"/>
          </a:p>
        </p:txBody>
      </p:sp>
      <p:sp>
        <p:nvSpPr>
          <p:cNvPr id="14" name="text-360"/>
          <p:cNvSpPr txBox="1"/>
          <p:nvPr/>
        </p:nvSpPr>
        <p:spPr>
          <a:xfrm>
            <a:off x="5852160" y="1920240"/>
            <a:ext cx="2697480" cy="822960"/>
          </a:xfrm>
          <a:prstGeom prst="rect">
            <a:avLst/>
          </a:prstGeom>
          <a:noFill/>
          <a:ln/>
        </p:spPr>
        <p:txBody>
          <a:bodyPr wrap="square" lIns="0" tIns="0" rIns="0" bIns="0" rtlCol="0" anchor="t"/>
          <a:lstStyle/>
          <a:p>
            <a:pPr indent="0" marL="0">
              <a:buNone/>
            </a:pPr>
            <a:r>
              <a:rPr lang="en-US" sz="1400" dirty="0">
                <a:solidFill>
                  <a:schemeClr val="tx1"/>
                </a:solidFill>
              </a:rPr>
              <a:t>Only admins should be able to edit them, or anyone could add harmful commands.</a:t>
            </a:r>
            <a:endParaRPr lang="en-US" sz="1400" dirty="0"/>
          </a:p>
        </p:txBody>
      </p:sp>
      <p:sp>
        <p:nvSpPr>
          <p:cNvPr id="15" name="card-361"/>
          <p:cNvSpPr/>
          <p:nvPr/>
        </p:nvSpPr>
        <p:spPr>
          <a:xfrm>
            <a:off x="457200" y="3017520"/>
            <a:ext cx="397764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6" name="icon-bg-362"/>
          <p:cNvSpPr/>
          <p:nvPr/>
        </p:nvSpPr>
        <p:spPr>
          <a:xfrm>
            <a:off x="685800" y="3291840"/>
            <a:ext cx="731520" cy="731520"/>
          </a:xfrm>
          <a:prstGeom prst="ellipse">
            <a:avLst/>
          </a:prstGeom>
          <a:solidFill>
            <a:schemeClr val="tx2"/>
          </a:solidFill>
          <a:ln w="12700">
            <a:solidFill>
              <a:schemeClr val="tx2"/>
            </a:solidFill>
            <a:prstDash val="solid"/>
          </a:ln>
        </p:spPr>
      </p:sp>
      <p:pic>
        <p:nvPicPr>
          <p:cNvPr id="17" name="icon-363" descr="preencoded.png">    </p:cNvPr>
          <p:cNvPicPr>
            <a:picLocks noChangeAspect="1"/>
          </p:cNvPicPr>
          <p:nvPr/>
        </p:nvPicPr>
        <p:blipFill>
          <a:blip r:embed="rId3"/>
          <a:stretch>
            <a:fillRect/>
          </a:stretch>
        </p:blipFill>
        <p:spPr>
          <a:xfrm>
            <a:off x="868680" y="3474720"/>
            <a:ext cx="365760" cy="365760"/>
          </a:xfrm>
          <a:prstGeom prst="rect">
            <a:avLst/>
          </a:prstGeom>
        </p:spPr>
      </p:pic>
      <p:sp>
        <p:nvSpPr>
          <p:cNvPr id="18" name="text-364"/>
          <p:cNvSpPr txBox="1"/>
          <p:nvPr/>
        </p:nvSpPr>
        <p:spPr>
          <a:xfrm>
            <a:off x="1600200" y="3246120"/>
            <a:ext cx="2697480" cy="347472"/>
          </a:xfrm>
          <a:prstGeom prst="rect">
            <a:avLst/>
          </a:prstGeom>
          <a:noFill/>
          <a:ln/>
        </p:spPr>
        <p:txBody>
          <a:bodyPr wrap="square" lIns="0" tIns="0" rIns="0" bIns="0" rtlCol="0" anchor="t"/>
          <a:lstStyle/>
          <a:p>
            <a:pPr indent="0" marL="0">
              <a:buNone/>
            </a:pPr>
            <a:r>
              <a:rPr lang="en-US" sz="1700" b="1" dirty="0">
                <a:solidFill>
                  <a:schemeClr val="tx2"/>
                </a:solidFill>
              </a:rPr>
              <a:t>No passwords in scripts</a:t>
            </a:r>
            <a:endParaRPr lang="en-US" sz="1700" dirty="0"/>
          </a:p>
        </p:txBody>
      </p:sp>
      <p:sp>
        <p:nvSpPr>
          <p:cNvPr id="19" name="text-365"/>
          <p:cNvSpPr txBox="1"/>
          <p:nvPr/>
        </p:nvSpPr>
        <p:spPr>
          <a:xfrm>
            <a:off x="1600200" y="3611880"/>
            <a:ext cx="2697480" cy="822960"/>
          </a:xfrm>
          <a:prstGeom prst="rect">
            <a:avLst/>
          </a:prstGeom>
          <a:noFill/>
          <a:ln/>
        </p:spPr>
        <p:txBody>
          <a:bodyPr wrap="square" lIns="0" tIns="0" rIns="0" bIns="0" rtlCol="0" anchor="t"/>
          <a:lstStyle/>
          <a:p>
            <a:pPr indent="0" marL="0">
              <a:buNone/>
            </a:pPr>
            <a:r>
              <a:rPr lang="en-US" sz="1400" dirty="0">
                <a:solidFill>
                  <a:schemeClr val="tx1"/>
                </a:solidFill>
              </a:rPr>
              <a:t>Use a password vault, Credential Manager, or a managed service account.</a:t>
            </a:r>
            <a:endParaRPr lang="en-US" sz="1400" dirty="0"/>
          </a:p>
        </p:txBody>
      </p:sp>
      <p:sp>
        <p:nvSpPr>
          <p:cNvPr id="20" name="card-366"/>
          <p:cNvSpPr/>
          <p:nvPr/>
        </p:nvSpPr>
        <p:spPr>
          <a:xfrm>
            <a:off x="4709160" y="3017520"/>
            <a:ext cx="397764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1" name="icon-bg-367"/>
          <p:cNvSpPr/>
          <p:nvPr/>
        </p:nvSpPr>
        <p:spPr>
          <a:xfrm>
            <a:off x="4937760" y="3291840"/>
            <a:ext cx="731520" cy="731520"/>
          </a:xfrm>
          <a:prstGeom prst="ellipse">
            <a:avLst/>
          </a:prstGeom>
          <a:solidFill>
            <a:schemeClr val="accent2"/>
          </a:solidFill>
          <a:ln w="12700">
            <a:solidFill>
              <a:schemeClr val="accent2"/>
            </a:solidFill>
            <a:prstDash val="solid"/>
          </a:ln>
        </p:spPr>
      </p:sp>
      <p:pic>
        <p:nvPicPr>
          <p:cNvPr id="22" name="icon-368" descr="preencoded.png">    </p:cNvPr>
          <p:cNvPicPr>
            <a:picLocks noChangeAspect="1"/>
          </p:cNvPicPr>
          <p:nvPr/>
        </p:nvPicPr>
        <p:blipFill>
          <a:blip r:embed="rId4"/>
          <a:stretch>
            <a:fillRect/>
          </a:stretch>
        </p:blipFill>
        <p:spPr>
          <a:xfrm>
            <a:off x="5120640" y="3474720"/>
            <a:ext cx="365760" cy="365760"/>
          </a:xfrm>
          <a:prstGeom prst="rect">
            <a:avLst/>
          </a:prstGeom>
        </p:spPr>
      </p:pic>
      <p:sp>
        <p:nvSpPr>
          <p:cNvPr id="23" name="text-369"/>
          <p:cNvSpPr txBox="1"/>
          <p:nvPr/>
        </p:nvSpPr>
        <p:spPr>
          <a:xfrm>
            <a:off x="5852160" y="3246120"/>
            <a:ext cx="2697480" cy="347472"/>
          </a:xfrm>
          <a:prstGeom prst="rect">
            <a:avLst/>
          </a:prstGeom>
          <a:noFill/>
          <a:ln/>
        </p:spPr>
        <p:txBody>
          <a:bodyPr wrap="square" lIns="0" tIns="0" rIns="0" bIns="0" rtlCol="0" anchor="t"/>
          <a:lstStyle/>
          <a:p>
            <a:pPr indent="0" marL="0">
              <a:buNone/>
            </a:pPr>
            <a:r>
              <a:rPr lang="en-US" sz="1700" b="1" dirty="0">
                <a:solidFill>
                  <a:schemeClr val="tx2"/>
                </a:solidFill>
              </a:rPr>
              <a:t>Review and audit</a:t>
            </a:r>
            <a:endParaRPr lang="en-US" sz="1700" dirty="0"/>
          </a:p>
        </p:txBody>
      </p:sp>
      <p:sp>
        <p:nvSpPr>
          <p:cNvPr id="24" name="text-370"/>
          <p:cNvSpPr txBox="1"/>
          <p:nvPr/>
        </p:nvSpPr>
        <p:spPr>
          <a:xfrm>
            <a:off x="5852160" y="3611880"/>
            <a:ext cx="2697480" cy="822960"/>
          </a:xfrm>
          <a:prstGeom prst="rect">
            <a:avLst/>
          </a:prstGeom>
          <a:noFill/>
          <a:ln/>
        </p:spPr>
        <p:txBody>
          <a:bodyPr wrap="square" lIns="0" tIns="0" rIns="0" bIns="0" rtlCol="0" anchor="t"/>
          <a:lstStyle/>
          <a:p>
            <a:pPr indent="0" marL="0">
              <a:buNone/>
            </a:pPr>
            <a:r>
              <a:rPr lang="en-US" sz="1400" dirty="0">
                <a:solidFill>
                  <a:schemeClr val="tx1"/>
                </a:solidFill>
              </a:rPr>
              <a:t>List scheduled jobs regularly. An unknown task could be malware.</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7 · MONITORING</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"It Ran" Is Not the Same as "It Worked"</a:t>
            </a:r>
            <a:endParaRPr lang="en-US" sz="2600" dirty="0"/>
          </a:p>
        </p:txBody>
      </p:sp>
      <p:sp>
        <p:nvSpPr>
          <p:cNvPr id="5" name="card-371"/>
          <p:cNvSpPr/>
          <p:nvPr/>
        </p:nvSpPr>
        <p:spPr>
          <a:xfrm>
            <a:off x="457200" y="1325880"/>
            <a:ext cx="251460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6" name="icon-bg-372"/>
          <p:cNvSpPr/>
          <p:nvPr/>
        </p:nvSpPr>
        <p:spPr>
          <a:xfrm>
            <a:off x="685800" y="1536192"/>
            <a:ext cx="640080" cy="640080"/>
          </a:xfrm>
          <a:prstGeom prst="ellipse">
            <a:avLst/>
          </a:prstGeom>
          <a:solidFill>
            <a:schemeClr val="tx2"/>
          </a:solidFill>
          <a:ln w="12700">
            <a:solidFill>
              <a:schemeClr val="tx2"/>
            </a:solidFill>
            <a:prstDash val="solid"/>
          </a:ln>
        </p:spPr>
      </p:sp>
      <p:pic>
        <p:nvPicPr>
          <p:cNvPr id="7" name="icon-373" descr="preencoded.png">    </p:cNvPr>
          <p:cNvPicPr>
            <a:picLocks noChangeAspect="1"/>
          </p:cNvPicPr>
          <p:nvPr/>
        </p:nvPicPr>
        <p:blipFill>
          <a:blip r:embed="rId1"/>
          <a:stretch>
            <a:fillRect/>
          </a:stretch>
        </p:blipFill>
        <p:spPr>
          <a:xfrm>
            <a:off x="845820" y="1696212"/>
            <a:ext cx="320040" cy="320040"/>
          </a:xfrm>
          <a:prstGeom prst="rect">
            <a:avLst/>
          </a:prstGeom>
        </p:spPr>
      </p:pic>
      <p:sp>
        <p:nvSpPr>
          <p:cNvPr id="8" name="text-374"/>
          <p:cNvSpPr txBox="1"/>
          <p:nvPr/>
        </p:nvSpPr>
        <p:spPr>
          <a:xfrm>
            <a:off x="1463040" y="1572768"/>
            <a:ext cx="1371600" cy="566928"/>
          </a:xfrm>
          <a:prstGeom prst="rect">
            <a:avLst/>
          </a:prstGeom>
          <a:noFill/>
          <a:ln/>
        </p:spPr>
        <p:txBody>
          <a:bodyPr wrap="square" lIns="0" tIns="0" rIns="0" bIns="0" rtlCol="0" anchor="ctr"/>
          <a:lstStyle/>
          <a:p>
            <a:pPr indent="0" marL="0">
              <a:buNone/>
            </a:pPr>
            <a:r>
              <a:rPr lang="en-US" sz="1800" b="1" dirty="0">
                <a:solidFill>
                  <a:schemeClr val="accent2"/>
                </a:solidFill>
              </a:rPr>
              <a:t>Level 1</a:t>
            </a:r>
            <a:endParaRPr lang="en-US" sz="1800" dirty="0"/>
          </a:p>
        </p:txBody>
      </p:sp>
      <p:sp>
        <p:nvSpPr>
          <p:cNvPr id="9" name="text-375"/>
          <p:cNvSpPr txBox="1"/>
          <p:nvPr/>
        </p:nvSpPr>
        <p:spPr>
          <a:xfrm>
            <a:off x="685800" y="2331720"/>
            <a:ext cx="2103120" cy="594360"/>
          </a:xfrm>
          <a:prstGeom prst="rect">
            <a:avLst/>
          </a:prstGeom>
          <a:noFill/>
          <a:ln/>
        </p:spPr>
        <p:txBody>
          <a:bodyPr wrap="square" lIns="0" tIns="0" rIns="0" bIns="0" rtlCol="0" anchor="t"/>
          <a:lstStyle/>
          <a:p>
            <a:pPr indent="0" marL="0">
              <a:buNone/>
            </a:pPr>
            <a:r>
              <a:rPr lang="en-US" sz="1600" b="1" dirty="0">
                <a:solidFill>
                  <a:schemeClr val="tx2"/>
                </a:solidFill>
              </a:rPr>
              <a:t>The scheduler started it</a:t>
            </a:r>
            <a:endParaRPr lang="en-US" sz="1600" dirty="0"/>
          </a:p>
        </p:txBody>
      </p:sp>
      <p:sp>
        <p:nvSpPr>
          <p:cNvPr id="10" name="text-376"/>
          <p:cNvSpPr txBox="1"/>
          <p:nvPr/>
        </p:nvSpPr>
        <p:spPr>
          <a:xfrm>
            <a:off x="685800" y="2971800"/>
            <a:ext cx="2103120" cy="548640"/>
          </a:xfrm>
          <a:prstGeom prst="rect">
            <a:avLst/>
          </a:prstGeom>
          <a:noFill/>
          <a:ln/>
        </p:spPr>
        <p:txBody>
          <a:bodyPr wrap="square" lIns="0" tIns="0" rIns="0" bIns="0" rtlCol="0" anchor="t"/>
          <a:lstStyle/>
          <a:p>
            <a:pPr indent="0" marL="0">
              <a:buNone/>
            </a:pPr>
            <a:r>
              <a:rPr lang="en-US" sz="1400" dirty="0">
                <a:solidFill>
                  <a:schemeClr val="tx1"/>
                </a:solidFill>
              </a:rPr>
              <a:t>History tab, cron log</a:t>
            </a:r>
            <a:endParaRPr lang="en-US" sz="1400" dirty="0"/>
          </a:p>
        </p:txBody>
      </p:sp>
      <p:sp>
        <p:nvSpPr>
          <p:cNvPr id="11" name="arrow-377"/>
          <p:cNvSpPr/>
          <p:nvPr/>
        </p:nvSpPr>
        <p:spPr>
          <a:xfrm>
            <a:off x="3008376" y="2331720"/>
            <a:ext cx="246888" cy="274320"/>
          </a:xfrm>
          <a:prstGeom prst="rightArrow">
            <a:avLst/>
          </a:prstGeom>
          <a:solidFill>
            <a:schemeClr val="accent1"/>
          </a:solidFill>
          <a:ln w="12700">
            <a:solidFill>
              <a:schemeClr val="accent1"/>
            </a:solidFill>
            <a:prstDash val="solid"/>
          </a:ln>
        </p:spPr>
      </p:sp>
      <p:sp>
        <p:nvSpPr>
          <p:cNvPr id="12" name="card-378"/>
          <p:cNvSpPr/>
          <p:nvPr/>
        </p:nvSpPr>
        <p:spPr>
          <a:xfrm>
            <a:off x="3291840" y="1325880"/>
            <a:ext cx="251460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3" name="icon-bg-379"/>
          <p:cNvSpPr/>
          <p:nvPr/>
        </p:nvSpPr>
        <p:spPr>
          <a:xfrm>
            <a:off x="3520440" y="1536192"/>
            <a:ext cx="640080" cy="640080"/>
          </a:xfrm>
          <a:prstGeom prst="ellipse">
            <a:avLst/>
          </a:prstGeom>
          <a:solidFill>
            <a:schemeClr val="tx2"/>
          </a:solidFill>
          <a:ln w="12700">
            <a:solidFill>
              <a:schemeClr val="tx2"/>
            </a:solidFill>
            <a:prstDash val="solid"/>
          </a:ln>
        </p:spPr>
      </p:sp>
      <p:pic>
        <p:nvPicPr>
          <p:cNvPr id="14" name="icon-380" descr="preencoded.png">    </p:cNvPr>
          <p:cNvPicPr>
            <a:picLocks noChangeAspect="1"/>
          </p:cNvPicPr>
          <p:nvPr/>
        </p:nvPicPr>
        <p:blipFill>
          <a:blip r:embed="rId2"/>
          <a:stretch>
            <a:fillRect/>
          </a:stretch>
        </p:blipFill>
        <p:spPr>
          <a:xfrm>
            <a:off x="3680460" y="1696212"/>
            <a:ext cx="320040" cy="320040"/>
          </a:xfrm>
          <a:prstGeom prst="rect">
            <a:avLst/>
          </a:prstGeom>
        </p:spPr>
      </p:pic>
      <p:sp>
        <p:nvSpPr>
          <p:cNvPr id="15" name="text-381"/>
          <p:cNvSpPr txBox="1"/>
          <p:nvPr/>
        </p:nvSpPr>
        <p:spPr>
          <a:xfrm>
            <a:off x="4297680" y="1572768"/>
            <a:ext cx="1371600" cy="566928"/>
          </a:xfrm>
          <a:prstGeom prst="rect">
            <a:avLst/>
          </a:prstGeom>
          <a:noFill/>
          <a:ln/>
        </p:spPr>
        <p:txBody>
          <a:bodyPr wrap="square" lIns="0" tIns="0" rIns="0" bIns="0" rtlCol="0" anchor="ctr"/>
          <a:lstStyle/>
          <a:p>
            <a:pPr indent="0" marL="0">
              <a:buNone/>
            </a:pPr>
            <a:r>
              <a:rPr lang="en-US" sz="1800" b="1" dirty="0">
                <a:solidFill>
                  <a:schemeClr val="accent2"/>
                </a:solidFill>
              </a:rPr>
              <a:t>Level 2</a:t>
            </a:r>
            <a:endParaRPr lang="en-US" sz="1800" dirty="0"/>
          </a:p>
        </p:txBody>
      </p:sp>
      <p:sp>
        <p:nvSpPr>
          <p:cNvPr id="16" name="text-382"/>
          <p:cNvSpPr txBox="1"/>
          <p:nvPr/>
        </p:nvSpPr>
        <p:spPr>
          <a:xfrm>
            <a:off x="3520440" y="2331720"/>
            <a:ext cx="2103120" cy="594360"/>
          </a:xfrm>
          <a:prstGeom prst="rect">
            <a:avLst/>
          </a:prstGeom>
          <a:noFill/>
          <a:ln/>
        </p:spPr>
        <p:txBody>
          <a:bodyPr wrap="square" lIns="0" tIns="0" rIns="0" bIns="0" rtlCol="0" anchor="t"/>
          <a:lstStyle/>
          <a:p>
            <a:pPr indent="0" marL="0">
              <a:buNone/>
            </a:pPr>
            <a:r>
              <a:rPr lang="en-US" sz="1600" b="1" dirty="0">
                <a:solidFill>
                  <a:schemeClr val="tx2"/>
                </a:solidFill>
              </a:rPr>
              <a:t>The script succeeded</a:t>
            </a:r>
            <a:endParaRPr lang="en-US" sz="1600" dirty="0"/>
          </a:p>
        </p:txBody>
      </p:sp>
      <p:sp>
        <p:nvSpPr>
          <p:cNvPr id="17" name="text-383"/>
          <p:cNvSpPr txBox="1"/>
          <p:nvPr/>
        </p:nvSpPr>
        <p:spPr>
          <a:xfrm>
            <a:off x="3520440" y="2971800"/>
            <a:ext cx="2103120" cy="548640"/>
          </a:xfrm>
          <a:prstGeom prst="rect">
            <a:avLst/>
          </a:prstGeom>
          <a:noFill/>
          <a:ln/>
        </p:spPr>
        <p:txBody>
          <a:bodyPr wrap="square" lIns="0" tIns="0" rIns="0" bIns="0" rtlCol="0" anchor="t"/>
          <a:lstStyle/>
          <a:p>
            <a:pPr indent="0" marL="0">
              <a:buNone/>
            </a:pPr>
            <a:r>
              <a:rPr lang="en-US" sz="1400" dirty="0">
                <a:solidFill>
                  <a:schemeClr val="tx1"/>
                </a:solidFill>
              </a:rPr>
              <a:t>Script log, exit code 0</a:t>
            </a:r>
            <a:endParaRPr lang="en-US" sz="1400" dirty="0"/>
          </a:p>
        </p:txBody>
      </p:sp>
      <p:sp>
        <p:nvSpPr>
          <p:cNvPr id="18" name="arrow-384"/>
          <p:cNvSpPr/>
          <p:nvPr/>
        </p:nvSpPr>
        <p:spPr>
          <a:xfrm>
            <a:off x="5843016" y="2331720"/>
            <a:ext cx="246888" cy="274320"/>
          </a:xfrm>
          <a:prstGeom prst="rightArrow">
            <a:avLst/>
          </a:prstGeom>
          <a:solidFill>
            <a:schemeClr val="accent1"/>
          </a:solidFill>
          <a:ln w="12700">
            <a:solidFill>
              <a:schemeClr val="accent1"/>
            </a:solidFill>
            <a:prstDash val="solid"/>
          </a:ln>
        </p:spPr>
      </p:sp>
      <p:sp>
        <p:nvSpPr>
          <p:cNvPr id="19" name="card-385"/>
          <p:cNvSpPr/>
          <p:nvPr/>
        </p:nvSpPr>
        <p:spPr>
          <a:xfrm>
            <a:off x="6126480" y="1325880"/>
            <a:ext cx="2514600" cy="2331720"/>
          </a:xfrm>
          <a:prstGeom prst="roundRect">
            <a:avLst>
              <a:gd name="adj" fmla="val 3137"/>
            </a:avLst>
          </a:prstGeom>
          <a:solidFill>
            <a:schemeClr val="accent2"/>
          </a:solidFill>
          <a:ln w="12700">
            <a:solidFill>
              <a:schemeClr val="accent2"/>
            </a:solidFill>
            <a:prstDash val="solid"/>
          </a:ln>
          <a:effectLst>
            <a:outerShdw sx="100000" sy="100000" kx="0" ky="0" algn="bl" rotWithShape="0" blurRad="76200" dist="19050" dir="5400000">
              <a:srgbClr val="000000">
                <a:alpha val="12000"/>
              </a:srgbClr>
            </a:outerShdw>
          </a:effectLst>
        </p:spPr>
      </p:sp>
      <p:sp>
        <p:nvSpPr>
          <p:cNvPr id="20" name="icon-bg-386"/>
          <p:cNvSpPr/>
          <p:nvPr/>
        </p:nvSpPr>
        <p:spPr>
          <a:xfrm>
            <a:off x="6355080" y="1536192"/>
            <a:ext cx="640080" cy="640080"/>
          </a:xfrm>
          <a:prstGeom prst="ellipse">
            <a:avLst/>
          </a:prstGeom>
          <a:solidFill>
            <a:schemeClr val="bg1"/>
          </a:solidFill>
          <a:ln w="12700">
            <a:solidFill>
              <a:schemeClr val="bg1"/>
            </a:solidFill>
            <a:prstDash val="solid"/>
          </a:ln>
        </p:spPr>
      </p:sp>
      <p:pic>
        <p:nvPicPr>
          <p:cNvPr id="21" name="icon-387" descr="preencoded.png">    </p:cNvPr>
          <p:cNvPicPr>
            <a:picLocks noChangeAspect="1"/>
          </p:cNvPicPr>
          <p:nvPr/>
        </p:nvPicPr>
        <p:blipFill>
          <a:blip r:embed="rId3"/>
          <a:stretch>
            <a:fillRect/>
          </a:stretch>
        </p:blipFill>
        <p:spPr>
          <a:xfrm>
            <a:off x="6515100" y="1696212"/>
            <a:ext cx="320040" cy="320040"/>
          </a:xfrm>
          <a:prstGeom prst="rect">
            <a:avLst/>
          </a:prstGeom>
        </p:spPr>
      </p:pic>
      <p:sp>
        <p:nvSpPr>
          <p:cNvPr id="22" name="text-388"/>
          <p:cNvSpPr txBox="1"/>
          <p:nvPr/>
        </p:nvSpPr>
        <p:spPr>
          <a:xfrm>
            <a:off x="7132320" y="1572768"/>
            <a:ext cx="1371600" cy="566928"/>
          </a:xfrm>
          <a:prstGeom prst="rect">
            <a:avLst/>
          </a:prstGeom>
          <a:noFill/>
          <a:ln/>
        </p:spPr>
        <p:txBody>
          <a:bodyPr wrap="square" lIns="0" tIns="0" rIns="0" bIns="0" rtlCol="0" anchor="ctr"/>
          <a:lstStyle/>
          <a:p>
            <a:pPr indent="0" marL="0">
              <a:buNone/>
            </a:pPr>
            <a:r>
              <a:rPr lang="en-US" sz="1800" b="1" dirty="0">
                <a:solidFill>
                  <a:schemeClr val="bg1"/>
                </a:solidFill>
              </a:rPr>
              <a:t>Level 3</a:t>
            </a:r>
            <a:endParaRPr lang="en-US" sz="1800" dirty="0"/>
          </a:p>
        </p:txBody>
      </p:sp>
      <p:sp>
        <p:nvSpPr>
          <p:cNvPr id="23" name="text-389"/>
          <p:cNvSpPr txBox="1"/>
          <p:nvPr/>
        </p:nvSpPr>
        <p:spPr>
          <a:xfrm>
            <a:off x="6355080" y="2331720"/>
            <a:ext cx="2103120" cy="594360"/>
          </a:xfrm>
          <a:prstGeom prst="rect">
            <a:avLst/>
          </a:prstGeom>
          <a:noFill/>
          <a:ln/>
        </p:spPr>
        <p:txBody>
          <a:bodyPr wrap="square" lIns="0" tIns="0" rIns="0" bIns="0" rtlCol="0" anchor="t"/>
          <a:lstStyle/>
          <a:p>
            <a:pPr indent="0" marL="0">
              <a:buNone/>
            </a:pPr>
            <a:r>
              <a:rPr lang="en-US" sz="1600" b="1" dirty="0">
                <a:solidFill>
                  <a:schemeClr val="bg1"/>
                </a:solidFill>
              </a:rPr>
              <a:t>The result really exists</a:t>
            </a:r>
            <a:endParaRPr lang="en-US" sz="1600" dirty="0"/>
          </a:p>
        </p:txBody>
      </p:sp>
      <p:sp>
        <p:nvSpPr>
          <p:cNvPr id="24" name="text-390"/>
          <p:cNvSpPr txBox="1"/>
          <p:nvPr/>
        </p:nvSpPr>
        <p:spPr>
          <a:xfrm>
            <a:off x="6355080" y="2971800"/>
            <a:ext cx="2103120" cy="548640"/>
          </a:xfrm>
          <a:prstGeom prst="rect">
            <a:avLst/>
          </a:prstGeom>
          <a:noFill/>
          <a:ln/>
        </p:spPr>
        <p:txBody>
          <a:bodyPr wrap="square" lIns="0" tIns="0" rIns="0" bIns="0" rtlCol="0" anchor="t"/>
          <a:lstStyle/>
          <a:p>
            <a:pPr indent="0" marL="0">
              <a:buNone/>
            </a:pPr>
            <a:r>
              <a:rPr lang="en-US" sz="1400" dirty="0">
                <a:solidFill>
                  <a:schemeClr val="bg1"/>
                </a:solidFill>
              </a:rPr>
              <a:t>Backup file is there and not empty</a:t>
            </a:r>
            <a:endParaRPr lang="en-US" sz="1400" dirty="0"/>
          </a:p>
        </p:txBody>
      </p:sp>
      <p:sp>
        <p:nvSpPr>
          <p:cNvPr id="25" name="card-391"/>
          <p:cNvSpPr/>
          <p:nvPr/>
        </p:nvSpPr>
        <p:spPr>
          <a:xfrm>
            <a:off x="457200" y="3858768"/>
            <a:ext cx="8229600" cy="731520"/>
          </a:xfrm>
          <a:prstGeom prst="roundRect">
            <a:avLst>
              <a:gd name="adj" fmla="val 10000"/>
            </a:avLst>
          </a:prstGeom>
          <a:solidFill>
            <a:schemeClr val="tx2"/>
          </a:solidFill>
          <a:ln w="12700">
            <a:solidFill>
              <a:schemeClr val="tx2"/>
            </a:solidFill>
            <a:prstDash val="solid"/>
          </a:ln>
        </p:spPr>
      </p:sp>
      <p:sp>
        <p:nvSpPr>
          <p:cNvPr id="26" name="icon-bg-392"/>
          <p:cNvSpPr/>
          <p:nvPr/>
        </p:nvSpPr>
        <p:spPr>
          <a:xfrm>
            <a:off x="658368" y="3950208"/>
            <a:ext cx="548640" cy="548640"/>
          </a:xfrm>
          <a:prstGeom prst="ellipse">
            <a:avLst/>
          </a:prstGeom>
          <a:solidFill>
            <a:schemeClr val="accent1"/>
          </a:solidFill>
          <a:ln w="12700">
            <a:solidFill>
              <a:schemeClr val="accent1"/>
            </a:solidFill>
            <a:prstDash val="solid"/>
          </a:ln>
        </p:spPr>
      </p:sp>
      <p:pic>
        <p:nvPicPr>
          <p:cNvPr id="27" name="icon-393" descr="preencoded.png">    </p:cNvPr>
          <p:cNvPicPr>
            <a:picLocks noChangeAspect="1"/>
          </p:cNvPicPr>
          <p:nvPr/>
        </p:nvPicPr>
        <p:blipFill>
          <a:blip r:embed="rId4"/>
          <a:stretch>
            <a:fillRect/>
          </a:stretch>
        </p:blipFill>
        <p:spPr>
          <a:xfrm>
            <a:off x="795528" y="4087368"/>
            <a:ext cx="274320" cy="274320"/>
          </a:xfrm>
          <a:prstGeom prst="rect">
            <a:avLst/>
          </a:prstGeom>
        </p:spPr>
      </p:pic>
      <p:sp>
        <p:nvSpPr>
          <p:cNvPr id="28" name="text-394"/>
          <p:cNvSpPr txBox="1"/>
          <p:nvPr/>
        </p:nvSpPr>
        <p:spPr>
          <a:xfrm>
            <a:off x="1417320" y="3877056"/>
            <a:ext cx="7132320" cy="694944"/>
          </a:xfrm>
          <a:prstGeom prst="rect">
            <a:avLst/>
          </a:prstGeom>
          <a:noFill/>
          <a:ln/>
        </p:spPr>
        <p:txBody>
          <a:bodyPr wrap="square" lIns="0" tIns="0" rIns="0" bIns="0" rtlCol="0" anchor="ctr"/>
          <a:lstStyle/>
          <a:p>
            <a:pPr indent="0" marL="0">
              <a:buNone/>
            </a:pPr>
            <a:r>
              <a:rPr lang="en-US" sz="1500" b="1" dirty="0">
                <a:solidFill>
                  <a:schemeClr val="accent1"/>
                </a:solidFill>
              </a:rPr>
              <a:t>Best proof for backups: </a:t>
            </a:r>
            <a:pPr indent="0" marL="0">
              <a:buNone/>
            </a:pPr>
            <a:r>
              <a:rPr lang="en-US" sz="1500" dirty="0">
                <a:solidFill>
                  <a:schemeClr val="bg1"/>
                </a:solidFill>
              </a:rPr>
              <a:t>do a test restore regularly. Also set alerts so failures are noticed.</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8 · COMPARING THE TOOLS</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Which Tool Should I Use?</a:t>
            </a:r>
            <a:endParaRPr lang="en-US" sz="2600" dirty="0"/>
          </a:p>
        </p:txBody>
      </p:sp>
      <p:graphicFrame>
        <p:nvGraphicFramePr>
          <p:cNvPr id="21" name="tools-table"/>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554480"/>
                <a:gridCol w="1325880"/>
                <a:gridCol w="3063240"/>
                <a:gridCol w="2286000"/>
              </a:tblGrid>
              <a:tr h="566928">
                <a:tc>
                  <a:txBody>
                    <a:bodyPr/>
                    <a:lstStyle/>
                    <a:p>
                      <a:pPr indent="0" marL="0">
                        <a:buNone/>
                      </a:pPr>
                      <a:r>
                        <a:rPr lang="en-US" sz="1400" b="1" dirty="0">
                          <a:solidFill>
                            <a:schemeClr val="bg1"/>
                          </a:solidFill>
                        </a:rPr>
                        <a:t>Tool</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Platform</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Best for</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Limitation</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2"/>
                          </a:solidFill>
                        </a:rPr>
                        <a:t>Task Scheduler</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Windows</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Repeating, one-time, and event tasks; GUI, conditions, retries</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Windows only</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2"/>
                          </a:solidFill>
                        </a:rPr>
                        <a:t>cron</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Linux / Unix</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Simple repeating jobs based on time</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retries; skips runs if the PC was off</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2"/>
                          </a:solidFill>
                        </a:rPr>
                        <a:t>at</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Linux / Unix</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Jobs that run only once</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Cannot repeat</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2"/>
                          </a:solidFill>
                        </a:rPr>
                        <a:t>Scripts</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Both</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actual steps: work, checks, and logs</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Need a scheduler or a person to start them</a:t>
                      </a:r>
                      <a:endParaRPr lang="en-US" sz="1400" dirty="0"/>
                    </a:p>
                  </a:txBody>
                  <a:tcPr marL="109728" marR="109728"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bl>
          </a:graphicData>
        </a:graphic>
      </p:graphicFrame>
      <p:sp>
        <p:nvSpPr>
          <p:cNvPr id="6" name="text-395"/>
          <p:cNvSpPr txBox="1"/>
          <p:nvPr/>
        </p:nvSpPr>
        <p:spPr>
          <a:xfrm>
            <a:off x="457200" y="4224528"/>
            <a:ext cx="8229600" cy="365760"/>
          </a:xfrm>
          <a:prstGeom prst="rect">
            <a:avLst/>
          </a:prstGeom>
          <a:noFill/>
          <a:ln/>
        </p:spPr>
        <p:txBody>
          <a:bodyPr wrap="square" lIns="0" tIns="0" rIns="0" bIns="0" rtlCol="0" anchor="ctr"/>
          <a:lstStyle/>
          <a:p>
            <a:pPr indent="0" marL="0">
              <a:buNone/>
            </a:pPr>
            <a:r>
              <a:rPr lang="en-US" sz="1500" b="1" dirty="0">
                <a:solidFill>
                  <a:schemeClr val="tx2"/>
                </a:solidFill>
              </a:rPr>
              <a:t>Remember: </a:t>
            </a:r>
            <a:pPr indent="0" marL="0">
              <a:buNone/>
            </a:pPr>
            <a:r>
              <a:rPr lang="en-US" sz="1500" dirty="0">
                <a:solidFill>
                  <a:schemeClr val="tx1"/>
                </a:solidFill>
              </a:rPr>
              <a:t>schedulers decide WHEN, scripts decide HOW. They work as a team.</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LESSON 8 · REAL-WORLD EXAMPLE</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Automating a School Computer Lab</a:t>
            </a:r>
            <a:endParaRPr lang="en-US" sz="2600" dirty="0"/>
          </a:p>
        </p:txBody>
      </p:sp>
      <p:sp>
        <p:nvSpPr>
          <p:cNvPr id="5" name="timeline"/>
          <p:cNvSpPr/>
          <p:nvPr/>
        </p:nvSpPr>
        <p:spPr>
          <a:xfrm>
            <a:off x="1417320" y="2057400"/>
            <a:ext cx="6309360" cy="0"/>
          </a:xfrm>
          <a:prstGeom prst="line">
            <a:avLst/>
          </a:prstGeom>
          <a:noFill/>
          <a:ln w="25400">
            <a:solidFill>
              <a:schemeClr val="accent5"/>
            </a:solidFill>
            <a:prstDash val="solid"/>
          </a:ln>
        </p:spPr>
      </p:sp>
      <p:sp>
        <p:nvSpPr>
          <p:cNvPr id="6" name="icon-bg-396"/>
          <p:cNvSpPr/>
          <p:nvPr/>
        </p:nvSpPr>
        <p:spPr>
          <a:xfrm>
            <a:off x="1033272" y="1673352"/>
            <a:ext cx="768096" cy="768096"/>
          </a:xfrm>
          <a:prstGeom prst="ellipse">
            <a:avLst/>
          </a:prstGeom>
          <a:solidFill>
            <a:schemeClr val="accent1"/>
          </a:solidFill>
          <a:ln w="12700">
            <a:solidFill>
              <a:schemeClr val="accent1"/>
            </a:solidFill>
            <a:prstDash val="solid"/>
          </a:ln>
        </p:spPr>
      </p:sp>
      <p:pic>
        <p:nvPicPr>
          <p:cNvPr id="7" name="icon-397" descr="preencoded.png">    </p:cNvPr>
          <p:cNvPicPr>
            <a:picLocks noChangeAspect="1"/>
          </p:cNvPicPr>
          <p:nvPr/>
        </p:nvPicPr>
        <p:blipFill>
          <a:blip r:embed="rId1"/>
          <a:stretch>
            <a:fillRect/>
          </a:stretch>
        </p:blipFill>
        <p:spPr>
          <a:xfrm>
            <a:off x="1225296" y="1865376"/>
            <a:ext cx="384048" cy="384048"/>
          </a:xfrm>
          <a:prstGeom prst="rect">
            <a:avLst/>
          </a:prstGeom>
        </p:spPr>
      </p:pic>
      <p:sp>
        <p:nvSpPr>
          <p:cNvPr id="8" name="card-398"/>
          <p:cNvSpPr/>
          <p:nvPr/>
        </p:nvSpPr>
        <p:spPr>
          <a:xfrm>
            <a:off x="457200" y="2697480"/>
            <a:ext cx="1920240"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9" name="text-399"/>
          <p:cNvSpPr txBox="1"/>
          <p:nvPr/>
        </p:nvSpPr>
        <p:spPr>
          <a:xfrm>
            <a:off x="548640" y="2816352"/>
            <a:ext cx="1737360" cy="320040"/>
          </a:xfrm>
          <a:prstGeom prst="rect">
            <a:avLst/>
          </a:prstGeom>
          <a:noFill/>
          <a:ln/>
        </p:spPr>
        <p:txBody>
          <a:bodyPr wrap="square" lIns="0" tIns="0" rIns="0" bIns="0" rtlCol="0" anchor="t"/>
          <a:lstStyle/>
          <a:p>
            <a:pPr algn="ctr" indent="0" marL="0">
              <a:buNone/>
            </a:pPr>
            <a:r>
              <a:rPr lang="en-US" sz="1400" b="1" dirty="0">
                <a:solidFill>
                  <a:schemeClr val="accent2"/>
                </a:solidFill>
              </a:rPr>
              <a:t>10:00 PM nightly</a:t>
            </a:r>
            <a:endParaRPr lang="en-US" sz="1400" dirty="0"/>
          </a:p>
        </p:txBody>
      </p:sp>
      <p:sp>
        <p:nvSpPr>
          <p:cNvPr id="10" name="text-400"/>
          <p:cNvSpPr txBox="1"/>
          <p:nvPr/>
        </p:nvSpPr>
        <p:spPr>
          <a:xfrm>
            <a:off x="548640" y="3154680"/>
            <a:ext cx="1737360" cy="365760"/>
          </a:xfrm>
          <a:prstGeom prst="rect">
            <a:avLst/>
          </a:prstGeom>
          <a:noFill/>
          <a:ln/>
        </p:spPr>
        <p:txBody>
          <a:bodyPr wrap="square" lIns="0" tIns="0" rIns="0" bIns="0" rtlCol="0" anchor="t"/>
          <a:lstStyle/>
          <a:p>
            <a:pPr algn="ctr" indent="0" marL="0">
              <a:buNone/>
            </a:pPr>
            <a:r>
              <a:rPr lang="en-US" sz="1600" b="1" dirty="0">
                <a:solidFill>
                  <a:schemeClr val="tx2"/>
                </a:solidFill>
              </a:rPr>
              <a:t>Clear student files</a:t>
            </a:r>
            <a:endParaRPr lang="en-US" sz="1600" dirty="0"/>
          </a:p>
        </p:txBody>
      </p:sp>
      <p:sp>
        <p:nvSpPr>
          <p:cNvPr id="11" name="text-401"/>
          <p:cNvSpPr txBox="1"/>
          <p:nvPr/>
        </p:nvSpPr>
        <p:spPr>
          <a:xfrm>
            <a:off x="548640" y="3566160"/>
            <a:ext cx="1737360" cy="822960"/>
          </a:xfrm>
          <a:prstGeom prst="rect">
            <a:avLst/>
          </a:prstGeom>
          <a:noFill/>
          <a:ln/>
        </p:spPr>
        <p:txBody>
          <a:bodyPr wrap="square" lIns="0" tIns="0" rIns="0" bIns="0" rtlCol="0" anchor="t"/>
          <a:lstStyle/>
          <a:p>
            <a:pPr algn="ctr" indent="0" marL="0">
              <a:buNone/>
            </a:pPr>
            <a:r>
              <a:rPr lang="en-US" sz="1300" dirty="0">
                <a:solidFill>
                  <a:schemeClr val="tx1"/>
                </a:solidFill>
              </a:rPr>
              <a:t>Task Scheduler; only if idle</a:t>
            </a:r>
            <a:endParaRPr lang="en-US" sz="1300" dirty="0"/>
          </a:p>
        </p:txBody>
      </p:sp>
      <p:sp>
        <p:nvSpPr>
          <p:cNvPr id="12" name="icon-bg-402"/>
          <p:cNvSpPr/>
          <p:nvPr/>
        </p:nvSpPr>
        <p:spPr>
          <a:xfrm>
            <a:off x="3136392" y="1673352"/>
            <a:ext cx="768096" cy="768096"/>
          </a:xfrm>
          <a:prstGeom prst="ellipse">
            <a:avLst/>
          </a:prstGeom>
          <a:solidFill>
            <a:schemeClr val="accent2"/>
          </a:solidFill>
          <a:ln w="12700">
            <a:solidFill>
              <a:schemeClr val="accent2"/>
            </a:solidFill>
            <a:prstDash val="solid"/>
          </a:ln>
        </p:spPr>
      </p:sp>
      <p:pic>
        <p:nvPicPr>
          <p:cNvPr id="13" name="icon-403" descr="preencoded.png">    </p:cNvPr>
          <p:cNvPicPr>
            <a:picLocks noChangeAspect="1"/>
          </p:cNvPicPr>
          <p:nvPr/>
        </p:nvPicPr>
        <p:blipFill>
          <a:blip r:embed="rId2"/>
          <a:stretch>
            <a:fillRect/>
          </a:stretch>
        </p:blipFill>
        <p:spPr>
          <a:xfrm>
            <a:off x="3328416" y="1865376"/>
            <a:ext cx="384048" cy="384048"/>
          </a:xfrm>
          <a:prstGeom prst="rect">
            <a:avLst/>
          </a:prstGeom>
        </p:spPr>
      </p:pic>
      <p:sp>
        <p:nvSpPr>
          <p:cNvPr id="14" name="card-404"/>
          <p:cNvSpPr/>
          <p:nvPr/>
        </p:nvSpPr>
        <p:spPr>
          <a:xfrm>
            <a:off x="2560320" y="2697480"/>
            <a:ext cx="1920240"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15" name="text-405"/>
          <p:cNvSpPr txBox="1"/>
          <p:nvPr/>
        </p:nvSpPr>
        <p:spPr>
          <a:xfrm>
            <a:off x="2651760" y="2816352"/>
            <a:ext cx="1737360" cy="320040"/>
          </a:xfrm>
          <a:prstGeom prst="rect">
            <a:avLst/>
          </a:prstGeom>
          <a:noFill/>
          <a:ln/>
        </p:spPr>
        <p:txBody>
          <a:bodyPr wrap="square" lIns="0" tIns="0" rIns="0" bIns="0" rtlCol="0" anchor="t"/>
          <a:lstStyle/>
          <a:p>
            <a:pPr algn="ctr" indent="0" marL="0">
              <a:buNone/>
            </a:pPr>
            <a:r>
              <a:rPr lang="en-US" sz="1400" b="1" dirty="0">
                <a:solidFill>
                  <a:schemeClr val="accent2"/>
                </a:solidFill>
              </a:rPr>
              <a:t>1:30 AM daily</a:t>
            </a:r>
            <a:endParaRPr lang="en-US" sz="1400" dirty="0"/>
          </a:p>
        </p:txBody>
      </p:sp>
      <p:sp>
        <p:nvSpPr>
          <p:cNvPr id="16" name="text-406"/>
          <p:cNvSpPr txBox="1"/>
          <p:nvPr/>
        </p:nvSpPr>
        <p:spPr>
          <a:xfrm>
            <a:off x="2651760" y="3154680"/>
            <a:ext cx="1737360" cy="365760"/>
          </a:xfrm>
          <a:prstGeom prst="rect">
            <a:avLst/>
          </a:prstGeom>
          <a:noFill/>
          <a:ln/>
        </p:spPr>
        <p:txBody>
          <a:bodyPr wrap="square" lIns="0" tIns="0" rIns="0" bIns="0" rtlCol="0" anchor="t"/>
          <a:lstStyle/>
          <a:p>
            <a:pPr algn="ctr" indent="0" marL="0">
              <a:buNone/>
            </a:pPr>
            <a:r>
              <a:rPr lang="en-US" sz="1600" b="1" dirty="0">
                <a:solidFill>
                  <a:schemeClr val="tx2"/>
                </a:solidFill>
              </a:rPr>
              <a:t>Back up the server</a:t>
            </a:r>
            <a:endParaRPr lang="en-US" sz="1600" dirty="0"/>
          </a:p>
        </p:txBody>
      </p:sp>
      <p:sp>
        <p:nvSpPr>
          <p:cNvPr id="17" name="text-407"/>
          <p:cNvSpPr txBox="1"/>
          <p:nvPr/>
        </p:nvSpPr>
        <p:spPr>
          <a:xfrm>
            <a:off x="2651760" y="3566160"/>
            <a:ext cx="1737360" cy="822960"/>
          </a:xfrm>
          <a:prstGeom prst="rect">
            <a:avLst/>
          </a:prstGeom>
          <a:noFill/>
          <a:ln/>
        </p:spPr>
        <p:txBody>
          <a:bodyPr wrap="square" lIns="0" tIns="0" rIns="0" bIns="0" rtlCol="0" anchor="t"/>
          <a:lstStyle/>
          <a:p>
            <a:pPr algn="ctr" indent="0" marL="0">
              <a:buNone/>
            </a:pPr>
            <a:r>
              <a:rPr lang="en-US" sz="1300" dirty="0">
                <a:solidFill>
                  <a:schemeClr val="tx1"/>
                </a:solidFill>
              </a:rPr>
              <a:t>cron; service account</a:t>
            </a:r>
            <a:endParaRPr lang="en-US" sz="1300" dirty="0"/>
          </a:p>
        </p:txBody>
      </p:sp>
      <p:sp>
        <p:nvSpPr>
          <p:cNvPr id="18" name="icon-bg-408"/>
          <p:cNvSpPr/>
          <p:nvPr/>
        </p:nvSpPr>
        <p:spPr>
          <a:xfrm>
            <a:off x="5239512" y="1673352"/>
            <a:ext cx="768096" cy="768096"/>
          </a:xfrm>
          <a:prstGeom prst="ellipse">
            <a:avLst/>
          </a:prstGeom>
          <a:solidFill>
            <a:schemeClr val="accent1"/>
          </a:solidFill>
          <a:ln w="12700">
            <a:solidFill>
              <a:schemeClr val="accent1"/>
            </a:solidFill>
            <a:prstDash val="solid"/>
          </a:ln>
        </p:spPr>
      </p:sp>
      <p:pic>
        <p:nvPicPr>
          <p:cNvPr id="19" name="icon-409" descr="preencoded.png">    </p:cNvPr>
          <p:cNvPicPr>
            <a:picLocks noChangeAspect="1"/>
          </p:cNvPicPr>
          <p:nvPr/>
        </p:nvPicPr>
        <p:blipFill>
          <a:blip r:embed="rId3"/>
          <a:stretch>
            <a:fillRect/>
          </a:stretch>
        </p:blipFill>
        <p:spPr>
          <a:xfrm>
            <a:off x="5431536" y="1865376"/>
            <a:ext cx="384048" cy="384048"/>
          </a:xfrm>
          <a:prstGeom prst="rect">
            <a:avLst/>
          </a:prstGeom>
        </p:spPr>
      </p:pic>
      <p:sp>
        <p:nvSpPr>
          <p:cNvPr id="20" name="card-410"/>
          <p:cNvSpPr/>
          <p:nvPr/>
        </p:nvSpPr>
        <p:spPr>
          <a:xfrm>
            <a:off x="4663440" y="2697480"/>
            <a:ext cx="1920240"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1" name="text-411"/>
          <p:cNvSpPr txBox="1"/>
          <p:nvPr/>
        </p:nvSpPr>
        <p:spPr>
          <a:xfrm>
            <a:off x="4754880" y="2816352"/>
            <a:ext cx="1737360" cy="320040"/>
          </a:xfrm>
          <a:prstGeom prst="rect">
            <a:avLst/>
          </a:prstGeom>
          <a:noFill/>
          <a:ln/>
        </p:spPr>
        <p:txBody>
          <a:bodyPr wrap="square" lIns="0" tIns="0" rIns="0" bIns="0" rtlCol="0" anchor="t"/>
          <a:lstStyle/>
          <a:p>
            <a:pPr algn="ctr" indent="0" marL="0">
              <a:buNone/>
            </a:pPr>
            <a:r>
              <a:rPr lang="en-US" sz="1400" b="1" dirty="0">
                <a:solidFill>
                  <a:schemeClr val="accent2"/>
                </a:solidFill>
              </a:rPr>
              <a:t>Sunday 2:00 AM</a:t>
            </a:r>
            <a:endParaRPr lang="en-US" sz="1400" dirty="0"/>
          </a:p>
        </p:txBody>
      </p:sp>
      <p:sp>
        <p:nvSpPr>
          <p:cNvPr id="22" name="text-412"/>
          <p:cNvSpPr txBox="1"/>
          <p:nvPr/>
        </p:nvSpPr>
        <p:spPr>
          <a:xfrm>
            <a:off x="4754880" y="3154680"/>
            <a:ext cx="1737360" cy="365760"/>
          </a:xfrm>
          <a:prstGeom prst="rect">
            <a:avLst/>
          </a:prstGeom>
          <a:noFill/>
          <a:ln/>
        </p:spPr>
        <p:txBody>
          <a:bodyPr wrap="square" lIns="0" tIns="0" rIns="0" bIns="0" rtlCol="0" anchor="t"/>
          <a:lstStyle/>
          <a:p>
            <a:pPr algn="ctr" indent="0" marL="0">
              <a:buNone/>
            </a:pPr>
            <a:r>
              <a:rPr lang="en-US" sz="1600" b="1" dirty="0">
                <a:solidFill>
                  <a:schemeClr val="tx2"/>
                </a:solidFill>
              </a:rPr>
              <a:t>Install updates</a:t>
            </a:r>
            <a:endParaRPr lang="en-US" sz="1600" dirty="0"/>
          </a:p>
        </p:txBody>
      </p:sp>
      <p:sp>
        <p:nvSpPr>
          <p:cNvPr id="23" name="text-413"/>
          <p:cNvSpPr txBox="1"/>
          <p:nvPr/>
        </p:nvSpPr>
        <p:spPr>
          <a:xfrm>
            <a:off x="4754880" y="3566160"/>
            <a:ext cx="1737360" cy="822960"/>
          </a:xfrm>
          <a:prstGeom prst="rect">
            <a:avLst/>
          </a:prstGeom>
          <a:noFill/>
          <a:ln/>
        </p:spPr>
        <p:txBody>
          <a:bodyPr wrap="square" lIns="0" tIns="0" rIns="0" bIns="0" rtlCol="0" anchor="t"/>
          <a:lstStyle/>
          <a:p>
            <a:pPr algn="ctr" indent="0" marL="0">
              <a:buNone/>
            </a:pPr>
            <a:r>
              <a:rPr lang="en-US" sz="1300" dirty="0">
                <a:solidFill>
                  <a:schemeClr val="tx1"/>
                </a:solidFill>
              </a:rPr>
              <a:t>Random delay so 40 PCs do not overload</a:t>
            </a:r>
            <a:endParaRPr lang="en-US" sz="1300" dirty="0"/>
          </a:p>
        </p:txBody>
      </p:sp>
      <p:sp>
        <p:nvSpPr>
          <p:cNvPr id="24" name="icon-bg-414"/>
          <p:cNvSpPr/>
          <p:nvPr/>
        </p:nvSpPr>
        <p:spPr>
          <a:xfrm>
            <a:off x="7342632" y="1673352"/>
            <a:ext cx="768096" cy="768096"/>
          </a:xfrm>
          <a:prstGeom prst="ellipse">
            <a:avLst/>
          </a:prstGeom>
          <a:solidFill>
            <a:schemeClr val="accent2"/>
          </a:solidFill>
          <a:ln w="12700">
            <a:solidFill>
              <a:schemeClr val="accent2"/>
            </a:solidFill>
            <a:prstDash val="solid"/>
          </a:ln>
        </p:spPr>
      </p:sp>
      <p:pic>
        <p:nvPicPr>
          <p:cNvPr id="25" name="icon-415" descr="preencoded.png">    </p:cNvPr>
          <p:cNvPicPr>
            <a:picLocks noChangeAspect="1"/>
          </p:cNvPicPr>
          <p:nvPr/>
        </p:nvPicPr>
        <p:blipFill>
          <a:blip r:embed="rId4"/>
          <a:stretch>
            <a:fillRect/>
          </a:stretch>
        </p:blipFill>
        <p:spPr>
          <a:xfrm>
            <a:off x="7534656" y="1865376"/>
            <a:ext cx="384048" cy="384048"/>
          </a:xfrm>
          <a:prstGeom prst="rect">
            <a:avLst/>
          </a:prstGeom>
        </p:spPr>
      </p:pic>
      <p:sp>
        <p:nvSpPr>
          <p:cNvPr id="26" name="card-416"/>
          <p:cNvSpPr/>
          <p:nvPr/>
        </p:nvSpPr>
        <p:spPr>
          <a:xfrm>
            <a:off x="6766560" y="2697480"/>
            <a:ext cx="1920240"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76200" dist="19050" dir="5400000">
              <a:srgbClr val="000000">
                <a:alpha val="12000"/>
              </a:srgbClr>
            </a:outerShdw>
          </a:effectLst>
        </p:spPr>
      </p:sp>
      <p:sp>
        <p:nvSpPr>
          <p:cNvPr id="27" name="text-417"/>
          <p:cNvSpPr txBox="1"/>
          <p:nvPr/>
        </p:nvSpPr>
        <p:spPr>
          <a:xfrm>
            <a:off x="6858000" y="2816352"/>
            <a:ext cx="1737360" cy="320040"/>
          </a:xfrm>
          <a:prstGeom prst="rect">
            <a:avLst/>
          </a:prstGeom>
          <a:noFill/>
          <a:ln/>
        </p:spPr>
        <p:txBody>
          <a:bodyPr wrap="square" lIns="0" tIns="0" rIns="0" bIns="0" rtlCol="0" anchor="t"/>
          <a:lstStyle/>
          <a:p>
            <a:pPr algn="ctr" indent="0" marL="0">
              <a:buNone/>
            </a:pPr>
            <a:r>
              <a:rPr lang="en-US" sz="1400" b="1" dirty="0">
                <a:solidFill>
                  <a:schemeClr val="accent2"/>
                </a:solidFill>
              </a:rPr>
              <a:t>Every 10 minutes</a:t>
            </a:r>
            <a:endParaRPr lang="en-US" sz="1400" dirty="0"/>
          </a:p>
        </p:txBody>
      </p:sp>
      <p:sp>
        <p:nvSpPr>
          <p:cNvPr id="28" name="text-418"/>
          <p:cNvSpPr txBox="1"/>
          <p:nvPr/>
        </p:nvSpPr>
        <p:spPr>
          <a:xfrm>
            <a:off x="6858000" y="3154680"/>
            <a:ext cx="1737360" cy="365760"/>
          </a:xfrm>
          <a:prstGeom prst="rect">
            <a:avLst/>
          </a:prstGeom>
          <a:noFill/>
          <a:ln/>
        </p:spPr>
        <p:txBody>
          <a:bodyPr wrap="square" lIns="0" tIns="0" rIns="0" bIns="0" rtlCol="0" anchor="t"/>
          <a:lstStyle/>
          <a:p>
            <a:pPr algn="ctr" indent="0" marL="0">
              <a:buNone/>
            </a:pPr>
            <a:r>
              <a:rPr lang="en-US" sz="1600" b="1" dirty="0">
                <a:solidFill>
                  <a:schemeClr val="tx2"/>
                </a:solidFill>
              </a:rPr>
              <a:t>Check disk space</a:t>
            </a:r>
            <a:endParaRPr lang="en-US" sz="1600" dirty="0"/>
          </a:p>
        </p:txBody>
      </p:sp>
      <p:sp>
        <p:nvSpPr>
          <p:cNvPr id="29" name="text-419"/>
          <p:cNvSpPr txBox="1"/>
          <p:nvPr/>
        </p:nvSpPr>
        <p:spPr>
          <a:xfrm>
            <a:off x="6858000" y="3566160"/>
            <a:ext cx="1737360" cy="822960"/>
          </a:xfrm>
          <a:prstGeom prst="rect">
            <a:avLst/>
          </a:prstGeom>
          <a:noFill/>
          <a:ln/>
        </p:spPr>
        <p:txBody>
          <a:bodyPr wrap="square" lIns="0" tIns="0" rIns="0" bIns="0" rtlCol="0" anchor="t"/>
          <a:lstStyle/>
          <a:p>
            <a:pPr algn="ctr" indent="0" marL="0">
              <a:buNone/>
            </a:pPr>
            <a:r>
              <a:rPr lang="en-US" sz="1300" dirty="0">
                <a:solidFill>
                  <a:schemeClr val="tx1"/>
                </a:solidFill>
              </a:rPr>
              <a:t>cron; alert at 85% full</a:t>
            </a:r>
            <a:endParaRPr lang="en-US" sz="13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SUMMARY</a:t>
            </a:r>
            <a:endParaRPr lang="en-US" sz="12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Three Habits for Trustworthy Automation</a:t>
            </a:r>
            <a:endParaRPr lang="en-US" sz="2600" dirty="0"/>
          </a:p>
        </p:txBody>
      </p:sp>
      <p:sp>
        <p:nvSpPr>
          <p:cNvPr id="5" name="card-420"/>
          <p:cNvSpPr/>
          <p:nvPr/>
        </p:nvSpPr>
        <p:spPr>
          <a:xfrm>
            <a:off x="457200" y="1371600"/>
            <a:ext cx="2560320" cy="3154680"/>
          </a:xfrm>
          <a:prstGeom prst="roundRect">
            <a:avLst>
              <a:gd name="adj" fmla="val 2857"/>
            </a:avLst>
          </a:prstGeom>
          <a:solidFill>
            <a:schemeClr val="tx2"/>
          </a:solidFill>
          <a:ln w="12700">
            <a:solidFill>
              <a:schemeClr val="tx2"/>
            </a:solidFill>
            <a:prstDash val="solid"/>
          </a:ln>
        </p:spPr>
      </p:sp>
      <p:sp>
        <p:nvSpPr>
          <p:cNvPr id="6" name="icon-bg-421"/>
          <p:cNvSpPr/>
          <p:nvPr/>
        </p:nvSpPr>
        <p:spPr>
          <a:xfrm>
            <a:off x="1325880" y="1645920"/>
            <a:ext cx="822960" cy="822960"/>
          </a:xfrm>
          <a:prstGeom prst="ellipse">
            <a:avLst/>
          </a:prstGeom>
          <a:solidFill>
            <a:schemeClr val="accent1"/>
          </a:solidFill>
          <a:ln w="12700">
            <a:solidFill>
              <a:schemeClr val="accent1"/>
            </a:solidFill>
            <a:prstDash val="solid"/>
          </a:ln>
        </p:spPr>
      </p:sp>
      <p:pic>
        <p:nvPicPr>
          <p:cNvPr id="7" name="icon-422" descr="preencoded.png">    </p:cNvPr>
          <p:cNvPicPr>
            <a:picLocks noChangeAspect="1"/>
          </p:cNvPicPr>
          <p:nvPr/>
        </p:nvPicPr>
        <p:blipFill>
          <a:blip r:embed="rId1"/>
          <a:stretch>
            <a:fillRect/>
          </a:stretch>
        </p:blipFill>
        <p:spPr>
          <a:xfrm>
            <a:off x="1531620" y="1851660"/>
            <a:ext cx="411480" cy="411480"/>
          </a:xfrm>
          <a:prstGeom prst="rect">
            <a:avLst/>
          </a:prstGeom>
        </p:spPr>
      </p:pic>
      <p:sp>
        <p:nvSpPr>
          <p:cNvPr id="8" name="text-423"/>
          <p:cNvSpPr txBox="1"/>
          <p:nvPr/>
        </p:nvSpPr>
        <p:spPr>
          <a:xfrm>
            <a:off x="640080" y="1508760"/>
            <a:ext cx="548640" cy="457200"/>
          </a:xfrm>
          <a:prstGeom prst="rect">
            <a:avLst/>
          </a:prstGeom>
          <a:noFill/>
          <a:ln/>
        </p:spPr>
        <p:txBody>
          <a:bodyPr wrap="square" lIns="0" tIns="0" rIns="0" bIns="0" rtlCol="0" anchor="t"/>
          <a:lstStyle/>
          <a:p>
            <a:pPr indent="0" marL="0">
              <a:buNone/>
            </a:pPr>
            <a:r>
              <a:rPr lang="en-US" sz="2400" b="1" dirty="0">
                <a:solidFill>
                  <a:schemeClr val="accent5"/>
                </a:solidFill>
              </a:rPr>
              <a:t>1</a:t>
            </a:r>
            <a:endParaRPr lang="en-US" sz="2400" dirty="0"/>
          </a:p>
        </p:txBody>
      </p:sp>
      <p:sp>
        <p:nvSpPr>
          <p:cNvPr id="9" name="text-424"/>
          <p:cNvSpPr txBox="1"/>
          <p:nvPr/>
        </p:nvSpPr>
        <p:spPr>
          <a:xfrm>
            <a:off x="640080" y="2697480"/>
            <a:ext cx="2194560" cy="411480"/>
          </a:xfrm>
          <a:prstGeom prst="rect">
            <a:avLst/>
          </a:prstGeom>
          <a:noFill/>
          <a:ln/>
        </p:spPr>
        <p:txBody>
          <a:bodyPr wrap="square" lIns="0" tIns="0" rIns="0" bIns="0" rtlCol="0" anchor="t"/>
          <a:lstStyle/>
          <a:p>
            <a:pPr algn="ctr" indent="0" marL="0">
              <a:buNone/>
            </a:pPr>
            <a:r>
              <a:rPr lang="en-US" sz="2000" b="1" dirty="0">
                <a:solidFill>
                  <a:schemeClr val="bg1"/>
                </a:solidFill>
              </a:rPr>
              <a:t>Log everything</a:t>
            </a:r>
            <a:endParaRPr lang="en-US" sz="2000" dirty="0"/>
          </a:p>
        </p:txBody>
      </p:sp>
      <p:sp>
        <p:nvSpPr>
          <p:cNvPr id="10" name="text-425"/>
          <p:cNvSpPr txBox="1"/>
          <p:nvPr/>
        </p:nvSpPr>
        <p:spPr>
          <a:xfrm>
            <a:off x="685800" y="3200400"/>
            <a:ext cx="2103120" cy="1097280"/>
          </a:xfrm>
          <a:prstGeom prst="rect">
            <a:avLst/>
          </a:prstGeom>
          <a:noFill/>
          <a:ln/>
        </p:spPr>
        <p:txBody>
          <a:bodyPr wrap="square" lIns="0" tIns="0" rIns="0" bIns="0" rtlCol="0" anchor="t"/>
          <a:lstStyle/>
          <a:p>
            <a:pPr algn="ctr" indent="0" marL="0">
              <a:buNone/>
            </a:pPr>
            <a:r>
              <a:rPr lang="en-US" sz="1500" dirty="0">
                <a:solidFill>
                  <a:schemeClr val="bg2"/>
                </a:solidFill>
              </a:rPr>
              <a:t>Record the time, what happened, and whether it worked.</a:t>
            </a:r>
            <a:endParaRPr lang="en-US" sz="1500" dirty="0"/>
          </a:p>
        </p:txBody>
      </p:sp>
      <p:sp>
        <p:nvSpPr>
          <p:cNvPr id="11" name="card-426"/>
          <p:cNvSpPr/>
          <p:nvPr/>
        </p:nvSpPr>
        <p:spPr>
          <a:xfrm>
            <a:off x="3291840" y="1371600"/>
            <a:ext cx="2560320" cy="3154680"/>
          </a:xfrm>
          <a:prstGeom prst="roundRect">
            <a:avLst>
              <a:gd name="adj" fmla="val 2857"/>
            </a:avLst>
          </a:prstGeom>
          <a:solidFill>
            <a:schemeClr val="tx2"/>
          </a:solidFill>
          <a:ln w="12700">
            <a:solidFill>
              <a:schemeClr val="tx2"/>
            </a:solidFill>
            <a:prstDash val="solid"/>
          </a:ln>
        </p:spPr>
      </p:sp>
      <p:sp>
        <p:nvSpPr>
          <p:cNvPr id="12" name="icon-bg-427"/>
          <p:cNvSpPr/>
          <p:nvPr/>
        </p:nvSpPr>
        <p:spPr>
          <a:xfrm>
            <a:off x="4160520" y="1645920"/>
            <a:ext cx="822960" cy="822960"/>
          </a:xfrm>
          <a:prstGeom prst="ellipse">
            <a:avLst/>
          </a:prstGeom>
          <a:solidFill>
            <a:schemeClr val="accent1"/>
          </a:solidFill>
          <a:ln w="12700">
            <a:solidFill>
              <a:schemeClr val="accent1"/>
            </a:solidFill>
            <a:prstDash val="solid"/>
          </a:ln>
        </p:spPr>
      </p:sp>
      <p:pic>
        <p:nvPicPr>
          <p:cNvPr id="13" name="icon-428" descr="preencoded.png">    </p:cNvPr>
          <p:cNvPicPr>
            <a:picLocks noChangeAspect="1"/>
          </p:cNvPicPr>
          <p:nvPr/>
        </p:nvPicPr>
        <p:blipFill>
          <a:blip r:embed="rId2"/>
          <a:stretch>
            <a:fillRect/>
          </a:stretch>
        </p:blipFill>
        <p:spPr>
          <a:xfrm>
            <a:off x="4366260" y="1851660"/>
            <a:ext cx="411480" cy="411480"/>
          </a:xfrm>
          <a:prstGeom prst="rect">
            <a:avLst/>
          </a:prstGeom>
        </p:spPr>
      </p:pic>
      <p:sp>
        <p:nvSpPr>
          <p:cNvPr id="14" name="text-429"/>
          <p:cNvSpPr txBox="1"/>
          <p:nvPr/>
        </p:nvSpPr>
        <p:spPr>
          <a:xfrm>
            <a:off x="3474720" y="1508760"/>
            <a:ext cx="548640" cy="457200"/>
          </a:xfrm>
          <a:prstGeom prst="rect">
            <a:avLst/>
          </a:prstGeom>
          <a:noFill/>
          <a:ln/>
        </p:spPr>
        <p:txBody>
          <a:bodyPr wrap="square" lIns="0" tIns="0" rIns="0" bIns="0" rtlCol="0" anchor="t"/>
          <a:lstStyle/>
          <a:p>
            <a:pPr indent="0" marL="0">
              <a:buNone/>
            </a:pPr>
            <a:r>
              <a:rPr lang="en-US" sz="2400" b="1" dirty="0">
                <a:solidFill>
                  <a:schemeClr val="accent5"/>
                </a:solidFill>
              </a:rPr>
              <a:t>2</a:t>
            </a:r>
            <a:endParaRPr lang="en-US" sz="2400" dirty="0"/>
          </a:p>
        </p:txBody>
      </p:sp>
      <p:sp>
        <p:nvSpPr>
          <p:cNvPr id="15" name="text-430"/>
          <p:cNvSpPr txBox="1"/>
          <p:nvPr/>
        </p:nvSpPr>
        <p:spPr>
          <a:xfrm>
            <a:off x="3474720" y="2697480"/>
            <a:ext cx="2194560" cy="411480"/>
          </a:xfrm>
          <a:prstGeom prst="rect">
            <a:avLst/>
          </a:prstGeom>
          <a:noFill/>
          <a:ln/>
        </p:spPr>
        <p:txBody>
          <a:bodyPr wrap="square" lIns="0" tIns="0" rIns="0" bIns="0" rtlCol="0" anchor="t"/>
          <a:lstStyle/>
          <a:p>
            <a:pPr algn="ctr" indent="0" marL="0">
              <a:buNone/>
            </a:pPr>
            <a:r>
              <a:rPr lang="en-US" sz="2000" b="1" dirty="0">
                <a:solidFill>
                  <a:schemeClr val="bg1"/>
                </a:solidFill>
              </a:rPr>
              <a:t>Verify the result</a:t>
            </a:r>
            <a:endParaRPr lang="en-US" sz="2000" dirty="0"/>
          </a:p>
        </p:txBody>
      </p:sp>
      <p:sp>
        <p:nvSpPr>
          <p:cNvPr id="16" name="text-431"/>
          <p:cNvSpPr txBox="1"/>
          <p:nvPr/>
        </p:nvSpPr>
        <p:spPr>
          <a:xfrm>
            <a:off x="3520440" y="3200400"/>
            <a:ext cx="2103120" cy="1097280"/>
          </a:xfrm>
          <a:prstGeom prst="rect">
            <a:avLst/>
          </a:prstGeom>
          <a:noFill/>
          <a:ln/>
        </p:spPr>
        <p:txBody>
          <a:bodyPr wrap="square" lIns="0" tIns="0" rIns="0" bIns="0" rtlCol="0" anchor="t"/>
          <a:lstStyle/>
          <a:p>
            <a:pPr algn="ctr" indent="0" marL="0">
              <a:buNone/>
            </a:pPr>
            <a:r>
              <a:rPr lang="en-US" sz="1500" dirty="0">
                <a:solidFill>
                  <a:schemeClr val="bg2"/>
                </a:solidFill>
              </a:rPr>
              <a:t>Check the output really exists, not just that the job ran.</a:t>
            </a:r>
            <a:endParaRPr lang="en-US" sz="1500" dirty="0"/>
          </a:p>
        </p:txBody>
      </p:sp>
      <p:sp>
        <p:nvSpPr>
          <p:cNvPr id="17" name="card-432"/>
          <p:cNvSpPr/>
          <p:nvPr/>
        </p:nvSpPr>
        <p:spPr>
          <a:xfrm>
            <a:off x="6126480" y="1371600"/>
            <a:ext cx="2560320" cy="3154680"/>
          </a:xfrm>
          <a:prstGeom prst="roundRect">
            <a:avLst>
              <a:gd name="adj" fmla="val 2857"/>
            </a:avLst>
          </a:prstGeom>
          <a:solidFill>
            <a:schemeClr val="tx2"/>
          </a:solidFill>
          <a:ln w="12700">
            <a:solidFill>
              <a:schemeClr val="tx2"/>
            </a:solidFill>
            <a:prstDash val="solid"/>
          </a:ln>
        </p:spPr>
      </p:sp>
      <p:sp>
        <p:nvSpPr>
          <p:cNvPr id="18" name="icon-bg-433"/>
          <p:cNvSpPr/>
          <p:nvPr/>
        </p:nvSpPr>
        <p:spPr>
          <a:xfrm>
            <a:off x="6995160" y="1645920"/>
            <a:ext cx="822960" cy="822960"/>
          </a:xfrm>
          <a:prstGeom prst="ellipse">
            <a:avLst/>
          </a:prstGeom>
          <a:solidFill>
            <a:schemeClr val="accent1"/>
          </a:solidFill>
          <a:ln w="12700">
            <a:solidFill>
              <a:schemeClr val="accent1"/>
            </a:solidFill>
            <a:prstDash val="solid"/>
          </a:ln>
        </p:spPr>
      </p:sp>
      <p:pic>
        <p:nvPicPr>
          <p:cNvPr id="19" name="icon-434" descr="preencoded.png">    </p:cNvPr>
          <p:cNvPicPr>
            <a:picLocks noChangeAspect="1"/>
          </p:cNvPicPr>
          <p:nvPr/>
        </p:nvPicPr>
        <p:blipFill>
          <a:blip r:embed="rId3"/>
          <a:stretch>
            <a:fillRect/>
          </a:stretch>
        </p:blipFill>
        <p:spPr>
          <a:xfrm>
            <a:off x="7200900" y="1851660"/>
            <a:ext cx="411480" cy="411480"/>
          </a:xfrm>
          <a:prstGeom prst="rect">
            <a:avLst/>
          </a:prstGeom>
        </p:spPr>
      </p:pic>
      <p:sp>
        <p:nvSpPr>
          <p:cNvPr id="20" name="text-435"/>
          <p:cNvSpPr txBox="1"/>
          <p:nvPr/>
        </p:nvSpPr>
        <p:spPr>
          <a:xfrm>
            <a:off x="6309360" y="1508760"/>
            <a:ext cx="548640" cy="457200"/>
          </a:xfrm>
          <a:prstGeom prst="rect">
            <a:avLst/>
          </a:prstGeom>
          <a:noFill/>
          <a:ln/>
        </p:spPr>
        <p:txBody>
          <a:bodyPr wrap="square" lIns="0" tIns="0" rIns="0" bIns="0" rtlCol="0" anchor="t"/>
          <a:lstStyle/>
          <a:p>
            <a:pPr indent="0" marL="0">
              <a:buNone/>
            </a:pPr>
            <a:r>
              <a:rPr lang="en-US" sz="2400" b="1" dirty="0">
                <a:solidFill>
                  <a:schemeClr val="accent5"/>
                </a:solidFill>
              </a:rPr>
              <a:t>3</a:t>
            </a:r>
            <a:endParaRPr lang="en-US" sz="2400" dirty="0"/>
          </a:p>
        </p:txBody>
      </p:sp>
      <p:sp>
        <p:nvSpPr>
          <p:cNvPr id="21" name="text-436"/>
          <p:cNvSpPr txBox="1"/>
          <p:nvPr/>
        </p:nvSpPr>
        <p:spPr>
          <a:xfrm>
            <a:off x="6309360" y="2697480"/>
            <a:ext cx="2194560" cy="411480"/>
          </a:xfrm>
          <a:prstGeom prst="rect">
            <a:avLst/>
          </a:prstGeom>
          <a:noFill/>
          <a:ln/>
        </p:spPr>
        <p:txBody>
          <a:bodyPr wrap="square" lIns="0" tIns="0" rIns="0" bIns="0" rtlCol="0" anchor="t"/>
          <a:lstStyle/>
          <a:p>
            <a:pPr algn="ctr" indent="0" marL="0">
              <a:buNone/>
            </a:pPr>
            <a:r>
              <a:rPr lang="en-US" sz="2000" b="1" dirty="0">
                <a:solidFill>
                  <a:schemeClr val="bg1"/>
                </a:solidFill>
              </a:rPr>
              <a:t>Least privilege</a:t>
            </a:r>
            <a:endParaRPr lang="en-US" sz="2000" dirty="0"/>
          </a:p>
        </p:txBody>
      </p:sp>
      <p:sp>
        <p:nvSpPr>
          <p:cNvPr id="22" name="text-437"/>
          <p:cNvSpPr txBox="1"/>
          <p:nvPr/>
        </p:nvSpPr>
        <p:spPr>
          <a:xfrm>
            <a:off x="6355080" y="3200400"/>
            <a:ext cx="2103120" cy="1097280"/>
          </a:xfrm>
          <a:prstGeom prst="rect">
            <a:avLst/>
          </a:prstGeom>
          <a:noFill/>
          <a:ln/>
        </p:spPr>
        <p:txBody>
          <a:bodyPr wrap="square" lIns="0" tIns="0" rIns="0" bIns="0" rtlCol="0" anchor="t"/>
          <a:lstStyle/>
          <a:p>
            <a:pPr algn="ctr" indent="0" marL="0">
              <a:buNone/>
            </a:pPr>
            <a:r>
              <a:rPr lang="en-US" sz="1500" dirty="0">
                <a:solidFill>
                  <a:schemeClr val="bg2"/>
                </a:solidFill>
              </a:rPr>
              <a:t>Give every job only the access it needs, nothing more.</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394960" cy="1828800"/>
          </a:xfrm>
          <a:prstGeom prst="rect">
            <a:avLst/>
          </a:prstGeom>
          <a:noFill/>
          <a:ln/>
        </p:spPr>
        <p:txBody>
          <a:bodyPr wrap="square" lIns="0" tIns="0" rIns="0" bIns="0" rtlCol="0" anchor="b"/>
          <a:lstStyle/>
          <a:p>
            <a:pPr algn="l" indent="0" marL="0">
              <a:buNone/>
            </a:pPr>
            <a:r>
              <a:rPr lang="en-US" sz="3400" b="1" dirty="0">
                <a:solidFill>
                  <a:schemeClr val="bg1"/>
                </a:solidFill>
              </a:rPr>
              <a:t>Thank You!</a:t>
            </a:r>
            <a:endParaRPr lang="en-US" sz="3400" dirty="0"/>
          </a:p>
        </p:txBody>
      </p:sp>
      <p:sp>
        <p:nvSpPr>
          <p:cNvPr id="3" name="Text 0"/>
          <p:cNvSpPr/>
          <p:nvPr>
            <p:ph idx="101" type="body" hasCustomPrompt="1"/>
          </p:nvPr>
        </p:nvSpPr>
        <p:spPr>
          <a:xfrm>
            <a:off x="548640" y="3246120"/>
            <a:ext cx="5394960" cy="822960"/>
          </a:xfrm>
          <a:prstGeom prst="rect">
            <a:avLst/>
          </a:prstGeom>
          <a:noFill/>
          <a:ln/>
        </p:spPr>
        <p:txBody>
          <a:bodyPr wrap="square" lIns="0" tIns="0" rIns="0" bIns="0" rtlCol="0" anchor="t"/>
          <a:lstStyle/>
          <a:p>
            <a:pPr algn="l" indent="0" marL="0">
              <a:buNone/>
            </a:pPr>
            <a:r>
              <a:rPr lang="en-US" sz="1800" dirty="0">
                <a:solidFill>
                  <a:schemeClr val="accent1"/>
                </a:solidFill>
              </a:rPr>
              <a:t>Questions?  |  Presented by Tagify Group</a:t>
            </a:r>
            <a:endParaRPr lang="en-US" sz="1800" dirty="0"/>
          </a:p>
        </p:txBody>
      </p:sp>
      <p:sp>
        <p:nvSpPr>
          <p:cNvPr id="4" name="end-circle"/>
          <p:cNvSpPr/>
          <p:nvPr/>
        </p:nvSpPr>
        <p:spPr>
          <a:xfrm>
            <a:off x="6355080" y="1051560"/>
            <a:ext cx="2377440" cy="2377440"/>
          </a:xfrm>
          <a:prstGeom prst="ellipse">
            <a:avLst/>
          </a:prstGeom>
          <a:solidFill>
            <a:schemeClr val="accent1"/>
          </a:solidFill>
          <a:ln w="12700">
            <a:solidFill>
              <a:schemeClr val="accent1"/>
            </a:solidFill>
            <a:prstDash val="solid"/>
          </a:ln>
        </p:spPr>
      </p:sp>
      <p:pic>
        <p:nvPicPr>
          <p:cNvPr id="5" name="end-icon" descr="preencoded.png">    </p:cNvPr>
          <p:cNvPicPr>
            <a:picLocks noChangeAspect="1"/>
          </p:cNvPicPr>
          <p:nvPr/>
        </p:nvPicPr>
        <p:blipFill>
          <a:blip r:embed="rId1"/>
          <a:stretch>
            <a:fillRect/>
          </a:stretch>
        </p:blipFill>
        <p:spPr>
          <a:xfrm>
            <a:off x="6903720" y="1600200"/>
            <a:ext cx="1280160" cy="1280160"/>
          </a:xfrm>
          <a:prstGeom prst="rect">
            <a:avLst/>
          </a:prstGeom>
        </p:spPr>
      </p:pic>
      <p:sp>
        <p:nvSpPr>
          <p:cNvPr id="6" name="text-438"/>
          <p:cNvSpPr txBox="1"/>
          <p:nvPr/>
        </p:nvSpPr>
        <p:spPr>
          <a:xfrm>
            <a:off x="548640" y="4114800"/>
            <a:ext cx="5486400" cy="548640"/>
          </a:xfrm>
          <a:prstGeom prst="rect">
            <a:avLst/>
          </a:prstGeom>
          <a:noFill/>
          <a:ln/>
        </p:spPr>
        <p:txBody>
          <a:bodyPr wrap="square" lIns="0" tIns="0" rIns="0" bIns="0" rtlCol="0" anchor="t"/>
          <a:lstStyle/>
          <a:p>
            <a:pPr indent="0" marL="0">
              <a:buNone/>
            </a:pPr>
            <a:r>
              <a:rPr lang="en-US" sz="1400" i="1" dirty="0">
                <a:solidFill>
                  <a:schemeClr val="accent5"/>
                </a:solidFill>
              </a:rPr>
              <a:t>The best administrators are not the ones working at 2 AM. Their systems take care of themselves at 2 AM.</a:t>
            </a:r>
            <a:endParaRPr lang="en-US" sz="1400" dirty="0"/>
          </a:p>
        </p:txBody>
      </p:sp>
    </p:spTree>
  </p:cSld>
  <p:clrMapOvr>
    <a:masterClrMapping/>
  </p:clrMapOvr>
</p:sld>
</file>

<file path=ppt/theme/theme1.xml><?xml version="1.0" encoding="utf-8"?>
<a:theme xmlns:a="http://schemas.openxmlformats.org/drawingml/2006/main" name="Tagify Automation">
  <a:themeElements>
    <a:clrScheme name="Tagify Automation">
      <a:dk1>
        <a:srgbClr val="1B1F2A"/>
      </a:dk1>
      <a:lt1>
        <a:srgbClr val="FFFFFF"/>
      </a:lt1>
      <a:dk2>
        <a:srgbClr val="14213D"/>
      </a:dk2>
      <a:lt2>
        <a:srgbClr val="EEF2F7"/>
      </a:lt2>
      <a:accent1>
        <a:srgbClr val="FCA311"/>
      </a:accent1>
      <a:accent2>
        <a:srgbClr val="1F7A70"/>
      </a:accent2>
      <a:accent3>
        <a:srgbClr val="D1495B"/>
      </a:accent3>
      <a:accent4>
        <a:srgbClr val="3D5A80"/>
      </a:accent4>
      <a:accent5>
        <a:srgbClr val="8D99AE"/>
      </a:accent5>
      <a:accent6>
        <a:srgbClr val="2A9D8F"/>
      </a:accent6>
      <a:hlink>
        <a:srgbClr val="1F7A70"/>
      </a:hlink>
      <a:folHlink>
        <a:srgbClr val="3D5A80"/>
      </a:folHlink>
    </a:clrScheme>
    <a:fontScheme name="Tagify Autom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Scheduling and Automation in System Administration</dc:title>
  <dc:subject>PptxGenJS Presentation</dc:subject>
  <dc:creator>Tagify Group</dc:creator>
  <cp:lastModifiedBy>Tagify Group</cp:lastModifiedBy>
  <cp:revision>1</cp:revision>
  <dcterms:created xsi:type="dcterms:W3CDTF">2026-10-16T23:46:42Z</dcterms:created>
  <dcterms:modified xsi:type="dcterms:W3CDTF">2026-10-16T23:46:42Z</dcterms:modified>
</cp:coreProperties>
</file>